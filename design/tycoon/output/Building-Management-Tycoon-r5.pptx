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37311366a74c96" /><Relationship Type="http://schemas.openxmlformats.org/officeDocument/2006/relationships/extended-properties" Target="/docProps/app.xml" Id="R190c1e1300874a38" /><Relationship Type="http://schemas.openxmlformats.org/officeDocument/2006/relationships/officeDocument" Target="/ppt/presentation.xml" Id="R1c829574d9c24c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8efb76004f4b6f"/>
  </p:sldMasterIdLst>
  <p:notesMasterIdLst>
    <p:notesMasterId xmlns:r="http://schemas.openxmlformats.org/officeDocument/2006/relationships" r:id="Rcc6bf56283df4085"/>
  </p:notesMasterIdLst>
  <p:sldIdLst>
    <p:sldId xmlns:r="http://schemas.openxmlformats.org/officeDocument/2006/relationships" id="256" r:id="R7acd4a898edb41be"/>
    <p:sldId xmlns:r="http://schemas.openxmlformats.org/officeDocument/2006/relationships" id="257" r:id="R59b255d240974993"/>
    <p:sldId xmlns:r="http://schemas.openxmlformats.org/officeDocument/2006/relationships" id="258" r:id="R00bb23f371474755"/>
    <p:sldId xmlns:r="http://schemas.openxmlformats.org/officeDocument/2006/relationships" id="259" r:id="R30c749aebeb34462"/>
    <p:sldId xmlns:r="http://schemas.openxmlformats.org/officeDocument/2006/relationships" id="260" r:id="R68bb9c8c825a415d"/>
    <p:sldId xmlns:r="http://schemas.openxmlformats.org/officeDocument/2006/relationships" id="261" r:id="R5239a9ebe2094885"/>
    <p:sldId xmlns:r="http://schemas.openxmlformats.org/officeDocument/2006/relationships" id="262" r:id="R4760ffdfaa934f7c"/>
    <p:sldId xmlns:r="http://schemas.openxmlformats.org/officeDocument/2006/relationships" id="263" r:id="R3802b9d61fe14321"/>
    <p:sldId xmlns:r="http://schemas.openxmlformats.org/officeDocument/2006/relationships" id="264" r:id="R4f68ed93c71c43a1"/>
    <p:sldId xmlns:r="http://schemas.openxmlformats.org/officeDocument/2006/relationships" id="265" r:id="Ra7bfe2446f1344c4"/>
    <p:sldId xmlns:r="http://schemas.openxmlformats.org/officeDocument/2006/relationships" id="266" r:id="R0e9f4264782d4e7f"/>
    <p:sldId xmlns:r="http://schemas.openxmlformats.org/officeDocument/2006/relationships" id="267" r:id="R390713e603d34e2c"/>
    <p:sldId xmlns:r="http://schemas.openxmlformats.org/officeDocument/2006/relationships" id="268" r:id="Rbcb96c8fbb7a414d"/>
    <p:sldId xmlns:r="http://schemas.openxmlformats.org/officeDocument/2006/relationships" id="269" r:id="Rd7da813c70b34967"/>
    <p:sldId xmlns:r="http://schemas.openxmlformats.org/officeDocument/2006/relationships" id="270" r:id="Rfc9b844dd401432c"/>
    <p:sldId xmlns:r="http://schemas.openxmlformats.org/officeDocument/2006/relationships" id="271" r:id="Rf7e0936b5e83486d"/>
  </p:sldIdLst>
  <p:sldSz cx="15240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4908b94d79429c" /><Relationship Type="http://schemas.openxmlformats.org/officeDocument/2006/relationships/slideMaster" Target="/ppt/slideMasters/slideMaster1.xml" Id="R288efb76004f4b6f" /><Relationship Type="http://schemas.openxmlformats.org/officeDocument/2006/relationships/notesMaster" Target="/ppt/notesMasters/notesMaster1.xml" Id="Rcc6bf56283df4085" /><Relationship Type="http://schemas.openxmlformats.org/officeDocument/2006/relationships/presProps" Target="/ppt/presProps.xml" Id="R0f360c3bf1294272" /><Relationship Type="http://schemas.openxmlformats.org/officeDocument/2006/relationships/tableStyles" Target="/ppt/tableStyles.xml" Id="Ra7aa4a6e01444634" /><Relationship Type="http://schemas.openxmlformats.org/officeDocument/2006/relationships/slide" Target="/ppt/slides/slide1.xml" Id="R7acd4a898edb41be" /><Relationship Type="http://schemas.openxmlformats.org/officeDocument/2006/relationships/slide" Target="/ppt/slides/slide2.xml" Id="R59b255d240974993" /><Relationship Type="http://schemas.openxmlformats.org/officeDocument/2006/relationships/slide" Target="/ppt/slides/slide3.xml" Id="R00bb23f371474755" /><Relationship Type="http://schemas.openxmlformats.org/officeDocument/2006/relationships/slide" Target="/ppt/slides/slide4.xml" Id="R30c749aebeb34462" /><Relationship Type="http://schemas.openxmlformats.org/officeDocument/2006/relationships/slide" Target="/ppt/slides/slide5.xml" Id="R68bb9c8c825a415d" /><Relationship Type="http://schemas.openxmlformats.org/officeDocument/2006/relationships/slide" Target="/ppt/slides/slide6.xml" Id="R5239a9ebe2094885" /><Relationship Type="http://schemas.openxmlformats.org/officeDocument/2006/relationships/slide" Target="/ppt/slides/slide7.xml" Id="R4760ffdfaa934f7c" /><Relationship Type="http://schemas.openxmlformats.org/officeDocument/2006/relationships/slide" Target="/ppt/slides/slide8.xml" Id="R3802b9d61fe14321" /><Relationship Type="http://schemas.openxmlformats.org/officeDocument/2006/relationships/slide" Target="/ppt/slides/slide9.xml" Id="R4f68ed93c71c43a1" /><Relationship Type="http://schemas.openxmlformats.org/officeDocument/2006/relationships/slide" Target="/ppt/slides/slide10.xml" Id="Ra7bfe2446f1344c4" /><Relationship Type="http://schemas.openxmlformats.org/officeDocument/2006/relationships/slide" Target="/ppt/slides/slide11.xml" Id="R0e9f4264782d4e7f" /><Relationship Type="http://schemas.openxmlformats.org/officeDocument/2006/relationships/slide" Target="/ppt/slides/slide12.xml" Id="R390713e603d34e2c" /><Relationship Type="http://schemas.openxmlformats.org/officeDocument/2006/relationships/slide" Target="/ppt/slides/slide13.xml" Id="Rbcb96c8fbb7a414d" /><Relationship Type="http://schemas.openxmlformats.org/officeDocument/2006/relationships/slide" Target="/ppt/slides/slide14.xml" Id="Rd7da813c70b34967" /><Relationship Type="http://schemas.openxmlformats.org/officeDocument/2006/relationships/slide" Target="/ppt/slides/slide15.xml" Id="Rfc9b844dd401432c" /><Relationship Type="http://schemas.openxmlformats.org/officeDocument/2006/relationships/slide" Target="/ppt/slides/slide16.xml" Id="Rf7e0936b5e8348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ca8611e5004b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3d6f2dc9f4486d" /><Relationship Type="http://schemas.openxmlformats.org/officeDocument/2006/relationships/notesMaster" Target="/ppt/notesMasters/notesMaster1.xml" Id="R6540d3ffba0544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46e038a7214d25" /><Relationship Type="http://schemas.openxmlformats.org/officeDocument/2006/relationships/notesMaster" Target="/ppt/notesMasters/notesMaster1.xml" Id="R71ffdcec9fd948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bd01ddab9b499d" /><Relationship Type="http://schemas.openxmlformats.org/officeDocument/2006/relationships/notesMaster" Target="/ppt/notesMasters/notesMaster1.xml" Id="R886188a352b048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6b482f66ce49cb" /><Relationship Type="http://schemas.openxmlformats.org/officeDocument/2006/relationships/notesMaster" Target="/ppt/notesMasters/notesMaster1.xml" Id="R243cfe182d274c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745637b97b43bc" /><Relationship Type="http://schemas.openxmlformats.org/officeDocument/2006/relationships/notesMaster" Target="/ppt/notesMasters/notesMaster1.xml" Id="R1e4ef05d619e48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eccf54461e47db" /><Relationship Type="http://schemas.openxmlformats.org/officeDocument/2006/relationships/notesMaster" Target="/ppt/notesMasters/notesMaster1.xml" Id="R0e4580f415c447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444c7d49b644d6" /><Relationship Type="http://schemas.openxmlformats.org/officeDocument/2006/relationships/notesMaster" Target="/ppt/notesMasters/notesMaster1.xml" Id="Re5150fb2c13c4e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848351670744ed" /><Relationship Type="http://schemas.openxmlformats.org/officeDocument/2006/relationships/notesMaster" Target="/ppt/notesMasters/notesMaster1.xml" Id="Rc4b4ba1ed47b48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a6d2eaad124c64" /><Relationship Type="http://schemas.openxmlformats.org/officeDocument/2006/relationships/notesMaster" Target="/ppt/notesMasters/notesMaster1.xml" Id="R6cdbe6f6ae3842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e957fada3a4345" /><Relationship Type="http://schemas.openxmlformats.org/officeDocument/2006/relationships/notesMaster" Target="/ppt/notesMasters/notesMaster1.xml" Id="Rdbcc7f1f8f7e43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64922eac664e7b" /><Relationship Type="http://schemas.openxmlformats.org/officeDocument/2006/relationships/notesMaster" Target="/ppt/notesMasters/notesMaster1.xml" Id="R286a5e3514d04f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7480487a8d49b2" /><Relationship Type="http://schemas.openxmlformats.org/officeDocument/2006/relationships/notesMaster" Target="/ppt/notesMasters/notesMaster1.xml" Id="Re4d130be3fa140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81e0488e0a4a43" /><Relationship Type="http://schemas.openxmlformats.org/officeDocument/2006/relationships/notesMaster" Target="/ppt/notesMasters/notesMaster1.xml" Id="R9a9f826803eb462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541d87c6bd4343" /><Relationship Type="http://schemas.openxmlformats.org/officeDocument/2006/relationships/notesMaster" Target="/ppt/notesMasters/notesMaster1.xml" Id="R3a680b36ba2143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090943ee84d4a03" /><Relationship Type="http://schemas.openxmlformats.org/officeDocument/2006/relationships/notesMaster" Target="/ppt/notesMasters/notesMaster1.xml" Id="R329e39c4e4b54ec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06bfbfcde9f48e2" /><Relationship Type="http://schemas.openxmlformats.org/officeDocument/2006/relationships/notesMaster" Target="/ppt/notesMasters/notesMaster1.xml" Id="Rd02448f848f946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5787905c24e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ccabd02b2345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758859e595460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78da67a8684a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6b07d6aa1146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fcc4968fcd4a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2EDA35-AD56-4173-9470-B06D3E65D5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98333"/>
            <a:ext cx="12192000" cy="1375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CF7567-5A9A-4B6B-B889-0288D82CAD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5238750"/>
            <a:ext cx="10668000" cy="1058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3CFB5F7-F8E6-418B-BDF5-8E8054AC5D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968750"/>
            <a:ext cx="12192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445AE7-CD01-4903-BC80-BD7201B62B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40833"/>
            <a:ext cx="1352550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610AD1-27D2-4105-BFDA-CF807F64A9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645833"/>
            <a:ext cx="13525500" cy="592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3FC78B-1B64-42C5-B20E-4847A69276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40833"/>
            <a:ext cx="1352550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704B1F-4104-42C4-B1B7-9CB70F5E38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645833"/>
            <a:ext cx="6286500" cy="592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97FFDB4-7F72-434D-92E5-8662FC028E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645833"/>
            <a:ext cx="6286500" cy="592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40D58D-4613-44F7-BC9A-025363AF96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40833"/>
            <a:ext cx="1352550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F89475-4CE9-4A51-90D9-CE3739A53D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645833"/>
            <a:ext cx="6286500" cy="592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7b44f019ff42e8" /><Relationship Type="http://schemas.openxmlformats.org/officeDocument/2006/relationships/slideLayout" Target="/ppt/slideLayouts/slideLayout1.xml" Id="R76837f4e5890427a" /><Relationship Type="http://schemas.openxmlformats.org/officeDocument/2006/relationships/slideLayout" Target="/ppt/slideLayouts/slideLayout2.xml" Id="Rf2faa39eb9b949c3" /><Relationship Type="http://schemas.openxmlformats.org/officeDocument/2006/relationships/slideLayout" Target="/ppt/slideLayouts/slideLayout3.xml" Id="R8d65bf0cb97742b2" /><Relationship Type="http://schemas.openxmlformats.org/officeDocument/2006/relationships/slideLayout" Target="/ppt/slideLayouts/slideLayout4.xml" Id="Rfd5a0c48d55945ab" /><Relationship Type="http://schemas.openxmlformats.org/officeDocument/2006/relationships/slideLayout" Target="/ppt/slideLayouts/slideLayout5.xml" Id="Rc775eed572614b60" /><Relationship Type="http://schemas.openxmlformats.org/officeDocument/2006/relationships/slideLayout" Target="/ppt/slideLayouts/slideLayout6.xml" Id="R1715a311c6a043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837f4e5890427a"/>
    <p:sldLayoutId xmlns:r="http://schemas.openxmlformats.org/officeDocument/2006/relationships" id="2147483650" r:id="Rf2faa39eb9b949c3"/>
    <p:sldLayoutId xmlns:r="http://schemas.openxmlformats.org/officeDocument/2006/relationships" id="2147483651" r:id="R8d65bf0cb97742b2"/>
    <p:sldLayoutId xmlns:r="http://schemas.openxmlformats.org/officeDocument/2006/relationships" id="2147483652" r:id="Rfd5a0c48d55945ab"/>
    <p:sldLayoutId xmlns:r="http://schemas.openxmlformats.org/officeDocument/2006/relationships" id="2147483653" r:id="Rc775eed572614b60"/>
    <p:sldLayoutId xmlns:r="http://schemas.openxmlformats.org/officeDocument/2006/relationships" id="2147483654" r:id="R1715a311c6a043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91e8d1528bb4167" /><Relationship Type="http://schemas.openxmlformats.org/officeDocument/2006/relationships/image" Target="/ppt/media/image.png" Id="Rb2bbf1b93a904311" /><Relationship Type="http://schemas.openxmlformats.org/officeDocument/2006/relationships/image" Target="/ppt/media/image.png" Id="Rea952eb85ce24269" /><Relationship Type="http://schemas.openxmlformats.org/officeDocument/2006/relationships/image" Target="/ppt/media/image3.png" Id="Rd00d653f0a73462a" /><Relationship Type="http://schemas.openxmlformats.org/officeDocument/2006/relationships/notesSlide" Target="/ppt/notesSlides/notesSlide1.xml" Id="R12d9fca936cd4e47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84c1c20626384aed" /><Relationship Type="http://schemas.openxmlformats.org/officeDocument/2006/relationships/image" Target="/ppt/media/image.png" Id="R6c1d36f3c3e24d28" /><Relationship Type="http://schemas.openxmlformats.org/officeDocument/2006/relationships/image" Target="/ppt/media/image5.png" Id="Ra2d491d2c3b34d88" /><Relationship Type="http://schemas.openxmlformats.org/officeDocument/2006/relationships/image" Target="/ppt/media/image5.png" Id="Rd23e13f815e4490d" /><Relationship Type="http://schemas.openxmlformats.org/officeDocument/2006/relationships/image" Target="/ppt/media/image5.png" Id="Ra72bdee7a8e8454a" /><Relationship Type="http://schemas.openxmlformats.org/officeDocument/2006/relationships/image" Target="/ppt/media/image5.png" Id="R49c1be2bbae64129" /><Relationship Type="http://schemas.openxmlformats.org/officeDocument/2006/relationships/notesSlide" Target="/ppt/notesSlides/notesSlide2.xml" Id="Rf2b34a50bf294e52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15736a5c9134507" /><Relationship Type="http://schemas.openxmlformats.org/officeDocument/2006/relationships/image" Target="/ppt/media/image.png" Id="Rae195372851a4317" /><Relationship Type="http://schemas.openxmlformats.org/officeDocument/2006/relationships/image" Target="/ppt/media/image3.png" Id="R82c54f8bb92b4e19" /><Relationship Type="http://schemas.openxmlformats.org/officeDocument/2006/relationships/notesSlide" Target="/ppt/notesSlides/notesSlide3.xml" Id="R2991f345cf9643f6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e9280ba102c4574" /><Relationship Type="http://schemas.openxmlformats.org/officeDocument/2006/relationships/image" Target="/ppt/media/image.png" Id="R2ff09d75b5974bda" /><Relationship Type="http://schemas.openxmlformats.org/officeDocument/2006/relationships/image" Target="/ppt/media/image12.png" Id="R69fbe5a015a34f36" /><Relationship Type="http://schemas.openxmlformats.org/officeDocument/2006/relationships/image" Target="/ppt/media/image12.png" Id="R43aaeef6c6954439" /><Relationship Type="http://schemas.openxmlformats.org/officeDocument/2006/relationships/image" Target="/ppt/media/image12.png" Id="Rb08d733925544b39" /><Relationship Type="http://schemas.openxmlformats.org/officeDocument/2006/relationships/image" Target="/ppt/media/image12.png" Id="R221eb78a85964ad2" /><Relationship Type="http://schemas.openxmlformats.org/officeDocument/2006/relationships/image" Target="/ppt/media/image16.png" Id="Rb8805f8ae8c74983" /><Relationship Type="http://schemas.openxmlformats.org/officeDocument/2006/relationships/image" Target="/ppt/media/image16.png" Id="Re3f93dbb7eb84840" /><Relationship Type="http://schemas.openxmlformats.org/officeDocument/2006/relationships/image" Target="/ppt/media/image16.png" Id="Rebc41fa7026749aa" /><Relationship Type="http://schemas.openxmlformats.org/officeDocument/2006/relationships/image" Target="/ppt/media/image16.png" Id="R39d5dcb6050742c2" /><Relationship Type="http://schemas.openxmlformats.org/officeDocument/2006/relationships/notesSlide" Target="/ppt/notesSlides/notesSlide4.xml" Id="R8b40b9b4601442c6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9e4b96e2b624908" /><Relationship Type="http://schemas.openxmlformats.org/officeDocument/2006/relationships/image" Target="/ppt/media/image.png" Id="R388a23b3912d4d79" /><Relationship Type="http://schemas.openxmlformats.org/officeDocument/2006/relationships/image" Target="/ppt/media/image21.png" Id="Re6e3da9308494c7f" /><Relationship Type="http://schemas.openxmlformats.org/officeDocument/2006/relationships/image" Target="/ppt/media/image21.png" Id="Re30d6f7d53cf46a7" /><Relationship Type="http://schemas.openxmlformats.org/officeDocument/2006/relationships/image" Target="/ppt/media/image21.png" Id="R65ab9be36dca4a6f" /><Relationship Type="http://schemas.openxmlformats.org/officeDocument/2006/relationships/image" Target="/ppt/media/image21.png" Id="Rb777e91af1cf44e9" /><Relationship Type="http://schemas.openxmlformats.org/officeDocument/2006/relationships/image" Target="/ppt/media/image21.png" Id="R4b31e36adaad4c31" /><Relationship Type="http://schemas.openxmlformats.org/officeDocument/2006/relationships/image" Target="/ppt/media/image21.png" Id="Ra8dc14a0168d47c1" /><Relationship Type="http://schemas.openxmlformats.org/officeDocument/2006/relationships/notesSlide" Target="/ppt/notesSlides/notesSlide5.xml" Id="Rb4943c8cd9ab404b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ed7c4c2be844d7a" /><Relationship Type="http://schemas.openxmlformats.org/officeDocument/2006/relationships/image" Target="/ppt/media/image.png" Id="R381505b7209a4483" /><Relationship Type="http://schemas.openxmlformats.org/officeDocument/2006/relationships/image" Target="/ppt/media/image.png" Id="Rec788ba9c3e944db" /><Relationship Type="http://schemas.openxmlformats.org/officeDocument/2006/relationships/notesSlide" Target="/ppt/notesSlides/notesSlide6.xml" Id="Rfd128186d68146e4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aaf29d1ea3a4211" /><Relationship Type="http://schemas.openxmlformats.org/officeDocument/2006/relationships/image" Target="/ppt/media/image.png" Id="R9e803c47695d4479" /><Relationship Type="http://schemas.openxmlformats.org/officeDocument/2006/relationships/image" Target="/ppt/media/image3.png" Id="R6feb089fa4fc444a" /><Relationship Type="http://schemas.openxmlformats.org/officeDocument/2006/relationships/image" Target="/ppt/media/image.png" Id="R95ea7a8cace14244" /><Relationship Type="http://schemas.openxmlformats.org/officeDocument/2006/relationships/notesSlide" Target="/ppt/notesSlides/notesSlide7.xml" Id="R90afa55cc2bb4dde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4a1f6f37b074abc" /><Relationship Type="http://schemas.openxmlformats.org/officeDocument/2006/relationships/image" Target="/ppt/media/image.png" Id="Re6bc2eb68a6b4010" /><Relationship Type="http://schemas.openxmlformats.org/officeDocument/2006/relationships/image" Target="/ppt/media/image3.png" Id="R0317c308f33942be" /><Relationship Type="http://schemas.openxmlformats.org/officeDocument/2006/relationships/image" Target="/ppt/media/image.png" Id="R91117875a60f46b0" /><Relationship Type="http://schemas.openxmlformats.org/officeDocument/2006/relationships/notesSlide" Target="/ppt/notesSlides/notesSlide8.xml" Id="Rd792f05c95584fa2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1cf9652c9c441a7" /><Relationship Type="http://schemas.openxmlformats.org/officeDocument/2006/relationships/image" Target="/ppt/media/image.png" Id="R644d14fa07444187" /><Relationship Type="http://schemas.openxmlformats.org/officeDocument/2006/relationships/image" Target="/ppt/media/image5.png" Id="R67f4e7f50c19498d" /><Relationship Type="http://schemas.openxmlformats.org/officeDocument/2006/relationships/image" Target="/ppt/media/image5.png" Id="R639feb72e1b64a57" /><Relationship Type="http://schemas.openxmlformats.org/officeDocument/2006/relationships/image" Target="/ppt/media/image5.png" Id="R2a986ee651244f7b" /><Relationship Type="http://schemas.openxmlformats.org/officeDocument/2006/relationships/image" Target="/ppt/media/image5.png" Id="R333dd4ea9e9c4074" /><Relationship Type="http://schemas.openxmlformats.org/officeDocument/2006/relationships/notesSlide" Target="/ppt/notesSlides/notesSlide9.xml" Id="R5d7a24f418d0497d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f76e928dbd248ec" /><Relationship Type="http://schemas.openxmlformats.org/officeDocument/2006/relationships/image" Target="/ppt/media/image.png" Id="R763fc321ddc04a64" /><Relationship Type="http://schemas.openxmlformats.org/officeDocument/2006/relationships/image" Target="/ppt/media/image5.png" Id="Rc441bf3c9b574abf" /><Relationship Type="http://schemas.openxmlformats.org/officeDocument/2006/relationships/notesSlide" Target="/ppt/notesSlides/notesSlide10.xml" Id="R8a38e97d4cf047c8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14d77f7392c4ca1" /><Relationship Type="http://schemas.openxmlformats.org/officeDocument/2006/relationships/image" Target="/ppt/media/image.png" Id="R23ef016d51e547f5" /><Relationship Type="http://schemas.openxmlformats.org/officeDocument/2006/relationships/image" Target="/ppt/media/image5.png" Id="R7fb216e16d544252" /><Relationship Type="http://schemas.openxmlformats.org/officeDocument/2006/relationships/notesSlide" Target="/ppt/notesSlides/notesSlide11.xml" Id="R70cf40f0f9f7403f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8e65018609c4be9" /><Relationship Type="http://schemas.openxmlformats.org/officeDocument/2006/relationships/image" Target="/ppt/media/image.png" Id="R90c7856b8e434ba4" /><Relationship Type="http://schemas.openxmlformats.org/officeDocument/2006/relationships/image" Target="/ppt/media/image12.png" Id="R689f1344da544134" /><Relationship Type="http://schemas.openxmlformats.org/officeDocument/2006/relationships/image" Target="/ppt/media/image12.png" Id="R43dae173e0264897" /><Relationship Type="http://schemas.openxmlformats.org/officeDocument/2006/relationships/image" Target="/ppt/media/image16.png" Id="R66f22302dc954549" /><Relationship Type="http://schemas.openxmlformats.org/officeDocument/2006/relationships/image" Target="/ppt/media/image16.png" Id="R522f9f78a8dc4c5c" /><Relationship Type="http://schemas.openxmlformats.org/officeDocument/2006/relationships/image" Target="/ppt/media/image12.png" Id="R6e325710c2f04aa0" /><Relationship Type="http://schemas.openxmlformats.org/officeDocument/2006/relationships/image" Target="/ppt/media/image12.png" Id="R831f8987e12141b4" /><Relationship Type="http://schemas.openxmlformats.org/officeDocument/2006/relationships/image" Target="/ppt/media/image16.png" Id="R7480bd19bde24e4c" /><Relationship Type="http://schemas.openxmlformats.org/officeDocument/2006/relationships/image" Target="/ppt/media/image16.png" Id="R0f1b5ab67cd84ef4" /><Relationship Type="http://schemas.openxmlformats.org/officeDocument/2006/relationships/image" Target="/ppt/media/image12.png" Id="R9c32dfb02633486f" /><Relationship Type="http://schemas.openxmlformats.org/officeDocument/2006/relationships/image" Target="/ppt/media/image12.png" Id="Rdc0cd568c0244ce8" /><Relationship Type="http://schemas.openxmlformats.org/officeDocument/2006/relationships/image" Target="/ppt/media/image16.png" Id="R69cee440e1dd40af" /><Relationship Type="http://schemas.openxmlformats.org/officeDocument/2006/relationships/image" Target="/ppt/media/image16.png" Id="Rb4df77ae6fbe4225" /><Relationship Type="http://schemas.openxmlformats.org/officeDocument/2006/relationships/image" Target="/ppt/media/image16.png" Id="R3e0154d1a94f47ff" /><Relationship Type="http://schemas.openxmlformats.org/officeDocument/2006/relationships/image" Target="/ppt/media/image16.png" Id="R94d0ce5d9fcf4e25" /><Relationship Type="http://schemas.openxmlformats.org/officeDocument/2006/relationships/image" Target="/ppt/media/image12.png" Id="Rb81b822bb6304666" /><Relationship Type="http://schemas.openxmlformats.org/officeDocument/2006/relationships/notesSlide" Target="/ppt/notesSlides/notesSlide12.xml" Id="Red57aa0f5d584150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1cfee934eda4f8b" /><Relationship Type="http://schemas.openxmlformats.org/officeDocument/2006/relationships/image" Target="/ppt/media/image.png" Id="R68cefe5f83c64b75" /><Relationship Type="http://schemas.openxmlformats.org/officeDocument/2006/relationships/image" Target="/ppt/media/image21.png" Id="R70d322b1cf454127" /><Relationship Type="http://schemas.openxmlformats.org/officeDocument/2006/relationships/image" Target="/ppt/media/image12.png" Id="Rfab5e9d070944b79" /><Relationship Type="http://schemas.openxmlformats.org/officeDocument/2006/relationships/image" Target="/ppt/media/image16.png" Id="R838e8543997a4ca6" /><Relationship Type="http://schemas.openxmlformats.org/officeDocument/2006/relationships/notesSlide" Target="/ppt/notesSlides/notesSlide13.xml" Id="R35709186340b4809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b6becf1dab74ac4" /><Relationship Type="http://schemas.openxmlformats.org/officeDocument/2006/relationships/image" Target="/ppt/media/image.png" Id="R91578c6cdabc413a" /><Relationship Type="http://schemas.openxmlformats.org/officeDocument/2006/relationships/image" Target="/ppt/media/image5.png" Id="R36b6a79268c84c64" /><Relationship Type="http://schemas.openxmlformats.org/officeDocument/2006/relationships/image" Target="/ppt/media/image16.png" Id="R3146a4dd77744fd2" /><Relationship Type="http://schemas.openxmlformats.org/officeDocument/2006/relationships/image" Target="/ppt/media/image16.png" Id="R04013ff07a8f4062" /><Relationship Type="http://schemas.openxmlformats.org/officeDocument/2006/relationships/image" Target="/ppt/media/image16.png" Id="Rdb2a32ed02014af4" /><Relationship Type="http://schemas.openxmlformats.org/officeDocument/2006/relationships/notesSlide" Target="/ppt/notesSlides/notesSlide14.xml" Id="R8231c83598854cd5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b8e5943f5504aab" /><Relationship Type="http://schemas.openxmlformats.org/officeDocument/2006/relationships/image" Target="/ppt/media/image.png" Id="R22d2dff6950b4548" /><Relationship Type="http://schemas.openxmlformats.org/officeDocument/2006/relationships/notesSlide" Target="/ppt/notesSlides/notesSlide15.xml" Id="R2929f3c470834d12" 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7e93a256e014508" /><Relationship Type="http://schemas.openxmlformats.org/officeDocument/2006/relationships/image" Target="/ppt/media/image.png" Id="R947b6c45cdf0414f" /><Relationship Type="http://schemas.openxmlformats.org/officeDocument/2006/relationships/image" Target="/ppt/media/image.png" Id="R2d9ecb7c34e34425" /><Relationship Type="http://schemas.openxmlformats.org/officeDocument/2006/relationships/image" Target="/ppt/media/image3.png" Id="Rbc2157cfa3934179" /><Relationship Type="http://schemas.openxmlformats.org/officeDocument/2006/relationships/image" Target="/ppt/media/image3.png" Id="Rb9189b2631b7497b" /><Relationship Type="http://schemas.openxmlformats.org/officeDocument/2006/relationships/image" Target="/ppt/media/image3.png" Id="Rb868462a37d94cef" /><Relationship Type="http://schemas.openxmlformats.org/officeDocument/2006/relationships/notesSlide" Target="/ppt/notesSlides/notesSlide16.xml" Id="R8f3b28f4dd714f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357DF-4D96-44FD-865A-824801EC83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bf1b93a904311"/>
          <a:stretch xmlns:a="http://schemas.openxmlformats.org/drawingml/2006/main"/>
        </p:blipFill>
        <p:spPr>
          <a:xfrm xmlns:a="http://schemas.openxmlformats.org/drawingml/2006/main">
            <a:off x="457200" y="266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ui-1">
            <a:extLst xmlns:a="http://schemas.openxmlformats.org/drawingml/2006/main">
              <a:ext uri="{FF2B5EF4-FFF2-40B4-BE49-F238E27FC236}">
                <a16:creationId xmlns:a16="http://schemas.microsoft.com/office/drawing/2014/main" id="{746FDDFB-DC06-4042-9E97-2B935735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10001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Building Management Tycoon</a:t>
            </a:r>
          </a:p>
        </p:txBody>
      </p:sp>
      <p:sp>
        <p:nvSpPr>
          <p:cNvPr id="3" name="ui-2">
            <a:extLst xmlns:a="http://schemas.openxmlformats.org/drawingml/2006/main">
              <a:ext uri="{FF2B5EF4-FFF2-40B4-BE49-F238E27FC236}">
                <a16:creationId xmlns:a16="http://schemas.microsoft.com/office/drawing/2014/main" id="{29BB1DD3-A3B4-4C3E-B198-CB257D32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3850"/>
            <a:ext cx="1219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01 / 16</a:t>
            </a:r>
          </a:p>
        </p:txBody>
      </p:sp>
      <p:sp>
        <p:nvSpPr>
          <p:cNvPr id="4" name="ui-3">
            <a:extLst xmlns:a="http://schemas.openxmlformats.org/drawingml/2006/main">
              <a:ext uri="{FF2B5EF4-FFF2-40B4-BE49-F238E27FC236}">
                <a16:creationId xmlns:a16="http://schemas.microsoft.com/office/drawing/2014/main" id="{E8F8165B-B0DF-41C2-8747-97307241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i-4">
            <a:extLst xmlns:a="http://schemas.openxmlformats.org/drawingml/2006/main">
              <a:ext uri="{FF2B5EF4-FFF2-40B4-BE49-F238E27FC236}">
                <a16:creationId xmlns:a16="http://schemas.microsoft.com/office/drawing/2014/main" id="{D2CF7C2A-9961-45DD-86B6-CF0310D7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432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01  Game identity</a:t>
            </a:r>
          </a:p>
        </p:txBody>
      </p:sp>
      <p:sp>
        <p:nvSpPr>
          <p:cNvPr id="6" name="ui-5">
            <a:extLst xmlns:a="http://schemas.openxmlformats.org/drawingml/2006/main">
              <a:ext uri="{FF2B5EF4-FFF2-40B4-BE49-F238E27FC236}">
                <a16:creationId xmlns:a16="http://schemas.microsoft.com/office/drawing/2014/main" id="{BE54483C-AAA7-435A-9A99-F04B8897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48750"/>
            <a:ext cx="138684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Game design reference. Economy values and district names are examples.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F4814-2874-4834-9799-0044B51E93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52eb85ce24269"/>
          <a:stretch xmlns:a="http://schemas.openxmlformats.org/drawingml/2006/main"/>
        </p:blipFill>
        <p:spPr>
          <a:xfrm xmlns:a="http://schemas.openxmlformats.org/drawingml/2006/main">
            <a:off x="609600" y="2514600"/>
            <a:ext cx="1066800" cy="1066800"/>
          </a:xfrm>
          <a:prstGeom xmlns:a="http://schemas.openxmlformats.org/drawingml/2006/main" prst="rect">
            <a:avLst/>
          </a:prstGeom>
        </p:spPr>
      </p:pic>
      <p:sp>
        <p:nvSpPr>
          <p:cNvPr id="8" name="ui-6">
            <a:extLst xmlns:a="http://schemas.openxmlformats.org/drawingml/2006/main">
              <a:ext uri="{FF2B5EF4-FFF2-40B4-BE49-F238E27FC236}">
                <a16:creationId xmlns:a16="http://schemas.microsoft.com/office/drawing/2014/main" id="{FE4B0C8C-8A4C-4CCF-A205-6AD57300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5638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2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42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Building Management</a:t>
            </a:r>
          </a:p>
          <a:p xmlns:a="http://schemas.openxmlformats.org/drawingml/2006/main">
            <a:pPr algn="l">
              <a:defRPr sz="42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42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Tycoon</a:t>
            </a:r>
          </a:p>
        </p:txBody>
      </p:sp>
      <p:sp>
        <p:nvSpPr>
          <p:cNvPr id="9" name="ui-7">
            <a:extLst xmlns:a="http://schemas.openxmlformats.org/drawingml/2006/main">
              <a:ext uri="{FF2B5EF4-FFF2-40B4-BE49-F238E27FC236}">
                <a16:creationId xmlns:a16="http://schemas.microsoft.com/office/drawing/2014/main" id="{9549CDEA-BBB9-4B64-B83D-661E59CE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54102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Build and manage your district.</a:t>
            </a:r>
          </a:p>
        </p:txBody>
      </p:sp>
      <p:sp>
        <p:nvSpPr>
          <p:cNvPr id="10" name="ui-8">
            <a:extLst xmlns:a="http://schemas.openxmlformats.org/drawingml/2006/main">
              <a:ext uri="{FF2B5EF4-FFF2-40B4-BE49-F238E27FC236}">
                <a16:creationId xmlns:a16="http://schemas.microsoft.com/office/drawing/2014/main" id="{7C0B6DBE-DA29-4F6D-8985-F482B476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81800"/>
            <a:ext cx="2781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ui-9">
            <a:extLst xmlns:a="http://schemas.openxmlformats.org/drawingml/2006/main">
              <a:ext uri="{FF2B5EF4-FFF2-40B4-BE49-F238E27FC236}">
                <a16:creationId xmlns:a16="http://schemas.microsoft.com/office/drawing/2014/main" id="{7544ECE3-566C-4008-B20C-0AFDB000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43700"/>
            <a:ext cx="2781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12" name="ui-10">
            <a:extLst xmlns:a="http://schemas.openxmlformats.org/drawingml/2006/main">
              <a:ext uri="{FF2B5EF4-FFF2-40B4-BE49-F238E27FC236}">
                <a16:creationId xmlns:a16="http://schemas.microsoft.com/office/drawing/2014/main" id="{2E9FC836-8489-49E0-A111-DE0C1299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199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rPr>
              <a:t>Start a district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9D25D-0E82-4525-8B95-255CE5348C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d653f0a73462a"/>
          <a:stretch xmlns:a="http://schemas.openxmlformats.org/drawingml/2006/main"/>
        </p:blipFill>
        <p:spPr>
          <a:xfrm xmlns:a="http://schemas.openxmlformats.org/drawingml/2006/main">
            <a:off x="5981700" y="2362075"/>
            <a:ext cx="8801100" cy="4953251"/>
          </a:xfrm>
          <a:prstGeom xmlns:a="http://schemas.openxmlformats.org/drawingml/2006/main" prst="rect">
            <a:avLst/>
          </a:prstGeom>
        </p:spPr>
      </p:pic>
      <p:sp>
        <p:nvSpPr>
          <p:cNvPr id="14" name="ui-11">
            <a:extLst xmlns:a="http://schemas.openxmlformats.org/drawingml/2006/main">
              <a:ext uri="{FF2B5EF4-FFF2-40B4-BE49-F238E27FC236}">
                <a16:creationId xmlns:a16="http://schemas.microsoft.com/office/drawing/2014/main" id="{E1F579F9-C3B1-4F7D-9CD9-A97D175E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7981950"/>
            <a:ext cx="33337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2D district map</a:t>
            </a:r>
          </a:p>
        </p:txBody>
      </p:sp>
      <p:sp>
        <p:nvSpPr>
          <p:cNvPr id="15" name="ui-12">
            <a:extLst xmlns:a="http://schemas.openxmlformats.org/drawingml/2006/main">
              <a:ext uri="{FF2B5EF4-FFF2-40B4-BE49-F238E27FC236}">
                <a16:creationId xmlns:a16="http://schemas.microsoft.com/office/drawing/2014/main" id="{4AC2906E-1903-403C-8630-8DF6027A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981950"/>
            <a:ext cx="42291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Floor-by-floor management</a:t>
            </a:r>
          </a:p>
        </p:txBody>
      </p:sp>
    </p:spTree>
    <p:extLst>
      <p:ext uri="{BB962C8B-B14F-4D97-AF65-F5344CB8AC3E}">
        <p14:creationId xmlns:p14="http://schemas.microsoft.com/office/powerpoint/2010/main" val="11095468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6DD6DB-EA0A-47C9-9C9C-50CCA3C925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d36f3c3e24d28"/>
          <a:stretch xmlns:a="http://schemas.openxmlformats.org/drawingml/2006/main"/>
        </p:blipFill>
        <p:spPr>
          <a:xfrm xmlns:a="http://schemas.openxmlformats.org/drawingml/2006/main">
            <a:off x="457200" y="266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ui-13">
            <a:extLst xmlns:a="http://schemas.openxmlformats.org/drawingml/2006/main">
              <a:ext uri="{FF2B5EF4-FFF2-40B4-BE49-F238E27FC236}">
                <a16:creationId xmlns:a16="http://schemas.microsoft.com/office/drawing/2014/main" id="{71B4E199-8972-4DC6-A0C4-DF18AB4D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10001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Building Management Tycoon</a:t>
            </a:r>
          </a:p>
        </p:txBody>
      </p:sp>
      <p:sp>
        <p:nvSpPr>
          <p:cNvPr id="3" name="ui-14">
            <a:extLst xmlns:a="http://schemas.openxmlformats.org/drawingml/2006/main">
              <a:ext uri="{FF2B5EF4-FFF2-40B4-BE49-F238E27FC236}">
                <a16:creationId xmlns:a16="http://schemas.microsoft.com/office/drawing/2014/main" id="{ECBE3774-16A6-49D9-B4DB-79F89E3A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3850"/>
            <a:ext cx="1219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02 / 16</a:t>
            </a:r>
          </a:p>
        </p:txBody>
      </p:sp>
      <p:sp>
        <p:nvSpPr>
          <p:cNvPr id="4" name="ui-15">
            <a:extLst xmlns:a="http://schemas.openxmlformats.org/drawingml/2006/main">
              <a:ext uri="{FF2B5EF4-FFF2-40B4-BE49-F238E27FC236}">
                <a16:creationId xmlns:a16="http://schemas.microsoft.com/office/drawing/2014/main" id="{A10F3E4F-322D-4241-8AB9-A25E6C57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i-16">
            <a:extLst xmlns:a="http://schemas.openxmlformats.org/drawingml/2006/main">
              <a:ext uri="{FF2B5EF4-FFF2-40B4-BE49-F238E27FC236}">
                <a16:creationId xmlns:a16="http://schemas.microsoft.com/office/drawing/2014/main" id="{6755FAA6-03A1-48D1-9F0E-473F0541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432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02  Building exteriors</a:t>
            </a:r>
          </a:p>
        </p:txBody>
      </p:sp>
      <p:sp>
        <p:nvSpPr>
          <p:cNvPr id="6" name="ui-17">
            <a:extLst xmlns:a="http://schemas.openxmlformats.org/drawingml/2006/main">
              <a:ext uri="{FF2B5EF4-FFF2-40B4-BE49-F238E27FC236}">
                <a16:creationId xmlns:a16="http://schemas.microsoft.com/office/drawing/2014/main" id="{2F290978-628A-493D-B1A5-22AB7D13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48750"/>
            <a:ext cx="138684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Game design reference. Economy values and district names are examples.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C05C0-FAEB-4815-9BC4-9AF8785853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491d2c3b34d88"/>
          <a:srcRect xmlns:a="http://schemas.openxmlformats.org/drawingml/2006/main" l="0" t="0" r="50000" b="50000"/>
          <a:stretch xmlns:a="http://schemas.openxmlformats.org/drawingml/2006/main"/>
        </p:blipFill>
        <p:spPr>
          <a:xfrm xmlns:a="http://schemas.openxmlformats.org/drawingml/2006/main">
            <a:off x="533400" y="2247900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8" name="ui-18">
            <a:extLst xmlns:a="http://schemas.openxmlformats.org/drawingml/2006/main">
              <a:ext uri="{FF2B5EF4-FFF2-40B4-BE49-F238E27FC236}">
                <a16:creationId xmlns:a16="http://schemas.microsoft.com/office/drawing/2014/main" id="{972C41BA-18A1-4288-8489-2A1EBFBC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Apartment</a:t>
            </a:r>
          </a:p>
        </p:txBody>
      </p:sp>
      <p:sp>
        <p:nvSpPr>
          <p:cNvPr id="9" name="ui-19">
            <a:extLst xmlns:a="http://schemas.openxmlformats.org/drawingml/2006/main">
              <a:ext uri="{FF2B5EF4-FFF2-40B4-BE49-F238E27FC236}">
                <a16:creationId xmlns:a16="http://schemas.microsoft.com/office/drawing/2014/main" id="{AB807F28-8A4B-4EF4-B15A-8BD82E31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ui-20">
            <a:extLst xmlns:a="http://schemas.openxmlformats.org/drawingml/2006/main">
              <a:ext uri="{FF2B5EF4-FFF2-40B4-BE49-F238E27FC236}">
                <a16:creationId xmlns:a16="http://schemas.microsoft.com/office/drawing/2014/main" id="{555C8425-350F-47D5-B72C-427A881B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934200"/>
            <a:ext cx="335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Long-term room rentals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32E325-BAF4-4C43-BAB8-EEC80A3ABD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e13f815e4490d"/>
          <a:srcRect xmlns:a="http://schemas.openxmlformats.org/drawingml/2006/main" l="50000" t="0" r="0" b="50000"/>
          <a:stretch xmlns:a="http://schemas.openxmlformats.org/drawingml/2006/main"/>
        </p:blipFill>
        <p:spPr>
          <a:xfrm xmlns:a="http://schemas.openxmlformats.org/drawingml/2006/main">
            <a:off x="4191000" y="2247900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2" name="ui-21">
            <a:extLst xmlns:a="http://schemas.openxmlformats.org/drawingml/2006/main">
              <a:ext uri="{FF2B5EF4-FFF2-40B4-BE49-F238E27FC236}">
                <a16:creationId xmlns:a16="http://schemas.microsoft.com/office/drawing/2014/main" id="{AF421C83-DC3A-4847-A991-3E5AC875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000750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Hotel</a:t>
            </a:r>
          </a:p>
        </p:txBody>
      </p:sp>
      <p:sp>
        <p:nvSpPr>
          <p:cNvPr id="13" name="ui-22">
            <a:extLst xmlns:a="http://schemas.openxmlformats.org/drawingml/2006/main">
              <a:ext uri="{FF2B5EF4-FFF2-40B4-BE49-F238E27FC236}">
                <a16:creationId xmlns:a16="http://schemas.microsoft.com/office/drawing/2014/main" id="{6FC9BB41-B377-4100-8FB2-B91BB9D2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55320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8D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ui-23">
            <a:extLst xmlns:a="http://schemas.openxmlformats.org/drawingml/2006/main">
              <a:ext uri="{FF2B5EF4-FFF2-40B4-BE49-F238E27FC236}">
                <a16:creationId xmlns:a16="http://schemas.microsoft.com/office/drawing/2014/main" id="{7279A33E-5D7E-450A-9CD3-84414CBD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934200"/>
            <a:ext cx="335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Daily room occupancy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0F588-CC76-44AE-B45C-7A76B24125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bdee7a8e8454a"/>
          <a:srcRect xmlns:a="http://schemas.openxmlformats.org/drawingml/2006/main" l="0" t="50000" r="50000" b="0"/>
          <a:stretch xmlns:a="http://schemas.openxmlformats.org/drawingml/2006/main"/>
        </p:blipFill>
        <p:spPr>
          <a:xfrm xmlns:a="http://schemas.openxmlformats.org/drawingml/2006/main">
            <a:off x="7848600" y="2247900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6" name="ui-24">
            <a:extLst xmlns:a="http://schemas.openxmlformats.org/drawingml/2006/main">
              <a:ext uri="{FF2B5EF4-FFF2-40B4-BE49-F238E27FC236}">
                <a16:creationId xmlns:a16="http://schemas.microsoft.com/office/drawing/2014/main" id="{0A6E2645-AB43-4BA7-8E6D-A64CFEE2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000750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Office tower</a:t>
            </a:r>
          </a:p>
        </p:txBody>
      </p:sp>
      <p:sp>
        <p:nvSpPr>
          <p:cNvPr id="17" name="ui-25">
            <a:extLst xmlns:a="http://schemas.openxmlformats.org/drawingml/2006/main">
              <a:ext uri="{FF2B5EF4-FFF2-40B4-BE49-F238E27FC236}">
                <a16:creationId xmlns:a16="http://schemas.microsoft.com/office/drawing/2014/main" id="{55945B35-95EE-44A4-99DE-EE21FBBD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55320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B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ui-26">
            <a:extLst xmlns:a="http://schemas.openxmlformats.org/drawingml/2006/main">
              <a:ext uri="{FF2B5EF4-FFF2-40B4-BE49-F238E27FC236}">
                <a16:creationId xmlns:a16="http://schemas.microsoft.com/office/drawing/2014/main" id="{0379FBEC-4A0A-4D98-B838-36A275BE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934200"/>
            <a:ext cx="335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Whole-floor corporate leases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EDE83A-CF45-4407-862D-2FD0721C56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1be2bbae64129"/>
          <a:srcRect xmlns:a="http://schemas.openxmlformats.org/drawingml/2006/main" l="50000" t="50000" r="0" b="0"/>
          <a:stretch xmlns:a="http://schemas.openxmlformats.org/drawingml/2006/main"/>
        </p:blipFill>
        <p:spPr>
          <a:xfrm xmlns:a="http://schemas.openxmlformats.org/drawingml/2006/main">
            <a:off x="11506200" y="2247900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20" name="ui-27">
            <a:extLst xmlns:a="http://schemas.openxmlformats.org/drawingml/2006/main">
              <a:ext uri="{FF2B5EF4-FFF2-40B4-BE49-F238E27FC236}">
                <a16:creationId xmlns:a16="http://schemas.microsoft.com/office/drawing/2014/main" id="{A88D5155-0357-4F1B-9244-07FFB44D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000750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Food court</a:t>
            </a:r>
          </a:p>
        </p:txBody>
      </p:sp>
      <p:sp>
        <p:nvSpPr>
          <p:cNvPr id="21" name="ui-28">
            <a:extLst xmlns:a="http://schemas.openxmlformats.org/drawingml/2006/main">
              <a:ext uri="{FF2B5EF4-FFF2-40B4-BE49-F238E27FC236}">
                <a16:creationId xmlns:a16="http://schemas.microsoft.com/office/drawing/2014/main" id="{63CC7D9A-0CDA-475C-AD2D-F70E4579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ui-29">
            <a:extLst xmlns:a="http://schemas.openxmlformats.org/drawingml/2006/main">
              <a:ext uri="{FF2B5EF4-FFF2-40B4-BE49-F238E27FC236}">
                <a16:creationId xmlns:a16="http://schemas.microsoft.com/office/drawing/2014/main" id="{F0EA97DF-EA21-4794-9839-4219E3B3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934200"/>
            <a:ext cx="335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Daily customer sales</a:t>
            </a:r>
          </a:p>
        </p:txBody>
      </p:sp>
      <p:sp>
        <p:nvSpPr>
          <p:cNvPr id="23" name="ui-30">
            <a:extLst xmlns:a="http://schemas.openxmlformats.org/drawingml/2006/main">
              <a:ext uri="{FF2B5EF4-FFF2-40B4-BE49-F238E27FC236}">
                <a16:creationId xmlns:a16="http://schemas.microsoft.com/office/drawing/2014/main" id="{4FE6A13A-63BB-46F4-BB6F-04EEA879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486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ui-31">
            <a:extLst xmlns:a="http://schemas.openxmlformats.org/drawingml/2006/main">
              <a:ext uri="{FF2B5EF4-FFF2-40B4-BE49-F238E27FC236}">
                <a16:creationId xmlns:a16="http://schemas.microsoft.com/office/drawing/2014/main" id="{277E196A-A179-419C-8009-9E04197C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15300"/>
            <a:ext cx="143256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Shared view angle, outlines, roof materials and window treatment.</a:t>
            </a:r>
          </a:p>
        </p:txBody>
      </p:sp>
    </p:spTree>
    <p:extLst>
      <p:ext uri="{BB962C8B-B14F-4D97-AF65-F5344CB8AC3E}">
        <p14:creationId xmlns:p14="http://schemas.microsoft.com/office/powerpoint/2010/main" val="9041984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A30CFD-CE2F-4D3F-834B-3AE10441B7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95372851a4317"/>
          <a:stretch xmlns:a="http://schemas.openxmlformats.org/drawingml/2006/main"/>
        </p:blipFill>
        <p:spPr>
          <a:xfrm xmlns:a="http://schemas.openxmlformats.org/drawingml/2006/main">
            <a:off x="457200" y="266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ui-32">
            <a:extLst xmlns:a="http://schemas.openxmlformats.org/drawingml/2006/main">
              <a:ext uri="{FF2B5EF4-FFF2-40B4-BE49-F238E27FC236}">
                <a16:creationId xmlns:a16="http://schemas.microsoft.com/office/drawing/2014/main" id="{BD092830-F7B8-4147-96BE-599380BD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10001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Building Management Tycoon</a:t>
            </a:r>
          </a:p>
        </p:txBody>
      </p:sp>
      <p:sp>
        <p:nvSpPr>
          <p:cNvPr id="3" name="ui-33">
            <a:extLst xmlns:a="http://schemas.openxmlformats.org/drawingml/2006/main">
              <a:ext uri="{FF2B5EF4-FFF2-40B4-BE49-F238E27FC236}">
                <a16:creationId xmlns:a16="http://schemas.microsoft.com/office/drawing/2014/main" id="{5643D7E7-382C-4178-A5E1-5A96CD1A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3850"/>
            <a:ext cx="1219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03 / 16</a:t>
            </a:r>
          </a:p>
        </p:txBody>
      </p:sp>
      <p:sp>
        <p:nvSpPr>
          <p:cNvPr id="4" name="ui-34">
            <a:extLst xmlns:a="http://schemas.openxmlformats.org/drawingml/2006/main">
              <a:ext uri="{FF2B5EF4-FFF2-40B4-BE49-F238E27FC236}">
                <a16:creationId xmlns:a16="http://schemas.microsoft.com/office/drawing/2014/main" id="{FBE12AAC-5C25-4373-88B9-36C66A42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i-35">
            <a:extLst xmlns:a="http://schemas.openxmlformats.org/drawingml/2006/main">
              <a:ext uri="{FF2B5EF4-FFF2-40B4-BE49-F238E27FC236}">
                <a16:creationId xmlns:a16="http://schemas.microsoft.com/office/drawing/2014/main" id="{2EC45783-07F2-4DB8-AE9A-C6F205B2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432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03  District tiles and placement</a:t>
            </a:r>
          </a:p>
        </p:txBody>
      </p:sp>
      <p:sp>
        <p:nvSpPr>
          <p:cNvPr id="6" name="ui-36">
            <a:extLst xmlns:a="http://schemas.openxmlformats.org/drawingml/2006/main">
              <a:ext uri="{FF2B5EF4-FFF2-40B4-BE49-F238E27FC236}">
                <a16:creationId xmlns:a16="http://schemas.microsoft.com/office/drawing/2014/main" id="{0A84D3EE-E6C0-4841-AF70-816B37C3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48750"/>
            <a:ext cx="138684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Game design reference. Economy values and district names are examples.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61E68-A526-450D-8AF5-005738FD39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54f8bb92b4e19"/>
          <a:stretch xmlns:a="http://schemas.openxmlformats.org/drawingml/2006/main"/>
        </p:blipFill>
        <p:spPr>
          <a:xfrm xmlns:a="http://schemas.openxmlformats.org/drawingml/2006/main">
            <a:off x="457200" y="2079959"/>
            <a:ext cx="8382000" cy="4717382"/>
          </a:xfrm>
          <a:prstGeom xmlns:a="http://schemas.openxmlformats.org/drawingml/2006/main" prst="rect">
            <a:avLst/>
          </a:prstGeom>
        </p:spPr>
      </p:pic>
      <p:sp>
        <p:nvSpPr>
          <p:cNvPr id="8" name="ui-37">
            <a:extLst xmlns:a="http://schemas.openxmlformats.org/drawingml/2006/main">
              <a:ext uri="{FF2B5EF4-FFF2-40B4-BE49-F238E27FC236}">
                <a16:creationId xmlns:a16="http://schemas.microsoft.com/office/drawing/2014/main" id="{460DA035-687F-4957-A218-4211D2FA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86600"/>
            <a:ext cx="68580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Office + food court</a:t>
            </a:r>
          </a:p>
        </p:txBody>
      </p:sp>
      <p:sp>
        <p:nvSpPr>
          <p:cNvPr id="9" name="ui-38">
            <a:extLst xmlns:a="http://schemas.openxmlformats.org/drawingml/2006/main">
              <a:ext uri="{FF2B5EF4-FFF2-40B4-BE49-F238E27FC236}">
                <a16:creationId xmlns:a16="http://schemas.microsoft.com/office/drawing/2014/main" id="{98FCEBEE-3AB3-44E3-B1CE-606795C3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43800"/>
            <a:ext cx="2590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ui-39">
            <a:extLst xmlns:a="http://schemas.openxmlformats.org/drawingml/2006/main">
              <a:ext uri="{FF2B5EF4-FFF2-40B4-BE49-F238E27FC236}">
                <a16:creationId xmlns:a16="http://schemas.microsoft.com/office/drawing/2014/main" id="{73A202E0-E1C7-4399-9BF9-5CE2DA41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59142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rPr>
              <a:t>+30% sales example</a:t>
            </a:r>
          </a:p>
        </p:txBody>
      </p:sp>
      <p:sp>
        <p:nvSpPr>
          <p:cNvPr id="11" name="ui-40">
            <a:extLst xmlns:a="http://schemas.openxmlformats.org/drawingml/2006/main">
              <a:ext uri="{FF2B5EF4-FFF2-40B4-BE49-F238E27FC236}">
                <a16:creationId xmlns:a16="http://schemas.microsoft.com/office/drawing/2014/main" id="{7294CA90-82BF-43EE-B8CC-38D216BF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71700"/>
            <a:ext cx="45720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1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Placement grid</a:t>
            </a:r>
          </a:p>
        </p:txBody>
      </p:sp>
      <p:sp>
        <p:nvSpPr>
          <p:cNvPr id="12" name="plot-41">
            <a:extLst xmlns:a="http://schemas.openxmlformats.org/drawingml/2006/main">
              <a:ext uri="{FF2B5EF4-FFF2-40B4-BE49-F238E27FC236}">
                <a16:creationId xmlns:a16="http://schemas.microsoft.com/office/drawing/2014/main" id="{F80E4E24-55C9-4C34-B368-58DA2F94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238500"/>
            <a:ext cx="106680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13" name="plot-42">
            <a:extLst xmlns:a="http://schemas.openxmlformats.org/drawingml/2006/main">
              <a:ext uri="{FF2B5EF4-FFF2-40B4-BE49-F238E27FC236}">
                <a16:creationId xmlns:a16="http://schemas.microsoft.com/office/drawing/2014/main" id="{19639AF1-E247-4233-A15F-1CE460F4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505200"/>
            <a:ext cx="106680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14" name="plot-43">
            <a:extLst xmlns:a="http://schemas.openxmlformats.org/drawingml/2006/main">
              <a:ext uri="{FF2B5EF4-FFF2-40B4-BE49-F238E27FC236}">
                <a16:creationId xmlns:a16="http://schemas.microsoft.com/office/drawing/2014/main" id="{B6B21094-86B6-495C-B3B5-8F2B7DCB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771900"/>
            <a:ext cx="106680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15" name="plot-44">
            <a:extLst xmlns:a="http://schemas.openxmlformats.org/drawingml/2006/main">
              <a:ext uri="{FF2B5EF4-FFF2-40B4-BE49-F238E27FC236}">
                <a16:creationId xmlns:a16="http://schemas.microsoft.com/office/drawing/2014/main" id="{D0E665E8-A069-476C-89DB-7FEC904B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038600"/>
            <a:ext cx="106680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16" name="plot-45">
            <a:extLst xmlns:a="http://schemas.openxmlformats.org/drawingml/2006/main">
              <a:ext uri="{FF2B5EF4-FFF2-40B4-BE49-F238E27FC236}">
                <a16:creationId xmlns:a16="http://schemas.microsoft.com/office/drawing/2014/main" id="{3BB72EBA-E292-49F3-A360-D1C26BBC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305300"/>
            <a:ext cx="106680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17" name="plot-46">
            <a:extLst xmlns:a="http://schemas.openxmlformats.org/drawingml/2006/main">
              <a:ext uri="{FF2B5EF4-FFF2-40B4-BE49-F238E27FC236}">
                <a16:creationId xmlns:a16="http://schemas.microsoft.com/office/drawing/2014/main" id="{437A406C-2103-4B34-8194-43614B23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05200"/>
            <a:ext cx="106680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18" name="plot-47">
            <a:extLst xmlns:a="http://schemas.openxmlformats.org/drawingml/2006/main">
              <a:ext uri="{FF2B5EF4-FFF2-40B4-BE49-F238E27FC236}">
                <a16:creationId xmlns:a16="http://schemas.microsoft.com/office/drawing/2014/main" id="{320C3CC1-97FC-4CC7-ADA9-F5D9AC42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771900"/>
            <a:ext cx="106680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BEBDD"/>
          </a:solidFill>
          <a:ln xmlns:a="http://schemas.openxmlformats.org/drawingml/2006/main" w="28575">
            <a:solidFill>
              <a:srgbClr val="237563"/>
            </a:solidFill>
            <a:prstDash val="solid"/>
          </a:ln>
        </p:spPr>
      </p:sp>
      <p:sp>
        <p:nvSpPr>
          <p:cNvPr id="19" name="plot-48">
            <a:extLst xmlns:a="http://schemas.openxmlformats.org/drawingml/2006/main">
              <a:ext uri="{FF2B5EF4-FFF2-40B4-BE49-F238E27FC236}">
                <a16:creationId xmlns:a16="http://schemas.microsoft.com/office/drawing/2014/main" id="{14F0847C-39AD-459D-BDDA-AF39F36C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038600"/>
            <a:ext cx="106680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BEBDD"/>
          </a:solidFill>
          <a:ln xmlns:a="http://schemas.openxmlformats.org/drawingml/2006/main" w="28575">
            <a:solidFill>
              <a:srgbClr val="237563"/>
            </a:solidFill>
            <a:prstDash val="solid"/>
          </a:ln>
        </p:spPr>
      </p:sp>
      <p:sp>
        <p:nvSpPr>
          <p:cNvPr id="20" name="plot-49">
            <a:extLst xmlns:a="http://schemas.openxmlformats.org/drawingml/2006/main">
              <a:ext uri="{FF2B5EF4-FFF2-40B4-BE49-F238E27FC236}">
                <a16:creationId xmlns:a16="http://schemas.microsoft.com/office/drawing/2014/main" id="{4C356DE1-0816-4423-B67B-6C5B8CB1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305300"/>
            <a:ext cx="106680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BEBDD"/>
          </a:solidFill>
          <a:ln xmlns:a="http://schemas.openxmlformats.org/drawingml/2006/main" w="28575">
            <a:solidFill>
              <a:srgbClr val="237563"/>
            </a:solidFill>
            <a:prstDash val="solid"/>
          </a:ln>
        </p:spPr>
      </p:sp>
      <p:sp>
        <p:nvSpPr>
          <p:cNvPr id="21" name="plot-50">
            <a:extLst xmlns:a="http://schemas.openxmlformats.org/drawingml/2006/main">
              <a:ext uri="{FF2B5EF4-FFF2-40B4-BE49-F238E27FC236}">
                <a16:creationId xmlns:a16="http://schemas.microsoft.com/office/drawing/2014/main" id="{AEEA5A5B-84B4-4907-8930-25B42056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572000"/>
            <a:ext cx="106680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22" name="plot-51">
            <a:extLst xmlns:a="http://schemas.openxmlformats.org/drawingml/2006/main">
              <a:ext uri="{FF2B5EF4-FFF2-40B4-BE49-F238E27FC236}">
                <a16:creationId xmlns:a16="http://schemas.microsoft.com/office/drawing/2014/main" id="{5AA72310-FE41-4946-A79B-6D8FA3E0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71900"/>
            <a:ext cx="106680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23" name="plot-52">
            <a:extLst xmlns:a="http://schemas.openxmlformats.org/drawingml/2006/main">
              <a:ext uri="{FF2B5EF4-FFF2-40B4-BE49-F238E27FC236}">
                <a16:creationId xmlns:a16="http://schemas.microsoft.com/office/drawing/2014/main" id="{7ADFE28B-1210-494C-9D24-85A8D68B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38600"/>
            <a:ext cx="106680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BEBDD"/>
          </a:solidFill>
          <a:ln xmlns:a="http://schemas.openxmlformats.org/drawingml/2006/main" w="28575">
            <a:solidFill>
              <a:srgbClr val="237563"/>
            </a:solidFill>
            <a:prstDash val="solid"/>
          </a:ln>
        </p:spPr>
      </p:sp>
      <p:sp>
        <p:nvSpPr>
          <p:cNvPr id="24" name="plot-53">
            <a:extLst xmlns:a="http://schemas.openxmlformats.org/drawingml/2006/main">
              <a:ext uri="{FF2B5EF4-FFF2-40B4-BE49-F238E27FC236}">
                <a16:creationId xmlns:a16="http://schemas.microsoft.com/office/drawing/2014/main" id="{3BE2014E-54B5-4AA6-B904-120D85C1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305300"/>
            <a:ext cx="106680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BEBDD"/>
          </a:solidFill>
          <a:ln xmlns:a="http://schemas.openxmlformats.org/drawingml/2006/main" w="28575">
            <a:solidFill>
              <a:srgbClr val="237563"/>
            </a:solidFill>
            <a:prstDash val="solid"/>
          </a:ln>
        </p:spPr>
      </p:sp>
      <p:sp>
        <p:nvSpPr>
          <p:cNvPr id="25" name="plot-54">
            <a:extLst xmlns:a="http://schemas.openxmlformats.org/drawingml/2006/main">
              <a:ext uri="{FF2B5EF4-FFF2-40B4-BE49-F238E27FC236}">
                <a16:creationId xmlns:a16="http://schemas.microsoft.com/office/drawing/2014/main" id="{526F38A4-C937-4BBC-83E3-DBD7E8DE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572000"/>
            <a:ext cx="106680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BEBDD"/>
          </a:solidFill>
          <a:ln xmlns:a="http://schemas.openxmlformats.org/drawingml/2006/main" w="28575">
            <a:solidFill>
              <a:srgbClr val="237563"/>
            </a:solidFill>
            <a:prstDash val="solid"/>
          </a:ln>
        </p:spPr>
      </p:sp>
      <p:sp>
        <p:nvSpPr>
          <p:cNvPr id="26" name="plot-55">
            <a:extLst xmlns:a="http://schemas.openxmlformats.org/drawingml/2006/main">
              <a:ext uri="{FF2B5EF4-FFF2-40B4-BE49-F238E27FC236}">
                <a16:creationId xmlns:a16="http://schemas.microsoft.com/office/drawing/2014/main" id="{C7047623-F34A-4551-9FB4-67A992D9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838700"/>
            <a:ext cx="106680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27" name="plot-56">
            <a:extLst xmlns:a="http://schemas.openxmlformats.org/drawingml/2006/main">
              <a:ext uri="{FF2B5EF4-FFF2-40B4-BE49-F238E27FC236}">
                <a16:creationId xmlns:a16="http://schemas.microsoft.com/office/drawing/2014/main" id="{4C4F9C75-A2D0-482E-9CED-02623472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38600"/>
            <a:ext cx="106680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28" name="plot-57">
            <a:extLst xmlns:a="http://schemas.openxmlformats.org/drawingml/2006/main">
              <a:ext uri="{FF2B5EF4-FFF2-40B4-BE49-F238E27FC236}">
                <a16:creationId xmlns:a16="http://schemas.microsoft.com/office/drawing/2014/main" id="{08C41668-E995-42F2-9D1E-D28F2815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305300"/>
            <a:ext cx="106680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29" name="plot-58">
            <a:extLst xmlns:a="http://schemas.openxmlformats.org/drawingml/2006/main">
              <a:ext uri="{FF2B5EF4-FFF2-40B4-BE49-F238E27FC236}">
                <a16:creationId xmlns:a16="http://schemas.microsoft.com/office/drawing/2014/main" id="{65450F19-0128-46D6-96C4-11CECBC3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0"/>
            <a:ext cx="106680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30" name="plot-59">
            <a:extLst xmlns:a="http://schemas.openxmlformats.org/drawingml/2006/main">
              <a:ext uri="{FF2B5EF4-FFF2-40B4-BE49-F238E27FC236}">
                <a16:creationId xmlns:a16="http://schemas.microsoft.com/office/drawing/2014/main" id="{6019C33B-F491-4327-B2AA-A166DAA6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838700"/>
            <a:ext cx="106680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31" name="plot-60">
            <a:extLst xmlns:a="http://schemas.openxmlformats.org/drawingml/2006/main">
              <a:ext uri="{FF2B5EF4-FFF2-40B4-BE49-F238E27FC236}">
                <a16:creationId xmlns:a16="http://schemas.microsoft.com/office/drawing/2014/main" id="{FD238659-C802-45DE-BE82-34BC2BAC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5105400"/>
            <a:ext cx="106680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32" name="ui-61">
            <a:extLst xmlns:a="http://schemas.openxmlformats.org/drawingml/2006/main">
              <a:ext uri="{FF2B5EF4-FFF2-40B4-BE49-F238E27FC236}">
                <a16:creationId xmlns:a16="http://schemas.microsoft.com/office/drawing/2014/main" id="{52C08A8B-8CFC-40B5-A29A-4F4129E8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7818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ui-62">
            <a:extLst xmlns:a="http://schemas.openxmlformats.org/drawingml/2006/main">
              <a:ext uri="{FF2B5EF4-FFF2-40B4-BE49-F238E27FC236}">
                <a16:creationId xmlns:a16="http://schemas.microsoft.com/office/drawing/2014/main" id="{2BBC78B9-B79A-4754-A809-FED3D65A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8294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rPr>
              <a:t>3 × 2 plots</a:t>
            </a:r>
          </a:p>
        </p:txBody>
      </p:sp>
      <p:sp>
        <p:nvSpPr>
          <p:cNvPr id="34" name="ui-63">
            <a:extLst xmlns:a="http://schemas.openxmlformats.org/drawingml/2006/main">
              <a:ext uri="{FF2B5EF4-FFF2-40B4-BE49-F238E27FC236}">
                <a16:creationId xmlns:a16="http://schemas.microsoft.com/office/drawing/2014/main" id="{ECEFA89D-08E5-4F41-8D41-54FAF174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315200"/>
            <a:ext cx="457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Drag across empty land.</a:t>
            </a:r>
          </a:p>
        </p:txBody>
      </p:sp>
      <p:sp>
        <p:nvSpPr>
          <p:cNvPr id="35" name="ui-64">
            <a:extLst xmlns:a="http://schemas.openxmlformats.org/drawingml/2006/main">
              <a:ext uri="{FF2B5EF4-FFF2-40B4-BE49-F238E27FC236}">
                <a16:creationId xmlns:a16="http://schemas.microsoft.com/office/drawing/2014/main" id="{6755E2C1-7A7A-40A6-8CB7-A9C3DB36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905750"/>
            <a:ext cx="4572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ui-65">
            <a:extLst xmlns:a="http://schemas.openxmlformats.org/drawingml/2006/main">
              <a:ext uri="{FF2B5EF4-FFF2-40B4-BE49-F238E27FC236}">
                <a16:creationId xmlns:a16="http://schemas.microsoft.com/office/drawing/2014/main" id="{2BC60564-825A-4FDE-8107-73B7EB81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0581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AF443F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F443F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AF443F"/>
                </a:solidFill>
                <a:latin typeface="Trebuchet MS"/>
                <a:ea typeface="Trebuchet MS"/>
                <a:cs typeface="Trebuchet MS"/>
              </a:rPr>
              <a:t>Overlap: choose another plot.</a:t>
            </a:r>
          </a:p>
        </p:txBody>
      </p:sp>
    </p:spTree>
    <p:extLst>
      <p:ext uri="{BB962C8B-B14F-4D97-AF65-F5344CB8AC3E}">
        <p14:creationId xmlns:p14="http://schemas.microsoft.com/office/powerpoint/2010/main" val="1176550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8321F8-6A00-455E-8E85-DA90BB9537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09d75b5974bda"/>
          <a:stretch xmlns:a="http://schemas.openxmlformats.org/drawingml/2006/main"/>
        </p:blipFill>
        <p:spPr>
          <a:xfrm xmlns:a="http://schemas.openxmlformats.org/drawingml/2006/main">
            <a:off x="457200" y="266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ui-66">
            <a:extLst xmlns:a="http://schemas.openxmlformats.org/drawingml/2006/main">
              <a:ext uri="{FF2B5EF4-FFF2-40B4-BE49-F238E27FC236}">
                <a16:creationId xmlns:a16="http://schemas.microsoft.com/office/drawing/2014/main" id="{59705523-C61B-47D4-B750-443E59B7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10001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Building Management Tycoon</a:t>
            </a:r>
          </a:p>
        </p:txBody>
      </p:sp>
      <p:sp>
        <p:nvSpPr>
          <p:cNvPr id="3" name="ui-67">
            <a:extLst xmlns:a="http://schemas.openxmlformats.org/drawingml/2006/main">
              <a:ext uri="{FF2B5EF4-FFF2-40B4-BE49-F238E27FC236}">
                <a16:creationId xmlns:a16="http://schemas.microsoft.com/office/drawing/2014/main" id="{809E1EF8-33E5-469E-B2F6-98673D32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3850"/>
            <a:ext cx="1219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04 / 16</a:t>
            </a:r>
          </a:p>
        </p:txBody>
      </p:sp>
      <p:sp>
        <p:nvSpPr>
          <p:cNvPr id="4" name="ui-68">
            <a:extLst xmlns:a="http://schemas.openxmlformats.org/drawingml/2006/main">
              <a:ext uri="{FF2B5EF4-FFF2-40B4-BE49-F238E27FC236}">
                <a16:creationId xmlns:a16="http://schemas.microsoft.com/office/drawing/2014/main" id="{3C61A485-BA72-428E-8B1F-6358A5D8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i-69">
            <a:extLst xmlns:a="http://schemas.openxmlformats.org/drawingml/2006/main">
              <a:ext uri="{FF2B5EF4-FFF2-40B4-BE49-F238E27FC236}">
                <a16:creationId xmlns:a16="http://schemas.microsoft.com/office/drawing/2014/main" id="{FFB8B69A-4DFD-437D-80AD-129C0145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432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04  Rooms and transport</a:t>
            </a:r>
          </a:p>
        </p:txBody>
      </p:sp>
      <p:sp>
        <p:nvSpPr>
          <p:cNvPr id="6" name="ui-70">
            <a:extLst xmlns:a="http://schemas.openxmlformats.org/drawingml/2006/main">
              <a:ext uri="{FF2B5EF4-FFF2-40B4-BE49-F238E27FC236}">
                <a16:creationId xmlns:a16="http://schemas.microsoft.com/office/drawing/2014/main" id="{4AEEFC9A-4C4A-471D-B6EF-DAB96E52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48750"/>
            <a:ext cx="138684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Game design reference. Economy values and district names are examples.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B019E-6AB7-4765-B73D-2AF8FF0180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be5a015a34f36"/>
          <a:srcRect xmlns:a="http://schemas.openxmlformats.org/drawingml/2006/main" l="600" t="15400" r="50400" b="50400"/>
          <a:stretch xmlns:a="http://schemas.openxmlformats.org/drawingml/2006/main"/>
        </p:blipFill>
        <p:spPr>
          <a:xfrm xmlns:a="http://schemas.openxmlformats.org/drawingml/2006/main">
            <a:off x="457200" y="2228850"/>
            <a:ext cx="3352800" cy="2381250"/>
          </a:xfrm>
          <a:prstGeom xmlns:a="http://schemas.openxmlformats.org/drawingml/2006/main" prst="rect">
            <a:avLst/>
          </a:prstGeom>
        </p:spPr>
      </p:pic>
      <p:sp>
        <p:nvSpPr>
          <p:cNvPr id="8" name="ui-71">
            <a:extLst xmlns:a="http://schemas.openxmlformats.org/drawingml/2006/main">
              <a:ext uri="{FF2B5EF4-FFF2-40B4-BE49-F238E27FC236}">
                <a16:creationId xmlns:a16="http://schemas.microsoft.com/office/drawing/2014/main" id="{041CD3EF-7AB0-45D4-B6AF-8CC9110B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33528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Apartment room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7B4AE-736B-49BD-A41D-301DA53F88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aeef6c6954439"/>
          <a:srcRect xmlns:a="http://schemas.openxmlformats.org/drawingml/2006/main" l="50400" t="15400" r="600" b="50400"/>
          <a:stretch xmlns:a="http://schemas.openxmlformats.org/drawingml/2006/main"/>
        </p:blipFill>
        <p:spPr>
          <a:xfrm xmlns:a="http://schemas.openxmlformats.org/drawingml/2006/main">
            <a:off x="4114800" y="2228850"/>
            <a:ext cx="3352800" cy="2381250"/>
          </a:xfrm>
          <a:prstGeom xmlns:a="http://schemas.openxmlformats.org/drawingml/2006/main" prst="rect">
            <a:avLst/>
          </a:prstGeom>
        </p:spPr>
      </p:pic>
      <p:sp>
        <p:nvSpPr>
          <p:cNvPr id="10" name="ui-72">
            <a:extLst xmlns:a="http://schemas.openxmlformats.org/drawingml/2006/main">
              <a:ext uri="{FF2B5EF4-FFF2-40B4-BE49-F238E27FC236}">
                <a16:creationId xmlns:a16="http://schemas.microsoft.com/office/drawing/2014/main" id="{52BA6507-D988-45C0-B924-9A597236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57750"/>
            <a:ext cx="33528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Hotel room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4543B-CEC5-4C3B-B855-8569D88074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d733925544b39"/>
          <a:srcRect xmlns:a="http://schemas.openxmlformats.org/drawingml/2006/main" l="700" t="50500" r="50300" b="15300"/>
          <a:stretch xmlns:a="http://schemas.openxmlformats.org/drawingml/2006/main"/>
        </p:blipFill>
        <p:spPr>
          <a:xfrm xmlns:a="http://schemas.openxmlformats.org/drawingml/2006/main">
            <a:off x="7772400" y="2228850"/>
            <a:ext cx="3352800" cy="2381250"/>
          </a:xfrm>
          <a:prstGeom xmlns:a="http://schemas.openxmlformats.org/drawingml/2006/main" prst="rect">
            <a:avLst/>
          </a:prstGeom>
        </p:spPr>
      </p:pic>
      <p:sp>
        <p:nvSpPr>
          <p:cNvPr id="12" name="ui-73">
            <a:extLst xmlns:a="http://schemas.openxmlformats.org/drawingml/2006/main">
              <a:ext uri="{FF2B5EF4-FFF2-40B4-BE49-F238E27FC236}">
                <a16:creationId xmlns:a16="http://schemas.microsoft.com/office/drawing/2014/main" id="{0A6DFBE7-6351-43AC-B1D7-5D65E915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57750"/>
            <a:ext cx="33528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Office floor lease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B7B8B-A5D9-4BB5-AA42-A2E452D84E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eb78a85964ad2"/>
          <a:srcRect xmlns:a="http://schemas.openxmlformats.org/drawingml/2006/main" l="50300" t="50500" r="600" b="15300"/>
          <a:stretch xmlns:a="http://schemas.openxmlformats.org/drawingml/2006/main"/>
        </p:blipFill>
        <p:spPr>
          <a:xfrm xmlns:a="http://schemas.openxmlformats.org/drawingml/2006/main">
            <a:off x="11430000" y="2228850"/>
            <a:ext cx="3352800" cy="2381250"/>
          </a:xfrm>
          <a:prstGeom xmlns:a="http://schemas.openxmlformats.org/drawingml/2006/main" prst="rect">
            <a:avLst/>
          </a:prstGeom>
        </p:spPr>
      </p:pic>
      <p:sp>
        <p:nvSpPr>
          <p:cNvPr id="14" name="ui-74">
            <a:extLst xmlns:a="http://schemas.openxmlformats.org/drawingml/2006/main">
              <a:ext uri="{FF2B5EF4-FFF2-40B4-BE49-F238E27FC236}">
                <a16:creationId xmlns:a16="http://schemas.microsoft.com/office/drawing/2014/main" id="{52BED8B6-7279-42C9-9766-46AB8F3F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857750"/>
            <a:ext cx="33528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Food court</a:t>
            </a:r>
          </a:p>
        </p:txBody>
      </p:sp>
      <p:sp>
        <p:nvSpPr>
          <p:cNvPr id="15" name="ui-75">
            <a:extLst xmlns:a="http://schemas.openxmlformats.org/drawingml/2006/main">
              <a:ext uri="{FF2B5EF4-FFF2-40B4-BE49-F238E27FC236}">
                <a16:creationId xmlns:a16="http://schemas.microsoft.com/office/drawing/2014/main" id="{2F9767D0-FE39-458E-B235-C915674D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935CD-A216-4F8B-B252-C76DCA13EA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05f8ae8c74983"/>
          <a:srcRect xmlns:a="http://schemas.openxmlformats.org/drawingml/2006/main" l="400" t="13500" r="38900" b="52100"/>
          <a:stretch xmlns:a="http://schemas.openxmlformats.org/drawingml/2006/main"/>
        </p:blipFill>
        <p:spPr>
          <a:xfrm xmlns:a="http://schemas.openxmlformats.org/drawingml/2006/main">
            <a:off x="457200" y="6019800"/>
            <a:ext cx="4038600" cy="2324100"/>
          </a:xfrm>
          <a:prstGeom xmlns:a="http://schemas.openxmlformats.org/drawingml/2006/main" prst="rect">
            <a:avLst/>
          </a:prstGeom>
        </p:spPr>
      </p:pic>
      <p:sp>
        <p:nvSpPr>
          <p:cNvPr id="17" name="ui-76">
            <a:extLst xmlns:a="http://schemas.openxmlformats.org/drawingml/2006/main">
              <a:ext uri="{FF2B5EF4-FFF2-40B4-BE49-F238E27FC236}">
                <a16:creationId xmlns:a16="http://schemas.microsoft.com/office/drawing/2014/main" id="{8A15D676-434D-45A4-BB02-F5DACD68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344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Basement parking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E3142-6D9F-4F5A-B390-10BDC6E331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93dbb7eb84840"/>
          <a:srcRect xmlns:a="http://schemas.openxmlformats.org/drawingml/2006/main" l="61800" t="13200" r="400" b="52100"/>
          <a:stretch xmlns:a="http://schemas.openxmlformats.org/drawingml/2006/main"/>
        </p:blipFill>
        <p:spPr>
          <a:xfrm xmlns:a="http://schemas.openxmlformats.org/drawingml/2006/main">
            <a:off x="5257800" y="6057900"/>
            <a:ext cx="1905000" cy="2286000"/>
          </a:xfrm>
          <a:prstGeom xmlns:a="http://schemas.openxmlformats.org/drawingml/2006/main" prst="rect">
            <a:avLst/>
          </a:prstGeom>
        </p:spPr>
      </p:pic>
      <p:sp>
        <p:nvSpPr>
          <p:cNvPr id="19" name="ui-77">
            <a:extLst xmlns:a="http://schemas.openxmlformats.org/drawingml/2006/main">
              <a:ext uri="{FF2B5EF4-FFF2-40B4-BE49-F238E27FC236}">
                <a16:creationId xmlns:a16="http://schemas.microsoft.com/office/drawing/2014/main" id="{E3CA02E9-58DF-487B-AC3F-BBAFCEBB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85344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Standard lift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63B1B2-B326-44ED-9618-E51815C578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41fa7026749aa"/>
          <a:srcRect xmlns:a="http://schemas.openxmlformats.org/drawingml/2006/main" l="3100" t="50200" r="49700" b="12900"/>
          <a:stretch xmlns:a="http://schemas.openxmlformats.org/drawingml/2006/main"/>
        </p:blipFill>
        <p:spPr>
          <a:xfrm xmlns:a="http://schemas.openxmlformats.org/drawingml/2006/main">
            <a:off x="8153400" y="6057900"/>
            <a:ext cx="1905000" cy="2286000"/>
          </a:xfrm>
          <a:prstGeom xmlns:a="http://schemas.openxmlformats.org/drawingml/2006/main" prst="rect">
            <a:avLst/>
          </a:prstGeom>
        </p:spPr>
      </p:pic>
      <p:sp>
        <p:nvSpPr>
          <p:cNvPr id="21" name="ui-78">
            <a:extLst xmlns:a="http://schemas.openxmlformats.org/drawingml/2006/main">
              <a:ext uri="{FF2B5EF4-FFF2-40B4-BE49-F238E27FC236}">
                <a16:creationId xmlns:a16="http://schemas.microsoft.com/office/drawing/2014/main" id="{9591F5D2-FECB-474E-87D4-9D449362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344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Executive lift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02FBF1-6881-40F0-A876-D91AFACD5C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5dcb6050742c2"/>
          <a:srcRect xmlns:a="http://schemas.openxmlformats.org/drawingml/2006/main" l="51200" t="50200" r="2400" b="12900"/>
          <a:stretch xmlns:a="http://schemas.openxmlformats.org/drawingml/2006/main"/>
        </p:blipFill>
        <p:spPr>
          <a:xfrm xmlns:a="http://schemas.openxmlformats.org/drawingml/2006/main">
            <a:off x="11049000" y="6057900"/>
            <a:ext cx="3276600" cy="2286000"/>
          </a:xfrm>
          <a:prstGeom xmlns:a="http://schemas.openxmlformats.org/drawingml/2006/main" prst="rect">
            <a:avLst/>
          </a:prstGeom>
        </p:spPr>
      </p:pic>
      <p:sp>
        <p:nvSpPr>
          <p:cNvPr id="23" name="ui-79">
            <a:extLst xmlns:a="http://schemas.openxmlformats.org/drawingml/2006/main">
              <a:ext uri="{FF2B5EF4-FFF2-40B4-BE49-F238E27FC236}">
                <a16:creationId xmlns:a16="http://schemas.microsoft.com/office/drawing/2014/main" id="{D7EC4EA0-049B-4CDA-9B3A-277655C0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53440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Default stairs</a:t>
            </a:r>
          </a:p>
        </p:txBody>
      </p:sp>
    </p:spTree>
    <p:extLst>
      <p:ext uri="{BB962C8B-B14F-4D97-AF65-F5344CB8AC3E}">
        <p14:creationId xmlns:p14="http://schemas.microsoft.com/office/powerpoint/2010/main" val="1427421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3C3CBE-AC3C-4DCB-B60D-A849025E2F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a23b3912d4d79"/>
          <a:stretch xmlns:a="http://schemas.openxmlformats.org/drawingml/2006/main"/>
        </p:blipFill>
        <p:spPr>
          <a:xfrm xmlns:a="http://schemas.openxmlformats.org/drawingml/2006/main">
            <a:off x="457200" y="266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ui-80">
            <a:extLst xmlns:a="http://schemas.openxmlformats.org/drawingml/2006/main">
              <a:ext uri="{FF2B5EF4-FFF2-40B4-BE49-F238E27FC236}">
                <a16:creationId xmlns:a16="http://schemas.microsoft.com/office/drawing/2014/main" id="{B24D9539-41A2-489D-8EE9-A3E41461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10001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Building Management Tycoon</a:t>
            </a:r>
          </a:p>
        </p:txBody>
      </p:sp>
      <p:sp>
        <p:nvSpPr>
          <p:cNvPr id="3" name="ui-81">
            <a:extLst xmlns:a="http://schemas.openxmlformats.org/drawingml/2006/main">
              <a:ext uri="{FF2B5EF4-FFF2-40B4-BE49-F238E27FC236}">
                <a16:creationId xmlns:a16="http://schemas.microsoft.com/office/drawing/2014/main" id="{318C2F7A-966D-4B78-9E2B-54262578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3850"/>
            <a:ext cx="1219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05 / 16</a:t>
            </a:r>
          </a:p>
        </p:txBody>
      </p:sp>
      <p:sp>
        <p:nvSpPr>
          <p:cNvPr id="4" name="ui-82">
            <a:extLst xmlns:a="http://schemas.openxmlformats.org/drawingml/2006/main">
              <a:ext uri="{FF2B5EF4-FFF2-40B4-BE49-F238E27FC236}">
                <a16:creationId xmlns:a16="http://schemas.microsoft.com/office/drawing/2014/main" id="{632A19CB-89AD-4D01-9596-C5527D7D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i-83">
            <a:extLst xmlns:a="http://schemas.openxmlformats.org/drawingml/2006/main">
              <a:ext uri="{FF2B5EF4-FFF2-40B4-BE49-F238E27FC236}">
                <a16:creationId xmlns:a16="http://schemas.microsoft.com/office/drawing/2014/main" id="{114D9CE8-B35D-4C30-BA7C-7BE17122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432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05  Residents and visitors</a:t>
            </a:r>
          </a:p>
        </p:txBody>
      </p:sp>
      <p:sp>
        <p:nvSpPr>
          <p:cNvPr id="6" name="ui-84">
            <a:extLst xmlns:a="http://schemas.openxmlformats.org/drawingml/2006/main">
              <a:ext uri="{FF2B5EF4-FFF2-40B4-BE49-F238E27FC236}">
                <a16:creationId xmlns:a16="http://schemas.microsoft.com/office/drawing/2014/main" id="{A31EB0CD-DB4B-4EE0-8C90-D6ABD95C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48750"/>
            <a:ext cx="138684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Game design reference. Economy values and district names are examples.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72418-7EBA-4DFA-AA27-E5D29AB861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3da9308494c7f"/>
          <a:srcRect xmlns:a="http://schemas.openxmlformats.org/drawingml/2006/main" l="0" t="0" r="66667" b="50000"/>
          <a:stretch xmlns:a="http://schemas.openxmlformats.org/drawingml/2006/main"/>
        </p:blipFill>
        <p:spPr>
          <a:xfrm xmlns:a="http://schemas.openxmlformats.org/drawingml/2006/main">
            <a:off x="762000" y="2324100"/>
            <a:ext cx="1676400" cy="2819400"/>
          </a:xfrm>
          <a:prstGeom xmlns:a="http://schemas.openxmlformats.org/drawingml/2006/main" prst="rect">
            <a:avLst/>
          </a:prstGeom>
        </p:spPr>
      </p:pic>
      <p:sp>
        <p:nvSpPr>
          <p:cNvPr id="8" name="ui-85">
            <a:extLst xmlns:a="http://schemas.openxmlformats.org/drawingml/2006/main">
              <a:ext uri="{FF2B5EF4-FFF2-40B4-BE49-F238E27FC236}">
                <a16:creationId xmlns:a16="http://schemas.microsoft.com/office/drawing/2014/main" id="{675A4E44-3FA7-4D31-8940-310E093C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2209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Resident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54B7D-0F21-42EF-A533-36CBDDCDA0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d6f7d53cf46a7"/>
          <a:srcRect xmlns:a="http://schemas.openxmlformats.org/drawingml/2006/main" l="33333" t="0" r="33333" b="50000"/>
          <a:stretch xmlns:a="http://schemas.openxmlformats.org/drawingml/2006/main"/>
        </p:blipFill>
        <p:spPr>
          <a:xfrm xmlns:a="http://schemas.openxmlformats.org/drawingml/2006/main">
            <a:off x="3200400" y="2324100"/>
            <a:ext cx="1676400" cy="2819400"/>
          </a:xfrm>
          <a:prstGeom xmlns:a="http://schemas.openxmlformats.org/drawingml/2006/main" prst="rect">
            <a:avLst/>
          </a:prstGeom>
        </p:spPr>
      </p:pic>
      <p:sp>
        <p:nvSpPr>
          <p:cNvPr id="10" name="ui-86">
            <a:extLst xmlns:a="http://schemas.openxmlformats.org/drawingml/2006/main">
              <a:ext uri="{FF2B5EF4-FFF2-40B4-BE49-F238E27FC236}">
                <a16:creationId xmlns:a16="http://schemas.microsoft.com/office/drawing/2014/main" id="{72A1125D-9A30-48EB-9E73-081B237A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67350"/>
            <a:ext cx="2209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Hotel guest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73AC6-4A3A-4D84-B052-0E38D4B76F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b9be36dca4a6f"/>
          <a:srcRect xmlns:a="http://schemas.openxmlformats.org/drawingml/2006/main" l="66667" t="0" r="0" b="50000"/>
          <a:stretch xmlns:a="http://schemas.openxmlformats.org/drawingml/2006/main"/>
        </p:blipFill>
        <p:spPr>
          <a:xfrm xmlns:a="http://schemas.openxmlformats.org/drawingml/2006/main">
            <a:off x="5638800" y="2324100"/>
            <a:ext cx="1676400" cy="2819400"/>
          </a:xfrm>
          <a:prstGeom xmlns:a="http://schemas.openxmlformats.org/drawingml/2006/main" prst="rect">
            <a:avLst/>
          </a:prstGeom>
        </p:spPr>
      </p:pic>
      <p:sp>
        <p:nvSpPr>
          <p:cNvPr id="12" name="ui-87">
            <a:extLst xmlns:a="http://schemas.openxmlformats.org/drawingml/2006/main">
              <a:ext uri="{FF2B5EF4-FFF2-40B4-BE49-F238E27FC236}">
                <a16:creationId xmlns:a16="http://schemas.microsoft.com/office/drawing/2014/main" id="{7315D9E4-D92D-474E-B82B-A18B19AB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67350"/>
            <a:ext cx="2209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Office tenant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3A3D3-F35A-40DE-8250-7BD6E1AAC6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7e91af1cf44e9"/>
          <a:srcRect xmlns:a="http://schemas.openxmlformats.org/drawingml/2006/main" l="0" t="50000" r="66667" b="0"/>
          <a:stretch xmlns:a="http://schemas.openxmlformats.org/drawingml/2006/main"/>
        </p:blipFill>
        <p:spPr>
          <a:xfrm xmlns:a="http://schemas.openxmlformats.org/drawingml/2006/main">
            <a:off x="8077200" y="2324100"/>
            <a:ext cx="1676400" cy="2819400"/>
          </a:xfrm>
          <a:prstGeom xmlns:a="http://schemas.openxmlformats.org/drawingml/2006/main" prst="rect">
            <a:avLst/>
          </a:prstGeom>
        </p:spPr>
      </p:pic>
      <p:sp>
        <p:nvSpPr>
          <p:cNvPr id="14" name="ui-88">
            <a:extLst xmlns:a="http://schemas.openxmlformats.org/drawingml/2006/main">
              <a:ext uri="{FF2B5EF4-FFF2-40B4-BE49-F238E27FC236}">
                <a16:creationId xmlns:a16="http://schemas.microsoft.com/office/drawing/2014/main" id="{5BAD3384-B135-4D6A-A28F-AE163DBE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467350"/>
            <a:ext cx="2209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Customer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FCD1B-A2EF-440A-A208-015599B1F7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1e36adaad4c31"/>
          <a:srcRect xmlns:a="http://schemas.openxmlformats.org/drawingml/2006/main" l="33333" t="50000" r="33333" b="0"/>
          <a:stretch xmlns:a="http://schemas.openxmlformats.org/drawingml/2006/main"/>
        </p:blipFill>
        <p:spPr>
          <a:xfrm xmlns:a="http://schemas.openxmlformats.org/drawingml/2006/main">
            <a:off x="10515600" y="2324100"/>
            <a:ext cx="1676400" cy="2819400"/>
          </a:xfrm>
          <a:prstGeom xmlns:a="http://schemas.openxmlformats.org/drawingml/2006/main" prst="rect">
            <a:avLst/>
          </a:prstGeom>
        </p:spPr>
      </p:pic>
      <p:sp>
        <p:nvSpPr>
          <p:cNvPr id="16" name="ui-89">
            <a:extLst xmlns:a="http://schemas.openxmlformats.org/drawingml/2006/main">
              <a:ext uri="{FF2B5EF4-FFF2-40B4-BE49-F238E27FC236}">
                <a16:creationId xmlns:a16="http://schemas.microsoft.com/office/drawing/2014/main" id="{C102A64C-86A5-4365-B4B0-A574BEA9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67350"/>
            <a:ext cx="2209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Maintenance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A73B63-4EB3-40B0-A24A-39098756F2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c14a0168d47c1"/>
          <a:srcRect xmlns:a="http://schemas.openxmlformats.org/drawingml/2006/main" l="66667" t="50000" r="0" b="0"/>
          <a:stretch xmlns:a="http://schemas.openxmlformats.org/drawingml/2006/main"/>
        </p:blipFill>
        <p:spPr>
          <a:xfrm xmlns:a="http://schemas.openxmlformats.org/drawingml/2006/main">
            <a:off x="12954000" y="2324100"/>
            <a:ext cx="1676400" cy="2819400"/>
          </a:xfrm>
          <a:prstGeom xmlns:a="http://schemas.openxmlformats.org/drawingml/2006/main" prst="rect">
            <a:avLst/>
          </a:prstGeom>
        </p:spPr>
      </p:pic>
      <p:sp>
        <p:nvSpPr>
          <p:cNvPr id="18" name="ui-90">
            <a:extLst xmlns:a="http://schemas.openxmlformats.org/drawingml/2006/main">
              <a:ext uri="{FF2B5EF4-FFF2-40B4-BE49-F238E27FC236}">
                <a16:creationId xmlns:a16="http://schemas.microsoft.com/office/drawing/2014/main" id="{A2D0A00B-076A-4288-81DC-C68FC235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5467350"/>
            <a:ext cx="2209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Walking pose</a:t>
            </a:r>
          </a:p>
        </p:txBody>
      </p:sp>
      <p:sp>
        <p:nvSpPr>
          <p:cNvPr id="19" name="ui-91">
            <a:extLst xmlns:a="http://schemas.openxmlformats.org/drawingml/2006/main">
              <a:ext uri="{FF2B5EF4-FFF2-40B4-BE49-F238E27FC236}">
                <a16:creationId xmlns:a16="http://schemas.microsoft.com/office/drawing/2014/main" id="{3AF13F84-C82E-4067-A44B-C0A6CDE3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ui-92">
            <a:extLst xmlns:a="http://schemas.openxmlformats.org/drawingml/2006/main">
              <a:ext uri="{FF2B5EF4-FFF2-40B4-BE49-F238E27FC236}">
                <a16:creationId xmlns:a16="http://schemas.microsoft.com/office/drawing/2014/main" id="{2114F181-5261-42EA-B6BB-CE3191C4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46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Tenant needs</a:t>
            </a:r>
          </a:p>
        </p:txBody>
      </p:sp>
      <p:sp>
        <p:nvSpPr>
          <p:cNvPr id="21" name="ui-93">
            <a:extLst xmlns:a="http://schemas.openxmlformats.org/drawingml/2006/main">
              <a:ext uri="{FF2B5EF4-FFF2-40B4-BE49-F238E27FC236}">
                <a16:creationId xmlns:a16="http://schemas.microsoft.com/office/drawing/2014/main" id="{7DAC9BBF-71EC-45C6-9CEB-3C03E879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743700"/>
            <a:ext cx="2438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ui-94">
            <a:extLst xmlns:a="http://schemas.openxmlformats.org/drawingml/2006/main">
              <a:ext uri="{FF2B5EF4-FFF2-40B4-BE49-F238E27FC236}">
                <a16:creationId xmlns:a16="http://schemas.microsoft.com/office/drawing/2014/main" id="{7D22CC84-CA5D-4912-A868-281042DB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79132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rPr>
              <a:t>Happy</a:t>
            </a:r>
          </a:p>
        </p:txBody>
      </p:sp>
      <p:sp>
        <p:nvSpPr>
          <p:cNvPr id="23" name="ui-95">
            <a:extLst xmlns:a="http://schemas.openxmlformats.org/drawingml/2006/main">
              <a:ext uri="{FF2B5EF4-FFF2-40B4-BE49-F238E27FC236}">
                <a16:creationId xmlns:a16="http://schemas.microsoft.com/office/drawing/2014/main" id="{C6723675-2F52-419D-B634-F6CB5D95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743700"/>
            <a:ext cx="2438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B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ui-96">
            <a:extLst xmlns:a="http://schemas.openxmlformats.org/drawingml/2006/main">
              <a:ext uri="{FF2B5EF4-FFF2-40B4-BE49-F238E27FC236}">
                <a16:creationId xmlns:a16="http://schemas.microsoft.com/office/drawing/2014/main" id="{4B5EBF21-5BFD-40CB-BFBD-69742881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679132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Needs a lift</a:t>
            </a:r>
          </a:p>
        </p:txBody>
      </p:sp>
      <p:sp>
        <p:nvSpPr>
          <p:cNvPr id="25" name="ui-97">
            <a:extLst xmlns:a="http://schemas.openxmlformats.org/drawingml/2006/main">
              <a:ext uri="{FF2B5EF4-FFF2-40B4-BE49-F238E27FC236}">
                <a16:creationId xmlns:a16="http://schemas.microsoft.com/office/drawing/2014/main" id="{0FF93089-2E2E-492C-ADA5-9BA646DC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743700"/>
            <a:ext cx="2743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ui-98">
            <a:extLst xmlns:a="http://schemas.openxmlformats.org/drawingml/2006/main">
              <a:ext uri="{FF2B5EF4-FFF2-40B4-BE49-F238E27FC236}">
                <a16:creationId xmlns:a16="http://schemas.microsoft.com/office/drawing/2014/main" id="{0A834F4A-74D9-4206-BBFE-350DBF86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791325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AF443F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AF443F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AF443F"/>
                </a:solidFill>
                <a:latin typeface="Trebuchet MS"/>
                <a:ea typeface="Trebuchet MS"/>
                <a:cs typeface="Trebuchet MS"/>
              </a:rPr>
              <a:t>Parking full</a:t>
            </a:r>
          </a:p>
        </p:txBody>
      </p:sp>
      <p:sp>
        <p:nvSpPr>
          <p:cNvPr id="27" name="ui-99">
            <a:extLst xmlns:a="http://schemas.openxmlformats.org/drawingml/2006/main">
              <a:ext uri="{FF2B5EF4-FFF2-40B4-BE49-F238E27FC236}">
                <a16:creationId xmlns:a16="http://schemas.microsoft.com/office/drawing/2014/main" id="{B331A77A-B275-4913-8904-F96A966B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696200"/>
            <a:ext cx="10287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Lift access affects happiness. Parking limits new occupancy.</a:t>
            </a:r>
          </a:p>
        </p:txBody>
      </p:sp>
    </p:spTree>
    <p:extLst>
      <p:ext uri="{BB962C8B-B14F-4D97-AF65-F5344CB8AC3E}">
        <p14:creationId xmlns:p14="http://schemas.microsoft.com/office/powerpoint/2010/main" val="5898978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0EDBF04-9C3A-4650-A66D-0E54D4CCB5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505b7209a4483"/>
          <a:stretch xmlns:a="http://schemas.openxmlformats.org/drawingml/2006/main"/>
        </p:blipFill>
        <p:spPr>
          <a:xfrm xmlns:a="http://schemas.openxmlformats.org/drawingml/2006/main">
            <a:off x="457200" y="266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ui-100">
            <a:extLst xmlns:a="http://schemas.openxmlformats.org/drawingml/2006/main">
              <a:ext uri="{FF2B5EF4-FFF2-40B4-BE49-F238E27FC236}">
                <a16:creationId xmlns:a16="http://schemas.microsoft.com/office/drawing/2014/main" id="{1EE09E1A-4094-4ED7-87C0-0598808F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10001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Building Management Tycoon</a:t>
            </a:r>
          </a:p>
        </p:txBody>
      </p:sp>
      <p:sp>
        <p:nvSpPr>
          <p:cNvPr id="3" name="ui-101">
            <a:extLst xmlns:a="http://schemas.openxmlformats.org/drawingml/2006/main">
              <a:ext uri="{FF2B5EF4-FFF2-40B4-BE49-F238E27FC236}">
                <a16:creationId xmlns:a16="http://schemas.microsoft.com/office/drawing/2014/main" id="{50610550-1E29-471F-8BF6-8EBAD079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3850"/>
            <a:ext cx="1219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06 / 16</a:t>
            </a:r>
          </a:p>
        </p:txBody>
      </p:sp>
      <p:sp>
        <p:nvSpPr>
          <p:cNvPr id="4" name="ui-102">
            <a:extLst xmlns:a="http://schemas.openxmlformats.org/drawingml/2006/main">
              <a:ext uri="{FF2B5EF4-FFF2-40B4-BE49-F238E27FC236}">
                <a16:creationId xmlns:a16="http://schemas.microsoft.com/office/drawing/2014/main" id="{3CECA493-C1C8-4ADD-B69D-4ED354E9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i-103">
            <a:extLst xmlns:a="http://schemas.openxmlformats.org/drawingml/2006/main">
              <a:ext uri="{FF2B5EF4-FFF2-40B4-BE49-F238E27FC236}">
                <a16:creationId xmlns:a16="http://schemas.microsoft.com/office/drawing/2014/main" id="{E7BAD5B3-6019-4D31-B170-C98BB5EE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432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06  Controls and navigation</a:t>
            </a:r>
          </a:p>
        </p:txBody>
      </p:sp>
      <p:sp>
        <p:nvSpPr>
          <p:cNvPr id="6" name="ui-104">
            <a:extLst xmlns:a="http://schemas.openxmlformats.org/drawingml/2006/main">
              <a:ext uri="{FF2B5EF4-FFF2-40B4-BE49-F238E27FC236}">
                <a16:creationId xmlns:a16="http://schemas.microsoft.com/office/drawing/2014/main" id="{D2DE070D-6B0B-4D17-A898-BFAA9E59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48750"/>
            <a:ext cx="138684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Game design reference. Economy values and district names are examples.</a:t>
            </a:r>
          </a:p>
        </p:txBody>
      </p:sp>
      <p:sp>
        <p:nvSpPr>
          <p:cNvPr id="7" name="ui-105">
            <a:extLst xmlns:a="http://schemas.openxmlformats.org/drawingml/2006/main">
              <a:ext uri="{FF2B5EF4-FFF2-40B4-BE49-F238E27FC236}">
                <a16:creationId xmlns:a16="http://schemas.microsoft.com/office/drawing/2014/main" id="{B6CD0A2F-B704-438E-9C90-66671AEA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43256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56F8F-1886-4D77-B064-196F9A5479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88ba9c3e944db"/>
          <a:stretch xmlns:a="http://schemas.openxmlformats.org/drawingml/2006/main"/>
        </p:blipFill>
        <p:spPr>
          <a:xfrm xmlns:a="http://schemas.openxmlformats.org/drawingml/2006/main">
            <a:off x="609600" y="22479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9" name="ui-106">
            <a:extLst xmlns:a="http://schemas.openxmlformats.org/drawingml/2006/main">
              <a:ext uri="{FF2B5EF4-FFF2-40B4-BE49-F238E27FC236}">
                <a16:creationId xmlns:a16="http://schemas.microsoft.com/office/drawing/2014/main" id="{1E339F54-E3BC-459D-9352-F9A3CE3E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515721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Central District</a:t>
            </a:r>
          </a:p>
        </p:txBody>
      </p:sp>
      <p:sp>
        <p:nvSpPr>
          <p:cNvPr id="10" name="ui-107">
            <a:extLst xmlns:a="http://schemas.openxmlformats.org/drawingml/2006/main">
              <a:ext uri="{FF2B5EF4-FFF2-40B4-BE49-F238E27FC236}">
                <a16:creationId xmlns:a16="http://schemas.microsoft.com/office/drawing/2014/main" id="{BEDD9511-D11B-482A-A9C6-8F9E1371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14600"/>
            <a:ext cx="5157216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Day 12 / Morning</a:t>
            </a:r>
          </a:p>
        </p:txBody>
      </p:sp>
      <p:sp>
        <p:nvSpPr>
          <p:cNvPr id="11" name="ui-108">
            <a:extLst xmlns:a="http://schemas.openxmlformats.org/drawingml/2006/main">
              <a:ext uri="{FF2B5EF4-FFF2-40B4-BE49-F238E27FC236}">
                <a16:creationId xmlns:a16="http://schemas.microsoft.com/office/drawing/2014/main" id="{5B03B129-B635-4DC1-B36B-9E60C8AE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295525"/>
            <a:ext cx="16192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21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21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1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$12,000</a:t>
            </a:r>
          </a:p>
        </p:txBody>
      </p:sp>
      <p:sp>
        <p:nvSpPr>
          <p:cNvPr id="12" name="ui-109">
            <a:extLst xmlns:a="http://schemas.openxmlformats.org/drawingml/2006/main">
              <a:ext uri="{FF2B5EF4-FFF2-40B4-BE49-F238E27FC236}">
                <a16:creationId xmlns:a16="http://schemas.microsoft.com/office/drawing/2014/main" id="{51722C99-65FB-4EB7-9816-6390308E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2314575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ui-110">
            <a:extLst xmlns:a="http://schemas.openxmlformats.org/drawingml/2006/main">
              <a:ext uri="{FF2B5EF4-FFF2-40B4-BE49-F238E27FC236}">
                <a16:creationId xmlns:a16="http://schemas.microsoft.com/office/drawing/2014/main" id="{459D0EAD-D3F5-4D11-B30A-7149D90F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2362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rPr>
              <a:t>80 gems</a:t>
            </a:r>
          </a:p>
        </p:txBody>
      </p:sp>
      <p:sp>
        <p:nvSpPr>
          <p:cNvPr id="14" name="ui-111">
            <a:extLst xmlns:a="http://schemas.openxmlformats.org/drawingml/2006/main">
              <a:ext uri="{FF2B5EF4-FFF2-40B4-BE49-F238E27FC236}">
                <a16:creationId xmlns:a16="http://schemas.microsoft.com/office/drawing/2014/main" id="{6C731802-3C58-4277-9330-9DFAB109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33528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Default</a:t>
            </a:r>
          </a:p>
        </p:txBody>
      </p:sp>
      <p:sp>
        <p:nvSpPr>
          <p:cNvPr id="15" name="ui-112">
            <a:extLst xmlns:a="http://schemas.openxmlformats.org/drawingml/2006/main">
              <a:ext uri="{FF2B5EF4-FFF2-40B4-BE49-F238E27FC236}">
                <a16:creationId xmlns:a16="http://schemas.microsoft.com/office/drawing/2014/main" id="{A2431EA6-6129-47F2-B21E-9A09059A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320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ui-113">
            <a:extLst xmlns:a="http://schemas.openxmlformats.org/drawingml/2006/main">
              <a:ext uri="{FF2B5EF4-FFF2-40B4-BE49-F238E27FC236}">
                <a16:creationId xmlns:a16="http://schemas.microsoft.com/office/drawing/2014/main" id="{771E8E6E-748A-433D-8481-C41AF194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320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17" name="ui-114">
            <a:extLst xmlns:a="http://schemas.openxmlformats.org/drawingml/2006/main">
              <a:ext uri="{FF2B5EF4-FFF2-40B4-BE49-F238E27FC236}">
                <a16:creationId xmlns:a16="http://schemas.microsoft.com/office/drawing/2014/main" id="{D3F24EEE-2D48-4CC3-80F4-257B9A86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rPr>
              <a:t>Build</a:t>
            </a:r>
          </a:p>
        </p:txBody>
      </p:sp>
      <p:sp>
        <p:nvSpPr>
          <p:cNvPr id="18" name="ui-115">
            <a:extLst xmlns:a="http://schemas.openxmlformats.org/drawingml/2006/main">
              <a:ext uri="{FF2B5EF4-FFF2-40B4-BE49-F238E27FC236}">
                <a16:creationId xmlns:a16="http://schemas.microsoft.com/office/drawing/2014/main" id="{213ACF2D-68DA-498A-A208-03E37D77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14700"/>
            <a:ext cx="33528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Pressed</a:t>
            </a:r>
          </a:p>
        </p:txBody>
      </p:sp>
      <p:sp>
        <p:nvSpPr>
          <p:cNvPr id="19" name="ui-116">
            <a:extLst xmlns:a="http://schemas.openxmlformats.org/drawingml/2006/main">
              <a:ext uri="{FF2B5EF4-FFF2-40B4-BE49-F238E27FC236}">
                <a16:creationId xmlns:a16="http://schemas.microsoft.com/office/drawing/2014/main" id="{FFB3FA5B-D31F-4A50-BE15-DA0E8434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29050"/>
            <a:ext cx="320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ui-117">
            <a:extLst xmlns:a="http://schemas.openxmlformats.org/drawingml/2006/main">
              <a:ext uri="{FF2B5EF4-FFF2-40B4-BE49-F238E27FC236}">
                <a16:creationId xmlns:a16="http://schemas.microsoft.com/office/drawing/2014/main" id="{B2A63964-D13E-49A4-8581-74DF1241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90950"/>
            <a:ext cx="320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85343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21" name="ui-118">
            <a:extLst xmlns:a="http://schemas.openxmlformats.org/drawingml/2006/main">
              <a:ext uri="{FF2B5EF4-FFF2-40B4-BE49-F238E27FC236}">
                <a16:creationId xmlns:a16="http://schemas.microsoft.com/office/drawing/2014/main" id="{5BAB4500-E70B-4B17-9026-FEC5615C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671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rPr>
              <a:t>Build</a:t>
            </a:r>
          </a:p>
        </p:txBody>
      </p:sp>
      <p:sp>
        <p:nvSpPr>
          <p:cNvPr id="22" name="ui-119">
            <a:extLst xmlns:a="http://schemas.openxmlformats.org/drawingml/2006/main">
              <a:ext uri="{FF2B5EF4-FFF2-40B4-BE49-F238E27FC236}">
                <a16:creationId xmlns:a16="http://schemas.microsoft.com/office/drawing/2014/main" id="{E2379BF5-DB0F-4058-959B-C3118345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14700"/>
            <a:ext cx="33528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Focused</a:t>
            </a:r>
          </a:p>
        </p:txBody>
      </p:sp>
      <p:sp>
        <p:nvSpPr>
          <p:cNvPr id="23" name="ui-120">
            <a:extLst xmlns:a="http://schemas.openxmlformats.org/drawingml/2006/main">
              <a:ext uri="{FF2B5EF4-FFF2-40B4-BE49-F238E27FC236}">
                <a16:creationId xmlns:a16="http://schemas.microsoft.com/office/drawing/2014/main" id="{811919CA-D038-4427-A4C9-D16926EB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20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ui-121">
            <a:extLst xmlns:a="http://schemas.openxmlformats.org/drawingml/2006/main">
              <a:ext uri="{FF2B5EF4-FFF2-40B4-BE49-F238E27FC236}">
                <a16:creationId xmlns:a16="http://schemas.microsoft.com/office/drawing/2014/main" id="{C0C09AF5-3124-490B-8FE2-1ABB6115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90950"/>
            <a:ext cx="320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25" name="ui-122">
            <a:extLst xmlns:a="http://schemas.openxmlformats.org/drawingml/2006/main">
              <a:ext uri="{FF2B5EF4-FFF2-40B4-BE49-F238E27FC236}">
                <a16:creationId xmlns:a16="http://schemas.microsoft.com/office/drawing/2014/main" id="{C19A8CAB-1D1B-4C4C-B23A-F114658F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671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rPr>
              <a:t>Build</a:t>
            </a:r>
          </a:p>
        </p:txBody>
      </p:sp>
      <p:sp>
        <p:nvSpPr>
          <p:cNvPr id="26" name="ui-123">
            <a:extLst xmlns:a="http://schemas.openxmlformats.org/drawingml/2006/main">
              <a:ext uri="{FF2B5EF4-FFF2-40B4-BE49-F238E27FC236}">
                <a16:creationId xmlns:a16="http://schemas.microsoft.com/office/drawing/2014/main" id="{AF00D6E3-3676-40D3-88E3-4C68269F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743325"/>
            <a:ext cx="3295650" cy="628650"/>
          </a:xfrm>
          <a:prstGeom xmlns:a="http://schemas.openxmlformats.org/drawingml/2006/main" prst="roundRect">
            <a:avLst>
              <a:gd name="adj" fmla="val 2424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27" name="ui-124">
            <a:extLst xmlns:a="http://schemas.openxmlformats.org/drawingml/2006/main">
              <a:ext uri="{FF2B5EF4-FFF2-40B4-BE49-F238E27FC236}">
                <a16:creationId xmlns:a16="http://schemas.microsoft.com/office/drawing/2014/main" id="{91F87462-0041-47D6-AC31-2EE70045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14700"/>
            <a:ext cx="33528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Disabled</a:t>
            </a:r>
          </a:p>
        </p:txBody>
      </p:sp>
      <p:sp>
        <p:nvSpPr>
          <p:cNvPr id="28" name="ui-125">
            <a:extLst xmlns:a="http://schemas.openxmlformats.org/drawingml/2006/main">
              <a:ext uri="{FF2B5EF4-FFF2-40B4-BE49-F238E27FC236}">
                <a16:creationId xmlns:a16="http://schemas.microsoft.com/office/drawing/2014/main" id="{D97DF693-6179-49AC-AE1D-3EA8396F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829050"/>
            <a:ext cx="320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ui-126">
            <a:extLst xmlns:a="http://schemas.openxmlformats.org/drawingml/2006/main">
              <a:ext uri="{FF2B5EF4-FFF2-40B4-BE49-F238E27FC236}">
                <a16:creationId xmlns:a16="http://schemas.microsoft.com/office/drawing/2014/main" id="{F27297C7-15F9-4D4E-AACA-0FA6319F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790950"/>
            <a:ext cx="320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2E5DE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30" name="ui-127">
            <a:extLst xmlns:a="http://schemas.openxmlformats.org/drawingml/2006/main">
              <a:ext uri="{FF2B5EF4-FFF2-40B4-BE49-F238E27FC236}">
                <a16:creationId xmlns:a16="http://schemas.microsoft.com/office/drawing/2014/main" id="{2F63087C-580B-4D01-A1C2-33B0E4FC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8671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Build</a:t>
            </a:r>
          </a:p>
        </p:txBody>
      </p:sp>
      <p:sp>
        <p:nvSpPr>
          <p:cNvPr id="31" name="ui-128">
            <a:extLst xmlns:a="http://schemas.openxmlformats.org/drawingml/2006/main">
              <a:ext uri="{FF2B5EF4-FFF2-40B4-BE49-F238E27FC236}">
                <a16:creationId xmlns:a16="http://schemas.microsoft.com/office/drawing/2014/main" id="{19CFD40F-7894-4421-89AF-F2ADB32D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441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District name</a:t>
            </a:r>
          </a:p>
        </p:txBody>
      </p:sp>
      <p:sp>
        <p:nvSpPr>
          <p:cNvPr id="32" name="ui-129">
            <a:extLst xmlns:a="http://schemas.openxmlformats.org/drawingml/2006/main">
              <a:ext uri="{FF2B5EF4-FFF2-40B4-BE49-F238E27FC236}">
                <a16:creationId xmlns:a16="http://schemas.microsoft.com/office/drawing/2014/main" id="{AEFED349-F85E-433C-B7C6-A36FE758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44196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33" name="ui-130">
            <a:extLst xmlns:a="http://schemas.openxmlformats.org/drawingml/2006/main">
              <a:ext uri="{FF2B5EF4-FFF2-40B4-BE49-F238E27FC236}">
                <a16:creationId xmlns:a16="http://schemas.microsoft.com/office/drawing/2014/main" id="{AFAEDBA1-75A3-47A0-9613-C160379E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41148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Central District</a:t>
            </a:r>
          </a:p>
        </p:txBody>
      </p:sp>
      <p:sp>
        <p:nvSpPr>
          <p:cNvPr id="34" name="ui-131">
            <a:extLst xmlns:a="http://schemas.openxmlformats.org/drawingml/2006/main">
              <a:ext uri="{FF2B5EF4-FFF2-40B4-BE49-F238E27FC236}">
                <a16:creationId xmlns:a16="http://schemas.microsoft.com/office/drawing/2014/main" id="{1F22B3C5-AE7E-496A-BE00-5A51D392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05400"/>
            <a:ext cx="441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District name</a:t>
            </a:r>
          </a:p>
        </p:txBody>
      </p:sp>
      <p:sp>
        <p:nvSpPr>
          <p:cNvPr id="35" name="ui-132">
            <a:extLst xmlns:a="http://schemas.openxmlformats.org/drawingml/2006/main">
              <a:ext uri="{FF2B5EF4-FFF2-40B4-BE49-F238E27FC236}">
                <a16:creationId xmlns:a16="http://schemas.microsoft.com/office/drawing/2014/main" id="{5F4AD7F3-F466-4C3B-BA37-AAC29AD9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29250"/>
            <a:ext cx="44196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37563"/>
            </a:solidFill>
            <a:prstDash val="solid"/>
          </a:ln>
        </p:spPr>
      </p:sp>
      <p:sp>
        <p:nvSpPr>
          <p:cNvPr id="36" name="ui-133">
            <a:extLst xmlns:a="http://schemas.openxmlformats.org/drawingml/2006/main">
              <a:ext uri="{FF2B5EF4-FFF2-40B4-BE49-F238E27FC236}">
                <a16:creationId xmlns:a16="http://schemas.microsoft.com/office/drawing/2014/main" id="{CE448CCA-64B3-4278-8C11-C6CD9736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543550"/>
            <a:ext cx="41148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Central District</a:t>
            </a:r>
          </a:p>
        </p:txBody>
      </p:sp>
      <p:sp>
        <p:nvSpPr>
          <p:cNvPr id="37" name="ui-134">
            <a:extLst xmlns:a="http://schemas.openxmlformats.org/drawingml/2006/main">
              <a:ext uri="{FF2B5EF4-FFF2-40B4-BE49-F238E27FC236}">
                <a16:creationId xmlns:a16="http://schemas.microsoft.com/office/drawing/2014/main" id="{85C3DC70-76E5-423A-91AD-1D985FAE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105400"/>
            <a:ext cx="45720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District name</a:t>
            </a:r>
          </a:p>
        </p:txBody>
      </p:sp>
      <p:sp>
        <p:nvSpPr>
          <p:cNvPr id="38" name="ui-135">
            <a:extLst xmlns:a="http://schemas.openxmlformats.org/drawingml/2006/main">
              <a:ext uri="{FF2B5EF4-FFF2-40B4-BE49-F238E27FC236}">
                <a16:creationId xmlns:a16="http://schemas.microsoft.com/office/drawing/2014/main" id="{53BE6D46-23B4-4BCD-A7BB-F3B832C9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29250"/>
            <a:ext cx="4572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443F"/>
            </a:solidFill>
            <a:prstDash val="solid"/>
          </a:ln>
        </p:spPr>
      </p:sp>
      <p:sp>
        <p:nvSpPr>
          <p:cNvPr id="39" name="ui-136">
            <a:extLst xmlns:a="http://schemas.openxmlformats.org/drawingml/2006/main">
              <a:ext uri="{FF2B5EF4-FFF2-40B4-BE49-F238E27FC236}">
                <a16:creationId xmlns:a16="http://schemas.microsoft.com/office/drawing/2014/main" id="{623D4EF9-6C09-4465-8290-3B9CC780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543550"/>
            <a:ext cx="42672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0" name="ui-137">
            <a:extLst xmlns:a="http://schemas.openxmlformats.org/drawingml/2006/main">
              <a:ext uri="{FF2B5EF4-FFF2-40B4-BE49-F238E27FC236}">
                <a16:creationId xmlns:a16="http://schemas.microsoft.com/office/drawing/2014/main" id="{7CD1C100-8872-4857-9B50-CE718B91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096000"/>
            <a:ext cx="45720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AF443F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F443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AF443F"/>
                </a:solidFill>
                <a:latin typeface="Trebuchet MS"/>
                <a:ea typeface="Trebuchet MS"/>
                <a:cs typeface="Trebuchet MS"/>
              </a:rPr>
              <a:t>Enter a district name.</a:t>
            </a:r>
          </a:p>
        </p:txBody>
      </p:sp>
      <p:sp>
        <p:nvSpPr>
          <p:cNvPr id="41" name="ui-138">
            <a:extLst xmlns:a="http://schemas.openxmlformats.org/drawingml/2006/main">
              <a:ext uri="{FF2B5EF4-FFF2-40B4-BE49-F238E27FC236}">
                <a16:creationId xmlns:a16="http://schemas.microsoft.com/office/drawing/2014/main" id="{7C72ABEC-7A89-4D56-8B09-E42D4B35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29450"/>
            <a:ext cx="7010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42" name="ui-139">
            <a:extLst xmlns:a="http://schemas.openxmlformats.org/drawingml/2006/main">
              <a:ext uri="{FF2B5EF4-FFF2-40B4-BE49-F238E27FC236}">
                <a16:creationId xmlns:a16="http://schemas.microsoft.com/office/drawing/2014/main" id="{F8589E61-72A5-4BD8-AD03-7C293604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53275"/>
            <a:ext cx="2159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ui-140">
            <a:extLst xmlns:a="http://schemas.openxmlformats.org/drawingml/2006/main">
              <a:ext uri="{FF2B5EF4-FFF2-40B4-BE49-F238E27FC236}">
                <a16:creationId xmlns:a16="http://schemas.microsoft.com/office/drawing/2014/main" id="{A753942C-2CD3-4FD5-9A1F-4603B3A6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5175"/>
            <a:ext cx="2159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44" name="ui-141">
            <a:extLst xmlns:a="http://schemas.openxmlformats.org/drawingml/2006/main">
              <a:ext uri="{FF2B5EF4-FFF2-40B4-BE49-F238E27FC236}">
                <a16:creationId xmlns:a16="http://schemas.microsoft.com/office/drawing/2014/main" id="{263A68AA-DA3D-40E4-BC7B-D4319335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91375"/>
            <a:ext cx="193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rPr>
              <a:t>Build</a:t>
            </a:r>
          </a:p>
        </p:txBody>
      </p:sp>
      <p:sp>
        <p:nvSpPr>
          <p:cNvPr id="45" name="ui-142">
            <a:extLst xmlns:a="http://schemas.openxmlformats.org/drawingml/2006/main">
              <a:ext uri="{FF2B5EF4-FFF2-40B4-BE49-F238E27FC236}">
                <a16:creationId xmlns:a16="http://schemas.microsoft.com/office/drawing/2014/main" id="{601021E6-2E95-42D0-9C67-979821B4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800" y="7153275"/>
            <a:ext cx="2159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ui-143">
            <a:extLst xmlns:a="http://schemas.openxmlformats.org/drawingml/2006/main">
              <a:ext uri="{FF2B5EF4-FFF2-40B4-BE49-F238E27FC236}">
                <a16:creationId xmlns:a16="http://schemas.microsoft.com/office/drawing/2014/main" id="{24FCF298-4DE1-47A2-82A2-BB4E1CC6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800" y="7115175"/>
            <a:ext cx="2159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47" name="ui-144">
            <a:extLst xmlns:a="http://schemas.openxmlformats.org/drawingml/2006/main">
              <a:ext uri="{FF2B5EF4-FFF2-40B4-BE49-F238E27FC236}">
                <a16:creationId xmlns:a16="http://schemas.microsoft.com/office/drawing/2014/main" id="{B4B169C6-B777-45B8-B475-6570A93B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100" y="7191375"/>
            <a:ext cx="193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Tenants</a:t>
            </a:r>
          </a:p>
        </p:txBody>
      </p:sp>
      <p:sp>
        <p:nvSpPr>
          <p:cNvPr id="48" name="ui-145">
            <a:extLst xmlns:a="http://schemas.openxmlformats.org/drawingml/2006/main">
              <a:ext uri="{FF2B5EF4-FFF2-40B4-BE49-F238E27FC236}">
                <a16:creationId xmlns:a16="http://schemas.microsoft.com/office/drawing/2014/main" id="{9A579B66-3BF5-4558-ADC5-CAEE3BF8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7153275"/>
            <a:ext cx="2159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ui-146">
            <a:extLst xmlns:a="http://schemas.openxmlformats.org/drawingml/2006/main">
              <a:ext uri="{FF2B5EF4-FFF2-40B4-BE49-F238E27FC236}">
                <a16:creationId xmlns:a16="http://schemas.microsoft.com/office/drawing/2014/main" id="{E998E716-AC84-4937-9F1A-44D825E0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7115175"/>
            <a:ext cx="2159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50" name="ui-147">
            <a:extLst xmlns:a="http://schemas.openxmlformats.org/drawingml/2006/main">
              <a:ext uri="{FF2B5EF4-FFF2-40B4-BE49-F238E27FC236}">
                <a16:creationId xmlns:a16="http://schemas.microsoft.com/office/drawing/2014/main" id="{09DE8588-81DF-4808-99D7-6C2B03DB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300" y="7191375"/>
            <a:ext cx="193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Upgrades</a:t>
            </a:r>
          </a:p>
        </p:txBody>
      </p:sp>
      <p:sp>
        <p:nvSpPr>
          <p:cNvPr id="51" name="ui-148">
            <a:extLst xmlns:a="http://schemas.openxmlformats.org/drawingml/2006/main">
              <a:ext uri="{FF2B5EF4-FFF2-40B4-BE49-F238E27FC236}">
                <a16:creationId xmlns:a16="http://schemas.microsoft.com/office/drawing/2014/main" id="{C054E7F4-4348-4216-BA7A-0BC3C01B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72450"/>
            <a:ext cx="72390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Morning / Day / Afternoon / Night / Noon</a:t>
            </a:r>
          </a:p>
        </p:txBody>
      </p:sp>
      <p:sp>
        <p:nvSpPr>
          <p:cNvPr id="52" name="ui-149">
            <a:extLst xmlns:a="http://schemas.openxmlformats.org/drawingml/2006/main">
              <a:ext uri="{FF2B5EF4-FFF2-40B4-BE49-F238E27FC236}">
                <a16:creationId xmlns:a16="http://schemas.microsoft.com/office/drawing/2014/main" id="{E807E6F3-34F1-4F48-81DF-09900B88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953250"/>
            <a:ext cx="365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Achievement progress</a:t>
            </a:r>
          </a:p>
        </p:txBody>
      </p:sp>
      <p:sp>
        <p:nvSpPr>
          <p:cNvPr id="53" name="ui-150">
            <a:extLst xmlns:a="http://schemas.openxmlformats.org/drawingml/2006/main">
              <a:ext uri="{FF2B5EF4-FFF2-40B4-BE49-F238E27FC236}">
                <a16:creationId xmlns:a16="http://schemas.microsoft.com/office/drawing/2014/main" id="{3B5E5435-3725-4C2E-907F-BCB2D307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953250"/>
            <a:ext cx="26670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7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7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320 / 1,000</a:t>
            </a:r>
          </a:p>
        </p:txBody>
      </p:sp>
      <p:sp>
        <p:nvSpPr>
          <p:cNvPr id="54" name="ui-151">
            <a:extLst xmlns:a="http://schemas.openxmlformats.org/drawingml/2006/main">
              <a:ext uri="{FF2B5EF4-FFF2-40B4-BE49-F238E27FC236}">
                <a16:creationId xmlns:a16="http://schemas.microsoft.com/office/drawing/2014/main" id="{92B11280-CFD8-4E0B-B85A-0001BC62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524750"/>
            <a:ext cx="6553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ui-152">
            <a:extLst xmlns:a="http://schemas.openxmlformats.org/drawingml/2006/main">
              <a:ext uri="{FF2B5EF4-FFF2-40B4-BE49-F238E27FC236}">
                <a16:creationId xmlns:a16="http://schemas.microsoft.com/office/drawing/2014/main" id="{82B82FAF-2E64-4417-B599-6959758C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524750"/>
            <a:ext cx="2097024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ui-153">
            <a:extLst xmlns:a="http://schemas.openxmlformats.org/drawingml/2006/main">
              <a:ext uri="{FF2B5EF4-FFF2-40B4-BE49-F238E27FC236}">
                <a16:creationId xmlns:a16="http://schemas.microsoft.com/office/drawing/2014/main" id="{1DBF17CC-6918-46D3-BE4A-E784BC60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039100"/>
            <a:ext cx="31432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Earn gems offline.</a:t>
            </a:r>
          </a:p>
        </p:txBody>
      </p:sp>
      <p:sp>
        <p:nvSpPr>
          <p:cNvPr id="57" name="ui-154">
            <a:extLst xmlns:a="http://schemas.openxmlformats.org/drawingml/2006/main">
              <a:ext uri="{FF2B5EF4-FFF2-40B4-BE49-F238E27FC236}">
                <a16:creationId xmlns:a16="http://schemas.microsoft.com/office/drawing/2014/main" id="{F6968C77-733E-42B7-AA3E-B0720462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962900"/>
            <a:ext cx="3124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ui-155">
            <a:extLst xmlns:a="http://schemas.openxmlformats.org/drawingml/2006/main">
              <a:ext uri="{FF2B5EF4-FFF2-40B4-BE49-F238E27FC236}">
                <a16:creationId xmlns:a16="http://schemas.microsoft.com/office/drawing/2014/main" id="{515F63D6-FBC2-4F68-BB88-C42FCDA9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924800"/>
            <a:ext cx="3124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59" name="ui-156">
            <a:extLst xmlns:a="http://schemas.openxmlformats.org/drawingml/2006/main">
              <a:ext uri="{FF2B5EF4-FFF2-40B4-BE49-F238E27FC236}">
                <a16:creationId xmlns:a16="http://schemas.microsoft.com/office/drawing/2014/main" id="{B48879FD-C6EC-4AC3-97EC-2D2A0B3E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80010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Decorations</a:t>
            </a:r>
          </a:p>
        </p:txBody>
      </p:sp>
    </p:spTree>
    <p:extLst>
      <p:ext uri="{BB962C8B-B14F-4D97-AF65-F5344CB8AC3E}">
        <p14:creationId xmlns:p14="http://schemas.microsoft.com/office/powerpoint/2010/main" val="5920010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970A07-1897-4BB7-AC87-57E859878B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03c47695d4479"/>
          <a:stretch xmlns:a="http://schemas.openxmlformats.org/drawingml/2006/main"/>
        </p:blipFill>
        <p:spPr>
          <a:xfrm xmlns:a="http://schemas.openxmlformats.org/drawingml/2006/main">
            <a:off x="457200" y="266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ui-157">
            <a:extLst xmlns:a="http://schemas.openxmlformats.org/drawingml/2006/main">
              <a:ext uri="{FF2B5EF4-FFF2-40B4-BE49-F238E27FC236}">
                <a16:creationId xmlns:a16="http://schemas.microsoft.com/office/drawing/2014/main" id="{A1AE4978-D112-497B-97C2-3E4F1B46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10001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Building Management Tycoon</a:t>
            </a:r>
          </a:p>
        </p:txBody>
      </p:sp>
      <p:sp>
        <p:nvSpPr>
          <p:cNvPr id="3" name="ui-158">
            <a:extLst xmlns:a="http://schemas.openxmlformats.org/drawingml/2006/main">
              <a:ext uri="{FF2B5EF4-FFF2-40B4-BE49-F238E27FC236}">
                <a16:creationId xmlns:a16="http://schemas.microsoft.com/office/drawing/2014/main" id="{4F06BFAD-047D-48ED-B392-C6D81FFB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3850"/>
            <a:ext cx="1219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07 / 16</a:t>
            </a:r>
          </a:p>
        </p:txBody>
      </p:sp>
      <p:sp>
        <p:nvSpPr>
          <p:cNvPr id="4" name="ui-159">
            <a:extLst xmlns:a="http://schemas.openxmlformats.org/drawingml/2006/main">
              <a:ext uri="{FF2B5EF4-FFF2-40B4-BE49-F238E27FC236}">
                <a16:creationId xmlns:a16="http://schemas.microsoft.com/office/drawing/2014/main" id="{9EE9C07B-0D6F-4EBE-9C57-832C9A87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i-160">
            <a:extLst xmlns:a="http://schemas.openxmlformats.org/drawingml/2006/main">
              <a:ext uri="{FF2B5EF4-FFF2-40B4-BE49-F238E27FC236}">
                <a16:creationId xmlns:a16="http://schemas.microsoft.com/office/drawing/2014/main" id="{F0FD3D4D-3EA2-4EC6-B7DE-C6AA59F8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432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07  Local profiles</a:t>
            </a:r>
          </a:p>
        </p:txBody>
      </p:sp>
      <p:sp>
        <p:nvSpPr>
          <p:cNvPr id="6" name="ui-161">
            <a:extLst xmlns:a="http://schemas.openxmlformats.org/drawingml/2006/main">
              <a:ext uri="{FF2B5EF4-FFF2-40B4-BE49-F238E27FC236}">
                <a16:creationId xmlns:a16="http://schemas.microsoft.com/office/drawing/2014/main" id="{BE6BBAE6-8B0C-425F-8798-644A47E0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48750"/>
            <a:ext cx="138684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Game design reference. Economy values and district names are examples.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69883-B2C2-4E5C-9B6A-A83CB4918F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b089fa4fc444a"/>
          <a:stretch xmlns:a="http://schemas.openxmlformats.org/drawingml/2006/main"/>
        </p:blipFill>
        <p:spPr>
          <a:xfrm xmlns:a="http://schemas.openxmlformats.org/drawingml/2006/main">
            <a:off x="457200" y="2382640"/>
            <a:ext cx="6629400" cy="373102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27837-7C1B-49A3-A2E5-17E65D9227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a7a8cace14244"/>
          <a:stretch xmlns:a="http://schemas.openxmlformats.org/drawingml/2006/main"/>
        </p:blipFill>
        <p:spPr>
          <a:xfrm xmlns:a="http://schemas.openxmlformats.org/drawingml/2006/main">
            <a:off x="762000" y="67627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9" name="ui-162">
            <a:extLst xmlns:a="http://schemas.openxmlformats.org/drawingml/2006/main">
              <a:ext uri="{FF2B5EF4-FFF2-40B4-BE49-F238E27FC236}">
                <a16:creationId xmlns:a16="http://schemas.microsoft.com/office/drawing/2014/main" id="{D3D49E25-B295-4195-AEDF-A4FEDC96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800850"/>
            <a:ext cx="5143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Building Management Tycoon</a:t>
            </a:r>
          </a:p>
        </p:txBody>
      </p:sp>
      <p:sp>
        <p:nvSpPr>
          <p:cNvPr id="10" name="ui-163">
            <a:extLst xmlns:a="http://schemas.openxmlformats.org/drawingml/2006/main">
              <a:ext uri="{FF2B5EF4-FFF2-40B4-BE49-F238E27FC236}">
                <a16:creationId xmlns:a16="http://schemas.microsoft.com/office/drawing/2014/main" id="{3B80A2E4-DB0F-42CC-90B0-2A97F058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67650"/>
            <a:ext cx="57150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Progress saves on this device.</a:t>
            </a:r>
          </a:p>
        </p:txBody>
      </p:sp>
      <p:sp>
        <p:nvSpPr>
          <p:cNvPr id="11" name="ui-164">
            <a:extLst xmlns:a="http://schemas.openxmlformats.org/drawingml/2006/main">
              <a:ext uri="{FF2B5EF4-FFF2-40B4-BE49-F238E27FC236}">
                <a16:creationId xmlns:a16="http://schemas.microsoft.com/office/drawing/2014/main" id="{5FC62EE4-1B78-4E0B-847B-6A109E7C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95500"/>
            <a:ext cx="7239000" cy="65151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12" name="ui-165">
            <a:extLst xmlns:a="http://schemas.openxmlformats.org/drawingml/2006/main">
              <a:ext uri="{FF2B5EF4-FFF2-40B4-BE49-F238E27FC236}">
                <a16:creationId xmlns:a16="http://schemas.microsoft.com/office/drawing/2014/main" id="{E284A53F-537A-4954-A054-C5A376C4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86000"/>
            <a:ext cx="67818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Choose a district</a:t>
            </a:r>
          </a:p>
        </p:txBody>
      </p:sp>
      <p:sp>
        <p:nvSpPr>
          <p:cNvPr id="13" name="ui-166">
            <a:extLst xmlns:a="http://schemas.openxmlformats.org/drawingml/2006/main">
              <a:ext uri="{FF2B5EF4-FFF2-40B4-BE49-F238E27FC236}">
                <a16:creationId xmlns:a16="http://schemas.microsoft.com/office/drawing/2014/main" id="{6566B796-B6E3-4512-A2A7-733F8AF1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43200"/>
            <a:ext cx="678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ui-167">
            <a:extLst xmlns:a="http://schemas.openxmlformats.org/drawingml/2006/main">
              <a:ext uri="{FF2B5EF4-FFF2-40B4-BE49-F238E27FC236}">
                <a16:creationId xmlns:a16="http://schemas.microsoft.com/office/drawing/2014/main" id="{D7A1028B-7EE9-4264-B19D-184FFA2C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48000"/>
            <a:ext cx="67818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BEBDD"/>
          </a:solidFill>
          <a:ln xmlns:a="http://schemas.openxmlformats.org/drawingml/2006/main" w="19050">
            <a:solidFill>
              <a:srgbClr val="237563"/>
            </a:solidFill>
            <a:prstDash val="solid"/>
          </a:ln>
        </p:spPr>
      </p:sp>
      <p:sp>
        <p:nvSpPr>
          <p:cNvPr id="15" name="ui-168">
            <a:extLst xmlns:a="http://schemas.openxmlformats.org/drawingml/2006/main">
              <a:ext uri="{FF2B5EF4-FFF2-40B4-BE49-F238E27FC236}">
                <a16:creationId xmlns:a16="http://schemas.microsoft.com/office/drawing/2014/main" id="{B4A8CE63-CE84-4C7A-88B2-AFD0A31B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76600"/>
            <a:ext cx="6096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01</a:t>
            </a:r>
          </a:p>
        </p:txBody>
      </p:sp>
      <p:sp>
        <p:nvSpPr>
          <p:cNvPr id="16" name="ui-169">
            <a:extLst xmlns:a="http://schemas.openxmlformats.org/drawingml/2006/main">
              <a:ext uri="{FF2B5EF4-FFF2-40B4-BE49-F238E27FC236}">
                <a16:creationId xmlns:a16="http://schemas.microsoft.com/office/drawing/2014/main" id="{E26B10F3-F064-40B3-9477-D61B16F1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81350"/>
            <a:ext cx="35814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Central District</a:t>
            </a:r>
          </a:p>
        </p:txBody>
      </p:sp>
      <p:sp>
        <p:nvSpPr>
          <p:cNvPr id="17" name="ui-170">
            <a:extLst xmlns:a="http://schemas.openxmlformats.org/drawingml/2006/main">
              <a:ext uri="{FF2B5EF4-FFF2-40B4-BE49-F238E27FC236}">
                <a16:creationId xmlns:a16="http://schemas.microsoft.com/office/drawing/2014/main" id="{8285D6C3-64D7-4519-8DCE-FEE1E40F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05200"/>
            <a:ext cx="35814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Saved on this device</a:t>
            </a:r>
          </a:p>
        </p:txBody>
      </p:sp>
      <p:sp>
        <p:nvSpPr>
          <p:cNvPr id="18" name="ui-171">
            <a:extLst xmlns:a="http://schemas.openxmlformats.org/drawingml/2006/main">
              <a:ext uri="{FF2B5EF4-FFF2-40B4-BE49-F238E27FC236}">
                <a16:creationId xmlns:a16="http://schemas.microsoft.com/office/drawing/2014/main" id="{38BC021E-28F0-4BBD-ABFA-238BE85E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3238500"/>
            <a:ext cx="1524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ui-172">
            <a:extLst xmlns:a="http://schemas.openxmlformats.org/drawingml/2006/main">
              <a:ext uri="{FF2B5EF4-FFF2-40B4-BE49-F238E27FC236}">
                <a16:creationId xmlns:a16="http://schemas.microsoft.com/office/drawing/2014/main" id="{D2DF8740-97EA-4F89-A525-E100DB9A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3200400"/>
            <a:ext cx="1524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20" name="ui-173">
            <a:extLst xmlns:a="http://schemas.openxmlformats.org/drawingml/2006/main">
              <a:ext uri="{FF2B5EF4-FFF2-40B4-BE49-F238E27FC236}">
                <a16:creationId xmlns:a16="http://schemas.microsoft.com/office/drawing/2014/main" id="{1EA1E067-8052-46EA-AE79-12CDAB4F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32766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rPr>
              <a:t>Load</a:t>
            </a:r>
          </a:p>
        </p:txBody>
      </p:sp>
      <p:sp>
        <p:nvSpPr>
          <p:cNvPr id="21" name="ui-174">
            <a:extLst xmlns:a="http://schemas.openxmlformats.org/drawingml/2006/main">
              <a:ext uri="{FF2B5EF4-FFF2-40B4-BE49-F238E27FC236}">
                <a16:creationId xmlns:a16="http://schemas.microsoft.com/office/drawing/2014/main" id="{063DACFD-D9BB-44CC-9320-2BBB43D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95750"/>
            <a:ext cx="67818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22" name="ui-175">
            <a:extLst xmlns:a="http://schemas.openxmlformats.org/drawingml/2006/main">
              <a:ext uri="{FF2B5EF4-FFF2-40B4-BE49-F238E27FC236}">
                <a16:creationId xmlns:a16="http://schemas.microsoft.com/office/drawing/2014/main" id="{05E4A5E7-5ED2-43D0-8E16-286A4388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24350"/>
            <a:ext cx="6096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02</a:t>
            </a:r>
          </a:p>
        </p:txBody>
      </p:sp>
      <p:sp>
        <p:nvSpPr>
          <p:cNvPr id="23" name="ui-176">
            <a:extLst xmlns:a="http://schemas.openxmlformats.org/drawingml/2006/main">
              <a:ext uri="{FF2B5EF4-FFF2-40B4-BE49-F238E27FC236}">
                <a16:creationId xmlns:a16="http://schemas.microsoft.com/office/drawing/2014/main" id="{F801019A-C67F-4D82-9DDB-D1671538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29100"/>
            <a:ext cx="35814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Riverside</a:t>
            </a:r>
          </a:p>
        </p:txBody>
      </p:sp>
      <p:sp>
        <p:nvSpPr>
          <p:cNvPr id="24" name="ui-177">
            <a:extLst xmlns:a="http://schemas.openxmlformats.org/drawingml/2006/main">
              <a:ext uri="{FF2B5EF4-FFF2-40B4-BE49-F238E27FC236}">
                <a16:creationId xmlns:a16="http://schemas.microsoft.com/office/drawing/2014/main" id="{884B4CAB-923E-418B-9BB8-E031C7F1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52950"/>
            <a:ext cx="35814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Saved on this device</a:t>
            </a:r>
          </a:p>
        </p:txBody>
      </p:sp>
      <p:sp>
        <p:nvSpPr>
          <p:cNvPr id="25" name="ui-178">
            <a:extLst xmlns:a="http://schemas.openxmlformats.org/drawingml/2006/main">
              <a:ext uri="{FF2B5EF4-FFF2-40B4-BE49-F238E27FC236}">
                <a16:creationId xmlns:a16="http://schemas.microsoft.com/office/drawing/2014/main" id="{A0D2ADD0-D8C6-47EC-8A86-AD331E95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286250"/>
            <a:ext cx="1524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ui-179">
            <a:extLst xmlns:a="http://schemas.openxmlformats.org/drawingml/2006/main">
              <a:ext uri="{FF2B5EF4-FFF2-40B4-BE49-F238E27FC236}">
                <a16:creationId xmlns:a16="http://schemas.microsoft.com/office/drawing/2014/main" id="{EDB1C91D-F2F6-492A-9B40-3CE0A715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248150"/>
            <a:ext cx="1524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27" name="ui-180">
            <a:extLst xmlns:a="http://schemas.openxmlformats.org/drawingml/2006/main">
              <a:ext uri="{FF2B5EF4-FFF2-40B4-BE49-F238E27FC236}">
                <a16:creationId xmlns:a16="http://schemas.microsoft.com/office/drawing/2014/main" id="{BCD92368-55D6-4EB3-80B5-E20AF443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43243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Load</a:t>
            </a:r>
          </a:p>
        </p:txBody>
      </p:sp>
      <p:sp>
        <p:nvSpPr>
          <p:cNvPr id="28" name="ui-181">
            <a:extLst xmlns:a="http://schemas.openxmlformats.org/drawingml/2006/main">
              <a:ext uri="{FF2B5EF4-FFF2-40B4-BE49-F238E27FC236}">
                <a16:creationId xmlns:a16="http://schemas.microsoft.com/office/drawing/2014/main" id="{D1EDC666-9E5C-4C84-ADE9-42487747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43500"/>
            <a:ext cx="67818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29" name="ui-182">
            <a:extLst xmlns:a="http://schemas.openxmlformats.org/drawingml/2006/main">
              <a:ext uri="{FF2B5EF4-FFF2-40B4-BE49-F238E27FC236}">
                <a16:creationId xmlns:a16="http://schemas.microsoft.com/office/drawing/2014/main" id="{A363287B-B98D-4035-BDBD-88FAA547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72100"/>
            <a:ext cx="6096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03</a:t>
            </a:r>
          </a:p>
        </p:txBody>
      </p:sp>
      <p:sp>
        <p:nvSpPr>
          <p:cNvPr id="30" name="ui-183">
            <a:extLst xmlns:a="http://schemas.openxmlformats.org/drawingml/2006/main">
              <a:ext uri="{FF2B5EF4-FFF2-40B4-BE49-F238E27FC236}">
                <a16:creationId xmlns:a16="http://schemas.microsoft.com/office/drawing/2014/main" id="{7645F040-D895-4782-8A05-8133E254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76850"/>
            <a:ext cx="35814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Empty slot</a:t>
            </a:r>
          </a:p>
        </p:txBody>
      </p:sp>
      <p:sp>
        <p:nvSpPr>
          <p:cNvPr id="31" name="ui-184">
            <a:extLst xmlns:a="http://schemas.openxmlformats.org/drawingml/2006/main">
              <a:ext uri="{FF2B5EF4-FFF2-40B4-BE49-F238E27FC236}">
                <a16:creationId xmlns:a16="http://schemas.microsoft.com/office/drawing/2014/main" id="{56FE7D3C-6028-4138-AF28-1301EFDA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600700"/>
            <a:ext cx="35814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Start a new district</a:t>
            </a:r>
          </a:p>
        </p:txBody>
      </p:sp>
      <p:sp>
        <p:nvSpPr>
          <p:cNvPr id="32" name="ui-185">
            <a:extLst xmlns:a="http://schemas.openxmlformats.org/drawingml/2006/main">
              <a:ext uri="{FF2B5EF4-FFF2-40B4-BE49-F238E27FC236}">
                <a16:creationId xmlns:a16="http://schemas.microsoft.com/office/drawing/2014/main" id="{540F726C-B5CD-4546-8294-91660795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5334000"/>
            <a:ext cx="1524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ui-186">
            <a:extLst xmlns:a="http://schemas.openxmlformats.org/drawingml/2006/main">
              <a:ext uri="{FF2B5EF4-FFF2-40B4-BE49-F238E27FC236}">
                <a16:creationId xmlns:a16="http://schemas.microsoft.com/office/drawing/2014/main" id="{A31DA1D2-F061-45D7-A83B-662FD7C1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5295900"/>
            <a:ext cx="1524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34" name="ui-187">
            <a:extLst xmlns:a="http://schemas.openxmlformats.org/drawingml/2006/main">
              <a:ext uri="{FF2B5EF4-FFF2-40B4-BE49-F238E27FC236}">
                <a16:creationId xmlns:a16="http://schemas.microsoft.com/office/drawing/2014/main" id="{C8B86C90-03D7-4EFB-B407-99F9AB7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53721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New</a:t>
            </a:r>
          </a:p>
        </p:txBody>
      </p:sp>
      <p:sp>
        <p:nvSpPr>
          <p:cNvPr id="35" name="ui-188">
            <a:extLst xmlns:a="http://schemas.openxmlformats.org/drawingml/2006/main">
              <a:ext uri="{FF2B5EF4-FFF2-40B4-BE49-F238E27FC236}">
                <a16:creationId xmlns:a16="http://schemas.microsoft.com/office/drawing/2014/main" id="{10C1F3F2-B645-4008-A8E1-5F7EBC4C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191250"/>
            <a:ext cx="67818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36" name="ui-189">
            <a:extLst xmlns:a="http://schemas.openxmlformats.org/drawingml/2006/main">
              <a:ext uri="{FF2B5EF4-FFF2-40B4-BE49-F238E27FC236}">
                <a16:creationId xmlns:a16="http://schemas.microsoft.com/office/drawing/2014/main" id="{C828C30D-0826-4F39-9831-40A0949B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419850"/>
            <a:ext cx="6096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04</a:t>
            </a:r>
          </a:p>
        </p:txBody>
      </p:sp>
      <p:sp>
        <p:nvSpPr>
          <p:cNvPr id="37" name="ui-190">
            <a:extLst xmlns:a="http://schemas.openxmlformats.org/drawingml/2006/main">
              <a:ext uri="{FF2B5EF4-FFF2-40B4-BE49-F238E27FC236}">
                <a16:creationId xmlns:a16="http://schemas.microsoft.com/office/drawing/2014/main" id="{D424D24D-DECD-4740-B544-05F9A7D3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324600"/>
            <a:ext cx="35814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Empty slot</a:t>
            </a:r>
          </a:p>
        </p:txBody>
      </p:sp>
      <p:sp>
        <p:nvSpPr>
          <p:cNvPr id="38" name="ui-191">
            <a:extLst xmlns:a="http://schemas.openxmlformats.org/drawingml/2006/main">
              <a:ext uri="{FF2B5EF4-FFF2-40B4-BE49-F238E27FC236}">
                <a16:creationId xmlns:a16="http://schemas.microsoft.com/office/drawing/2014/main" id="{0B545278-D38B-4ABB-B48B-C1A448F3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648450"/>
            <a:ext cx="35814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Start a new district</a:t>
            </a:r>
          </a:p>
        </p:txBody>
      </p:sp>
      <p:sp>
        <p:nvSpPr>
          <p:cNvPr id="39" name="ui-192">
            <a:extLst xmlns:a="http://schemas.openxmlformats.org/drawingml/2006/main">
              <a:ext uri="{FF2B5EF4-FFF2-40B4-BE49-F238E27FC236}">
                <a16:creationId xmlns:a16="http://schemas.microsoft.com/office/drawing/2014/main" id="{F978F4F5-3B4C-458D-8231-B4EF5ADC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6381750"/>
            <a:ext cx="1524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ui-193">
            <a:extLst xmlns:a="http://schemas.openxmlformats.org/drawingml/2006/main">
              <a:ext uri="{FF2B5EF4-FFF2-40B4-BE49-F238E27FC236}">
                <a16:creationId xmlns:a16="http://schemas.microsoft.com/office/drawing/2014/main" id="{372456F5-D3C0-4756-8EF8-D5740799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6343650"/>
            <a:ext cx="1524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41" name="ui-194">
            <a:extLst xmlns:a="http://schemas.openxmlformats.org/drawingml/2006/main">
              <a:ext uri="{FF2B5EF4-FFF2-40B4-BE49-F238E27FC236}">
                <a16:creationId xmlns:a16="http://schemas.microsoft.com/office/drawing/2014/main" id="{60B778EC-DC16-4694-834E-FEEB8489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64198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New</a:t>
            </a:r>
          </a:p>
        </p:txBody>
      </p:sp>
      <p:sp>
        <p:nvSpPr>
          <p:cNvPr id="42" name="ui-195">
            <a:extLst xmlns:a="http://schemas.openxmlformats.org/drawingml/2006/main">
              <a:ext uri="{FF2B5EF4-FFF2-40B4-BE49-F238E27FC236}">
                <a16:creationId xmlns:a16="http://schemas.microsoft.com/office/drawing/2014/main" id="{5E522236-E3DD-4578-A1EC-9760A56B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239000"/>
            <a:ext cx="67818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43" name="ui-196">
            <a:extLst xmlns:a="http://schemas.openxmlformats.org/drawingml/2006/main">
              <a:ext uri="{FF2B5EF4-FFF2-40B4-BE49-F238E27FC236}">
                <a16:creationId xmlns:a16="http://schemas.microsoft.com/office/drawing/2014/main" id="{513C068F-A0BD-43A0-9E6D-C4073B04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7467600"/>
            <a:ext cx="6096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05</a:t>
            </a:r>
          </a:p>
        </p:txBody>
      </p:sp>
      <p:sp>
        <p:nvSpPr>
          <p:cNvPr id="44" name="ui-197">
            <a:extLst xmlns:a="http://schemas.openxmlformats.org/drawingml/2006/main">
              <a:ext uri="{FF2B5EF4-FFF2-40B4-BE49-F238E27FC236}">
                <a16:creationId xmlns:a16="http://schemas.microsoft.com/office/drawing/2014/main" id="{B8DA8DAF-EA3E-4D02-BCBF-FE86FA27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7372350"/>
            <a:ext cx="35814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Empty slot</a:t>
            </a:r>
          </a:p>
        </p:txBody>
      </p:sp>
      <p:sp>
        <p:nvSpPr>
          <p:cNvPr id="45" name="ui-198">
            <a:extLst xmlns:a="http://schemas.openxmlformats.org/drawingml/2006/main">
              <a:ext uri="{FF2B5EF4-FFF2-40B4-BE49-F238E27FC236}">
                <a16:creationId xmlns:a16="http://schemas.microsoft.com/office/drawing/2014/main" id="{206A9AF8-D1C6-4A23-9A7E-FA69032F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7696200"/>
            <a:ext cx="35814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Start a new district</a:t>
            </a:r>
          </a:p>
        </p:txBody>
      </p:sp>
      <p:sp>
        <p:nvSpPr>
          <p:cNvPr id="46" name="ui-199">
            <a:extLst xmlns:a="http://schemas.openxmlformats.org/drawingml/2006/main">
              <a:ext uri="{FF2B5EF4-FFF2-40B4-BE49-F238E27FC236}">
                <a16:creationId xmlns:a16="http://schemas.microsoft.com/office/drawing/2014/main" id="{C79100EC-ABAB-4CEC-A46C-47670F76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7429500"/>
            <a:ext cx="1524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ui-200">
            <a:extLst xmlns:a="http://schemas.openxmlformats.org/drawingml/2006/main">
              <a:ext uri="{FF2B5EF4-FFF2-40B4-BE49-F238E27FC236}">
                <a16:creationId xmlns:a16="http://schemas.microsoft.com/office/drawing/2014/main" id="{B3A2F55D-69D2-4E34-B8F7-8361A72C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7391400"/>
            <a:ext cx="1524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48" name="ui-201">
            <a:extLst xmlns:a="http://schemas.openxmlformats.org/drawingml/2006/main">
              <a:ext uri="{FF2B5EF4-FFF2-40B4-BE49-F238E27FC236}">
                <a16:creationId xmlns:a16="http://schemas.microsoft.com/office/drawing/2014/main" id="{7BB65840-7275-44F4-A5FB-A3DB1E95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74676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New</a:t>
            </a:r>
          </a:p>
        </p:txBody>
      </p:sp>
    </p:spTree>
    <p:extLst>
      <p:ext uri="{BB962C8B-B14F-4D97-AF65-F5344CB8AC3E}">
        <p14:creationId xmlns:p14="http://schemas.microsoft.com/office/powerpoint/2010/main" val="12039896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A29893-7BA7-4BE2-851B-53F4371DC7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c2eb68a6b4010"/>
          <a:stretch xmlns:a="http://schemas.openxmlformats.org/drawingml/2006/main"/>
        </p:blipFill>
        <p:spPr>
          <a:xfrm xmlns:a="http://schemas.openxmlformats.org/drawingml/2006/main">
            <a:off x="457200" y="266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ui-202">
            <a:extLst xmlns:a="http://schemas.openxmlformats.org/drawingml/2006/main">
              <a:ext uri="{FF2B5EF4-FFF2-40B4-BE49-F238E27FC236}">
                <a16:creationId xmlns:a16="http://schemas.microsoft.com/office/drawing/2014/main" id="{30D6675F-7C8F-4CFB-9527-F16F9111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10001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Building Management Tycoon</a:t>
            </a:r>
          </a:p>
        </p:txBody>
      </p:sp>
      <p:sp>
        <p:nvSpPr>
          <p:cNvPr id="3" name="ui-203">
            <a:extLst xmlns:a="http://schemas.openxmlformats.org/drawingml/2006/main">
              <a:ext uri="{FF2B5EF4-FFF2-40B4-BE49-F238E27FC236}">
                <a16:creationId xmlns:a16="http://schemas.microsoft.com/office/drawing/2014/main" id="{64CE9701-D75B-4B02-A115-EAD07220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3850"/>
            <a:ext cx="1219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08 / 16</a:t>
            </a:r>
          </a:p>
        </p:txBody>
      </p:sp>
      <p:sp>
        <p:nvSpPr>
          <p:cNvPr id="4" name="ui-204">
            <a:extLst xmlns:a="http://schemas.openxmlformats.org/drawingml/2006/main">
              <a:ext uri="{FF2B5EF4-FFF2-40B4-BE49-F238E27FC236}">
                <a16:creationId xmlns:a16="http://schemas.microsoft.com/office/drawing/2014/main" id="{8871E2D4-CAB0-49B4-A515-5B304040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i-205">
            <a:extLst xmlns:a="http://schemas.openxmlformats.org/drawingml/2006/main">
              <a:ext uri="{FF2B5EF4-FFF2-40B4-BE49-F238E27FC236}">
                <a16:creationId xmlns:a16="http://schemas.microsoft.com/office/drawing/2014/main" id="{C2BE10A8-AFBD-41CE-AADF-20C93B13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432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08  CBD map</a:t>
            </a:r>
          </a:p>
        </p:txBody>
      </p:sp>
      <p:sp>
        <p:nvSpPr>
          <p:cNvPr id="6" name="ui-206">
            <a:extLst xmlns:a="http://schemas.openxmlformats.org/drawingml/2006/main">
              <a:ext uri="{FF2B5EF4-FFF2-40B4-BE49-F238E27FC236}">
                <a16:creationId xmlns:a16="http://schemas.microsoft.com/office/drawing/2014/main" id="{16191826-9D4A-4D31-887F-5E357A81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48750"/>
            <a:ext cx="138684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Game design reference. Economy values and district names are examples.</a:t>
            </a:r>
          </a:p>
        </p:txBody>
      </p:sp>
      <p:sp>
        <p:nvSpPr>
          <p:cNvPr id="7" name="ui-207">
            <a:extLst xmlns:a="http://schemas.openxmlformats.org/drawingml/2006/main">
              <a:ext uri="{FF2B5EF4-FFF2-40B4-BE49-F238E27FC236}">
                <a16:creationId xmlns:a16="http://schemas.microsoft.com/office/drawing/2014/main" id="{289B868A-811C-4A8D-98B2-73583C5A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14325600" cy="65532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5F3EB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7A734-ACEB-4B6D-AB43-C31E51A502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7c308f33942be"/>
          <a:stretch xmlns:a="http://schemas.openxmlformats.org/drawingml/2006/main"/>
        </p:blipFill>
        <p:spPr>
          <a:xfrm xmlns:a="http://schemas.openxmlformats.org/drawingml/2006/main">
            <a:off x="685800" y="2899018"/>
            <a:ext cx="8991600" cy="5060464"/>
          </a:xfrm>
          <a:prstGeom xmlns:a="http://schemas.openxmlformats.org/drawingml/2006/main" prst="rect">
            <a:avLst/>
          </a:prstGeom>
        </p:spPr>
      </p:pic>
      <p:sp>
        <p:nvSpPr>
          <p:cNvPr id="9" name="ui-208">
            <a:extLst xmlns:a="http://schemas.openxmlformats.org/drawingml/2006/main">
              <a:ext uri="{FF2B5EF4-FFF2-40B4-BE49-F238E27FC236}">
                <a16:creationId xmlns:a16="http://schemas.microsoft.com/office/drawing/2014/main" id="{44FBE418-1638-49D3-88B7-0BC589C9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8684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E8E59-CFD1-475B-8104-93B118F451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17875a60f46b0"/>
          <a:stretch xmlns:a="http://schemas.openxmlformats.org/drawingml/2006/main"/>
        </p:blipFill>
        <p:spPr>
          <a:xfrm xmlns:a="http://schemas.openxmlformats.org/drawingml/2006/main">
            <a:off x="838200" y="23622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1" name="ui-209">
            <a:extLst xmlns:a="http://schemas.openxmlformats.org/drawingml/2006/main">
              <a:ext uri="{FF2B5EF4-FFF2-40B4-BE49-F238E27FC236}">
                <a16:creationId xmlns:a16="http://schemas.microsoft.com/office/drawing/2014/main" id="{004A084A-8E79-4AC1-AB62-B69F4AE7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4992624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Central District</a:t>
            </a:r>
          </a:p>
        </p:txBody>
      </p:sp>
      <p:sp>
        <p:nvSpPr>
          <p:cNvPr id="12" name="ui-210">
            <a:extLst xmlns:a="http://schemas.openxmlformats.org/drawingml/2006/main">
              <a:ext uri="{FF2B5EF4-FFF2-40B4-BE49-F238E27FC236}">
                <a16:creationId xmlns:a16="http://schemas.microsoft.com/office/drawing/2014/main" id="{981F6BAB-6594-4782-BC7D-D3F4D9F1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992624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Day 12 / Morning</a:t>
            </a:r>
          </a:p>
        </p:txBody>
      </p:sp>
      <p:sp>
        <p:nvSpPr>
          <p:cNvPr id="13" name="ui-211">
            <a:extLst xmlns:a="http://schemas.openxmlformats.org/drawingml/2006/main">
              <a:ext uri="{FF2B5EF4-FFF2-40B4-BE49-F238E27FC236}">
                <a16:creationId xmlns:a16="http://schemas.microsoft.com/office/drawing/2014/main" id="{5906A1B0-B259-4FAA-A6A5-94AFEDD3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409825"/>
            <a:ext cx="16192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21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21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1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$12,000</a:t>
            </a:r>
          </a:p>
        </p:txBody>
      </p:sp>
      <p:sp>
        <p:nvSpPr>
          <p:cNvPr id="14" name="ui-212">
            <a:extLst xmlns:a="http://schemas.openxmlformats.org/drawingml/2006/main">
              <a:ext uri="{FF2B5EF4-FFF2-40B4-BE49-F238E27FC236}">
                <a16:creationId xmlns:a16="http://schemas.microsoft.com/office/drawing/2014/main" id="{6BE15607-53A8-47E5-9EDA-1B0D4DAA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428875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ui-213">
            <a:extLst xmlns:a="http://schemas.openxmlformats.org/drawingml/2006/main">
              <a:ext uri="{FF2B5EF4-FFF2-40B4-BE49-F238E27FC236}">
                <a16:creationId xmlns:a16="http://schemas.microsoft.com/office/drawing/2014/main" id="{EAC89259-AD33-4B71-BF8A-A34DF74E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2476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rPr>
              <a:t>80 gems</a:t>
            </a:r>
          </a:p>
        </p:txBody>
      </p:sp>
      <p:sp>
        <p:nvSpPr>
          <p:cNvPr id="16" name="ui-214">
            <a:extLst xmlns:a="http://schemas.openxmlformats.org/drawingml/2006/main">
              <a:ext uri="{FF2B5EF4-FFF2-40B4-BE49-F238E27FC236}">
                <a16:creationId xmlns:a16="http://schemas.microsoft.com/office/drawing/2014/main" id="{6EA0D6A1-1F8E-4F9A-A1F9-20BF1706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00400"/>
            <a:ext cx="4343400" cy="43815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17" name="ui-215">
            <a:extLst xmlns:a="http://schemas.openxmlformats.org/drawingml/2006/main">
              <a:ext uri="{FF2B5EF4-FFF2-40B4-BE49-F238E27FC236}">
                <a16:creationId xmlns:a16="http://schemas.microsoft.com/office/drawing/2014/main" id="{D3381A65-26E8-496F-A737-9B244E66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390900"/>
            <a:ext cx="38862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North Offices</a:t>
            </a:r>
          </a:p>
        </p:txBody>
      </p:sp>
      <p:sp>
        <p:nvSpPr>
          <p:cNvPr id="18" name="ui-216">
            <a:extLst xmlns:a="http://schemas.openxmlformats.org/drawingml/2006/main">
              <a:ext uri="{FF2B5EF4-FFF2-40B4-BE49-F238E27FC236}">
                <a16:creationId xmlns:a16="http://schemas.microsoft.com/office/drawing/2014/main" id="{32982071-14DE-4189-A841-109EF4F8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48100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ui-217">
            <a:extLst xmlns:a="http://schemas.openxmlformats.org/drawingml/2006/main">
              <a:ext uri="{FF2B5EF4-FFF2-40B4-BE49-F238E27FC236}">
                <a16:creationId xmlns:a16="http://schemas.microsoft.com/office/drawing/2014/main" id="{3F4E9177-37A5-4A72-B776-594A1C51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038600"/>
            <a:ext cx="1828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5B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ui-218">
            <a:extLst xmlns:a="http://schemas.openxmlformats.org/drawingml/2006/main">
              <a:ext uri="{FF2B5EF4-FFF2-40B4-BE49-F238E27FC236}">
                <a16:creationId xmlns:a16="http://schemas.microsoft.com/office/drawing/2014/main" id="{8D7F1DD5-2C7F-468D-BA09-8C5395FC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08622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Office tower</a:t>
            </a:r>
          </a:p>
        </p:txBody>
      </p:sp>
      <p:sp>
        <p:nvSpPr>
          <p:cNvPr id="21" name="ui-219">
            <a:extLst xmlns:a="http://schemas.openxmlformats.org/drawingml/2006/main">
              <a:ext uri="{FF2B5EF4-FFF2-40B4-BE49-F238E27FC236}">
                <a16:creationId xmlns:a16="http://schemas.microsoft.com/office/drawing/2014/main" id="{14788907-8457-4C28-920F-94E08604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724400"/>
            <a:ext cx="233172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Leased floors</a:t>
            </a:r>
          </a:p>
        </p:txBody>
      </p:sp>
      <p:sp>
        <p:nvSpPr>
          <p:cNvPr id="22" name="ui-220">
            <a:extLst xmlns:a="http://schemas.openxmlformats.org/drawingml/2006/main">
              <a:ext uri="{FF2B5EF4-FFF2-40B4-BE49-F238E27FC236}">
                <a16:creationId xmlns:a16="http://schemas.microsoft.com/office/drawing/2014/main" id="{870E891C-849A-4259-8BB7-CE07CFC1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7072" y="4724400"/>
            <a:ext cx="1709928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2 / 4</a:t>
            </a:r>
          </a:p>
        </p:txBody>
      </p:sp>
      <p:sp>
        <p:nvSpPr>
          <p:cNvPr id="23" name="ui-221">
            <a:extLst xmlns:a="http://schemas.openxmlformats.org/drawingml/2006/main">
              <a:ext uri="{FF2B5EF4-FFF2-40B4-BE49-F238E27FC236}">
                <a16:creationId xmlns:a16="http://schemas.microsoft.com/office/drawing/2014/main" id="{B5E39730-283F-4035-BC9A-A7FE7A28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143500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ui-222">
            <a:extLst xmlns:a="http://schemas.openxmlformats.org/drawingml/2006/main">
              <a:ext uri="{FF2B5EF4-FFF2-40B4-BE49-F238E27FC236}">
                <a16:creationId xmlns:a16="http://schemas.microsoft.com/office/drawing/2014/main" id="{E50B81C9-E568-4B05-BDDD-B1948BA0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314950"/>
            <a:ext cx="233172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Parking</a:t>
            </a:r>
          </a:p>
        </p:txBody>
      </p:sp>
      <p:sp>
        <p:nvSpPr>
          <p:cNvPr id="25" name="ui-223">
            <a:extLst xmlns:a="http://schemas.openxmlformats.org/drawingml/2006/main">
              <a:ext uri="{FF2B5EF4-FFF2-40B4-BE49-F238E27FC236}">
                <a16:creationId xmlns:a16="http://schemas.microsoft.com/office/drawing/2014/main" id="{2AA34415-E4BE-44BC-9C70-EF94097C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7072" y="5314950"/>
            <a:ext cx="1709928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60 / 100</a:t>
            </a:r>
          </a:p>
        </p:txBody>
      </p:sp>
      <p:sp>
        <p:nvSpPr>
          <p:cNvPr id="26" name="ui-224">
            <a:extLst xmlns:a="http://schemas.openxmlformats.org/drawingml/2006/main">
              <a:ext uri="{FF2B5EF4-FFF2-40B4-BE49-F238E27FC236}">
                <a16:creationId xmlns:a16="http://schemas.microsoft.com/office/drawing/2014/main" id="{80211E8F-D55C-4193-84EE-F16A1FCD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34050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ui-225">
            <a:extLst xmlns:a="http://schemas.openxmlformats.org/drawingml/2006/main">
              <a:ext uri="{FF2B5EF4-FFF2-40B4-BE49-F238E27FC236}">
                <a16:creationId xmlns:a16="http://schemas.microsoft.com/office/drawing/2014/main" id="{6DA234AB-5FB3-48AC-9649-95AAE025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905500"/>
            <a:ext cx="233172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Projected net</a:t>
            </a:r>
          </a:p>
        </p:txBody>
      </p:sp>
      <p:sp>
        <p:nvSpPr>
          <p:cNvPr id="28" name="ui-226">
            <a:extLst xmlns:a="http://schemas.openxmlformats.org/drawingml/2006/main">
              <a:ext uri="{FF2B5EF4-FFF2-40B4-BE49-F238E27FC236}">
                <a16:creationId xmlns:a16="http://schemas.microsoft.com/office/drawing/2014/main" id="{A4D1AAFB-9B2C-4297-99FE-D3047567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7072" y="5905500"/>
            <a:ext cx="1709928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+$600</a:t>
            </a:r>
          </a:p>
        </p:txBody>
      </p:sp>
      <p:sp>
        <p:nvSpPr>
          <p:cNvPr id="29" name="ui-227">
            <a:extLst xmlns:a="http://schemas.openxmlformats.org/drawingml/2006/main">
              <a:ext uri="{FF2B5EF4-FFF2-40B4-BE49-F238E27FC236}">
                <a16:creationId xmlns:a16="http://schemas.microsoft.com/office/drawing/2014/main" id="{F45EBB3B-9E7C-419D-A836-2FEF4BFA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324600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ui-228">
            <a:extLst xmlns:a="http://schemas.openxmlformats.org/drawingml/2006/main">
              <a:ext uri="{FF2B5EF4-FFF2-40B4-BE49-F238E27FC236}">
                <a16:creationId xmlns:a16="http://schemas.microsoft.com/office/drawing/2014/main" id="{671E0895-D0AF-4E6E-8FAB-586771FA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800850"/>
            <a:ext cx="3886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ui-229">
            <a:extLst xmlns:a="http://schemas.openxmlformats.org/drawingml/2006/main">
              <a:ext uri="{FF2B5EF4-FFF2-40B4-BE49-F238E27FC236}">
                <a16:creationId xmlns:a16="http://schemas.microsoft.com/office/drawing/2014/main" id="{98A5B2EE-F035-4115-81A3-550C9A5E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762750"/>
            <a:ext cx="3886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32" name="ui-230">
            <a:extLst xmlns:a="http://schemas.openxmlformats.org/drawingml/2006/main">
              <a:ext uri="{FF2B5EF4-FFF2-40B4-BE49-F238E27FC236}">
                <a16:creationId xmlns:a16="http://schemas.microsoft.com/office/drawing/2014/main" id="{8773E766-95BA-44FD-8691-A383EDA8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83895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rPr>
              <a:t>View building</a:t>
            </a:r>
          </a:p>
        </p:txBody>
      </p:sp>
      <p:sp>
        <p:nvSpPr>
          <p:cNvPr id="33" name="ui-231">
            <a:extLst xmlns:a="http://schemas.openxmlformats.org/drawingml/2006/main">
              <a:ext uri="{FF2B5EF4-FFF2-40B4-BE49-F238E27FC236}">
                <a16:creationId xmlns:a16="http://schemas.microsoft.com/office/drawing/2014/main" id="{AC65C8CA-E801-4564-8C4E-E33061D1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96200"/>
            <a:ext cx="86868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34" name="ui-232">
            <a:extLst xmlns:a="http://schemas.openxmlformats.org/drawingml/2006/main">
              <a:ext uri="{FF2B5EF4-FFF2-40B4-BE49-F238E27FC236}">
                <a16:creationId xmlns:a16="http://schemas.microsoft.com/office/drawing/2014/main" id="{6A3292D4-F760-43AF-8B13-0586C2FF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820025"/>
            <a:ext cx="2717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ui-233">
            <a:extLst xmlns:a="http://schemas.openxmlformats.org/drawingml/2006/main">
              <a:ext uri="{FF2B5EF4-FFF2-40B4-BE49-F238E27FC236}">
                <a16:creationId xmlns:a16="http://schemas.microsoft.com/office/drawing/2014/main" id="{5A90DAE2-5237-4E6A-9FBD-EADCFA48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81925"/>
            <a:ext cx="2717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36" name="ui-234">
            <a:extLst xmlns:a="http://schemas.openxmlformats.org/drawingml/2006/main">
              <a:ext uri="{FF2B5EF4-FFF2-40B4-BE49-F238E27FC236}">
                <a16:creationId xmlns:a16="http://schemas.microsoft.com/office/drawing/2014/main" id="{B110D21A-DB69-4FED-83B4-FD67DDC3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858125"/>
            <a:ext cx="248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rPr>
              <a:t>Build</a:t>
            </a:r>
          </a:p>
        </p:txBody>
      </p:sp>
      <p:sp>
        <p:nvSpPr>
          <p:cNvPr id="37" name="ui-235">
            <a:extLst xmlns:a="http://schemas.openxmlformats.org/drawingml/2006/main">
              <a:ext uri="{FF2B5EF4-FFF2-40B4-BE49-F238E27FC236}">
                <a16:creationId xmlns:a16="http://schemas.microsoft.com/office/drawing/2014/main" id="{3F5EF6A3-FF8F-494E-9944-1174EB25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200" y="7820025"/>
            <a:ext cx="2717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ui-236">
            <a:extLst xmlns:a="http://schemas.openxmlformats.org/drawingml/2006/main">
              <a:ext uri="{FF2B5EF4-FFF2-40B4-BE49-F238E27FC236}">
                <a16:creationId xmlns:a16="http://schemas.microsoft.com/office/drawing/2014/main" id="{EE8EA91A-B81E-4949-B3C2-D1E08529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200" y="7781925"/>
            <a:ext cx="2717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39" name="ui-237">
            <a:extLst xmlns:a="http://schemas.openxmlformats.org/drawingml/2006/main">
              <a:ext uri="{FF2B5EF4-FFF2-40B4-BE49-F238E27FC236}">
                <a16:creationId xmlns:a16="http://schemas.microsoft.com/office/drawing/2014/main" id="{17334E97-7FE5-42E9-A264-7C8E6255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500" y="7858125"/>
            <a:ext cx="248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Tenants</a:t>
            </a:r>
          </a:p>
        </p:txBody>
      </p:sp>
      <p:sp>
        <p:nvSpPr>
          <p:cNvPr id="40" name="ui-238">
            <a:extLst xmlns:a="http://schemas.openxmlformats.org/drawingml/2006/main">
              <a:ext uri="{FF2B5EF4-FFF2-40B4-BE49-F238E27FC236}">
                <a16:creationId xmlns:a16="http://schemas.microsoft.com/office/drawing/2014/main" id="{BA98BCBB-49A5-4B7B-99FE-DA76A495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7820025"/>
            <a:ext cx="2717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ui-239">
            <a:extLst xmlns:a="http://schemas.openxmlformats.org/drawingml/2006/main">
              <a:ext uri="{FF2B5EF4-FFF2-40B4-BE49-F238E27FC236}">
                <a16:creationId xmlns:a16="http://schemas.microsoft.com/office/drawing/2014/main" id="{A8362B01-AB25-4630-AC08-96B6FFA5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7781925"/>
            <a:ext cx="2717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42" name="ui-240">
            <a:extLst xmlns:a="http://schemas.openxmlformats.org/drawingml/2006/main">
              <a:ext uri="{FF2B5EF4-FFF2-40B4-BE49-F238E27FC236}">
                <a16:creationId xmlns:a16="http://schemas.microsoft.com/office/drawing/2014/main" id="{B0014674-AB24-4A48-9188-1A83A8C5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7858125"/>
            <a:ext cx="248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Upgrades</a:t>
            </a:r>
          </a:p>
        </p:txBody>
      </p:sp>
    </p:spTree>
    <p:extLst>
      <p:ext uri="{BB962C8B-B14F-4D97-AF65-F5344CB8AC3E}">
        <p14:creationId xmlns:p14="http://schemas.microsoft.com/office/powerpoint/2010/main" val="242651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742DBB-CDA7-425B-85D2-27C28D9BE0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d14fa07444187"/>
          <a:stretch xmlns:a="http://schemas.openxmlformats.org/drawingml/2006/main"/>
        </p:blipFill>
        <p:spPr>
          <a:xfrm xmlns:a="http://schemas.openxmlformats.org/drawingml/2006/main">
            <a:off x="457200" y="266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ui-241">
            <a:extLst xmlns:a="http://schemas.openxmlformats.org/drawingml/2006/main">
              <a:ext uri="{FF2B5EF4-FFF2-40B4-BE49-F238E27FC236}">
                <a16:creationId xmlns:a16="http://schemas.microsoft.com/office/drawing/2014/main" id="{092654B1-5F8B-4E04-98C7-A834ACA8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10001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Building Management Tycoon</a:t>
            </a:r>
          </a:p>
        </p:txBody>
      </p:sp>
      <p:sp>
        <p:nvSpPr>
          <p:cNvPr id="3" name="ui-242">
            <a:extLst xmlns:a="http://schemas.openxmlformats.org/drawingml/2006/main">
              <a:ext uri="{FF2B5EF4-FFF2-40B4-BE49-F238E27FC236}">
                <a16:creationId xmlns:a16="http://schemas.microsoft.com/office/drawing/2014/main" id="{B3EE183A-9ACA-4BE7-9512-A7CA450F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3850"/>
            <a:ext cx="1219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09 / 16</a:t>
            </a:r>
          </a:p>
        </p:txBody>
      </p:sp>
      <p:sp>
        <p:nvSpPr>
          <p:cNvPr id="4" name="ui-243">
            <a:extLst xmlns:a="http://schemas.openxmlformats.org/drawingml/2006/main">
              <a:ext uri="{FF2B5EF4-FFF2-40B4-BE49-F238E27FC236}">
                <a16:creationId xmlns:a16="http://schemas.microsoft.com/office/drawing/2014/main" id="{87D0E767-EFEE-481B-B731-25467496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i-244">
            <a:extLst xmlns:a="http://schemas.openxmlformats.org/drawingml/2006/main">
              <a:ext uri="{FF2B5EF4-FFF2-40B4-BE49-F238E27FC236}">
                <a16:creationId xmlns:a16="http://schemas.microsoft.com/office/drawing/2014/main" id="{0EECE898-3212-4F89-B0A8-7A818F71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432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09  Construction / building type</a:t>
            </a:r>
          </a:p>
        </p:txBody>
      </p:sp>
      <p:sp>
        <p:nvSpPr>
          <p:cNvPr id="6" name="ui-245">
            <a:extLst xmlns:a="http://schemas.openxmlformats.org/drawingml/2006/main">
              <a:ext uri="{FF2B5EF4-FFF2-40B4-BE49-F238E27FC236}">
                <a16:creationId xmlns:a16="http://schemas.microsoft.com/office/drawing/2014/main" id="{349290EE-79A5-4567-8359-DD796F61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48750"/>
            <a:ext cx="138684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Game design reference. Economy values and district names are examples.</a:t>
            </a:r>
          </a:p>
        </p:txBody>
      </p:sp>
      <p:sp>
        <p:nvSpPr>
          <p:cNvPr id="7" name="ui-246">
            <a:extLst xmlns:a="http://schemas.openxmlformats.org/drawingml/2006/main">
              <a:ext uri="{FF2B5EF4-FFF2-40B4-BE49-F238E27FC236}">
                <a16:creationId xmlns:a16="http://schemas.microsoft.com/office/drawing/2014/main" id="{573994CD-0A64-4DD4-A9CA-3ED6E542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1432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1  Type     2  Footprint     3  Floors     4  Review</a:t>
            </a:r>
          </a:p>
        </p:txBody>
      </p:sp>
      <p:sp>
        <p:nvSpPr>
          <p:cNvPr id="8" name="ui-247">
            <a:extLst xmlns:a="http://schemas.openxmlformats.org/drawingml/2006/main">
              <a:ext uri="{FF2B5EF4-FFF2-40B4-BE49-F238E27FC236}">
                <a16:creationId xmlns:a16="http://schemas.microsoft.com/office/drawing/2014/main" id="{06AF5C46-FFBC-4D3A-9717-DE70216D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3352800" cy="582930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28575">
            <a:solidFill>
              <a:srgbClr val="237563"/>
            </a:solidFill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D24C6-EEBE-43C7-AAAC-E75EAB04D9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4e7f50c19498d"/>
          <a:srcRect xmlns:a="http://schemas.openxmlformats.org/drawingml/2006/main" l="0" t="0" r="50000" b="50000"/>
          <a:stretch xmlns:a="http://schemas.openxmlformats.org/drawingml/2006/main"/>
        </p:blipFill>
        <p:spPr>
          <a:xfrm xmlns:a="http://schemas.openxmlformats.org/drawingml/2006/main">
            <a:off x="647700" y="2914650"/>
            <a:ext cx="2971800" cy="2971800"/>
          </a:xfrm>
          <a:prstGeom xmlns:a="http://schemas.openxmlformats.org/drawingml/2006/main" prst="rect">
            <a:avLst/>
          </a:prstGeom>
        </p:spPr>
      </p:pic>
      <p:sp>
        <p:nvSpPr>
          <p:cNvPr id="10" name="ui-248">
            <a:extLst xmlns:a="http://schemas.openxmlformats.org/drawingml/2006/main">
              <a:ext uri="{FF2B5EF4-FFF2-40B4-BE49-F238E27FC236}">
                <a16:creationId xmlns:a16="http://schemas.microsoft.com/office/drawing/2014/main" id="{362C32F6-63AF-4CC4-800A-5E1EDAD1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28956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Apartment</a:t>
            </a:r>
          </a:p>
        </p:txBody>
      </p:sp>
      <p:sp>
        <p:nvSpPr>
          <p:cNvPr id="11" name="ui-249">
            <a:extLst xmlns:a="http://schemas.openxmlformats.org/drawingml/2006/main">
              <a:ext uri="{FF2B5EF4-FFF2-40B4-BE49-F238E27FC236}">
                <a16:creationId xmlns:a16="http://schemas.microsoft.com/office/drawing/2014/main" id="{B3FF2612-9337-4D9B-91BB-6539FD01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86550"/>
            <a:ext cx="28956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Rooms</a:t>
            </a:r>
          </a:p>
        </p:txBody>
      </p:sp>
      <p:sp>
        <p:nvSpPr>
          <p:cNvPr id="12" name="ui-250">
            <a:extLst xmlns:a="http://schemas.openxmlformats.org/drawingml/2006/main">
              <a:ext uri="{FF2B5EF4-FFF2-40B4-BE49-F238E27FC236}">
                <a16:creationId xmlns:a16="http://schemas.microsoft.com/office/drawing/2014/main" id="{82BF4391-AF18-4150-BD7B-A6217B84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96200"/>
            <a:ext cx="2895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ui-251">
            <a:extLst xmlns:a="http://schemas.openxmlformats.org/drawingml/2006/main">
              <a:ext uri="{FF2B5EF4-FFF2-40B4-BE49-F238E27FC236}">
                <a16:creationId xmlns:a16="http://schemas.microsoft.com/office/drawing/2014/main" id="{E46C58D3-ABAD-4E51-95B3-F1E44362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58100"/>
            <a:ext cx="2895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14" name="ui-252">
            <a:extLst xmlns:a="http://schemas.openxmlformats.org/drawingml/2006/main">
              <a:ext uri="{FF2B5EF4-FFF2-40B4-BE49-F238E27FC236}">
                <a16:creationId xmlns:a16="http://schemas.microsoft.com/office/drawing/2014/main" id="{17789B20-F77E-4871-AD97-2B8B601A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734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rPr>
              <a:t>Selected</a:t>
            </a:r>
          </a:p>
        </p:txBody>
      </p:sp>
      <p:sp>
        <p:nvSpPr>
          <p:cNvPr id="15" name="ui-253">
            <a:extLst xmlns:a="http://schemas.openxmlformats.org/drawingml/2006/main">
              <a:ext uri="{FF2B5EF4-FFF2-40B4-BE49-F238E27FC236}">
                <a16:creationId xmlns:a16="http://schemas.microsoft.com/office/drawing/2014/main" id="{A11444FA-C7EA-4A2F-8B3C-70D2CF1B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67000"/>
            <a:ext cx="3352800" cy="582930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0125C-C83C-4AF1-A994-2DF3D9D878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feb72e1b64a57"/>
          <a:srcRect xmlns:a="http://schemas.openxmlformats.org/drawingml/2006/main" l="50000" t="0" r="0" b="50000"/>
          <a:stretch xmlns:a="http://schemas.openxmlformats.org/drawingml/2006/main"/>
        </p:blipFill>
        <p:spPr>
          <a:xfrm xmlns:a="http://schemas.openxmlformats.org/drawingml/2006/main">
            <a:off x="4305300" y="2914650"/>
            <a:ext cx="2971800" cy="2971800"/>
          </a:xfrm>
          <a:prstGeom xmlns:a="http://schemas.openxmlformats.org/drawingml/2006/main" prst="rect">
            <a:avLst/>
          </a:prstGeom>
        </p:spPr>
      </p:pic>
      <p:sp>
        <p:nvSpPr>
          <p:cNvPr id="17" name="ui-254">
            <a:extLst xmlns:a="http://schemas.openxmlformats.org/drawingml/2006/main">
              <a:ext uri="{FF2B5EF4-FFF2-40B4-BE49-F238E27FC236}">
                <a16:creationId xmlns:a16="http://schemas.microsoft.com/office/drawing/2014/main" id="{4FFF4D2F-E416-47C4-8ABE-78546911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191250"/>
            <a:ext cx="28956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Hotel</a:t>
            </a:r>
          </a:p>
        </p:txBody>
      </p:sp>
      <p:sp>
        <p:nvSpPr>
          <p:cNvPr id="18" name="ui-255">
            <a:extLst xmlns:a="http://schemas.openxmlformats.org/drawingml/2006/main">
              <a:ext uri="{FF2B5EF4-FFF2-40B4-BE49-F238E27FC236}">
                <a16:creationId xmlns:a16="http://schemas.microsoft.com/office/drawing/2014/main" id="{7D8187EB-F0D8-4273-8F82-29C4B050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686550"/>
            <a:ext cx="28956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Daily rooms</a:t>
            </a:r>
          </a:p>
        </p:txBody>
      </p:sp>
      <p:sp>
        <p:nvSpPr>
          <p:cNvPr id="19" name="ui-256">
            <a:extLst xmlns:a="http://schemas.openxmlformats.org/drawingml/2006/main">
              <a:ext uri="{FF2B5EF4-FFF2-40B4-BE49-F238E27FC236}">
                <a16:creationId xmlns:a16="http://schemas.microsoft.com/office/drawing/2014/main" id="{E233743E-4449-4494-BF1E-3CE5CCBD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7696200"/>
            <a:ext cx="2895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ui-257">
            <a:extLst xmlns:a="http://schemas.openxmlformats.org/drawingml/2006/main">
              <a:ext uri="{FF2B5EF4-FFF2-40B4-BE49-F238E27FC236}">
                <a16:creationId xmlns:a16="http://schemas.microsoft.com/office/drawing/2014/main" id="{DFFD5EAD-C4CD-4FF7-851B-BDE66294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7658100"/>
            <a:ext cx="2895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21" name="ui-258">
            <a:extLst xmlns:a="http://schemas.openxmlformats.org/drawingml/2006/main">
              <a:ext uri="{FF2B5EF4-FFF2-40B4-BE49-F238E27FC236}">
                <a16:creationId xmlns:a16="http://schemas.microsoft.com/office/drawing/2014/main" id="{8E2F43F8-866D-41EE-A56D-EB2E0C85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734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Select</a:t>
            </a:r>
          </a:p>
        </p:txBody>
      </p:sp>
      <p:sp>
        <p:nvSpPr>
          <p:cNvPr id="22" name="ui-259">
            <a:extLst xmlns:a="http://schemas.openxmlformats.org/drawingml/2006/main">
              <a:ext uri="{FF2B5EF4-FFF2-40B4-BE49-F238E27FC236}">
                <a16:creationId xmlns:a16="http://schemas.microsoft.com/office/drawing/2014/main" id="{568C9D36-C47B-4D7E-9BCD-DD83598D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67000"/>
            <a:ext cx="3352800" cy="582930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1D9469-C717-46FD-9249-F111681BF5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86ee651244f7b"/>
          <a:srcRect xmlns:a="http://schemas.openxmlformats.org/drawingml/2006/main" l="0" t="50000" r="50000" b="0"/>
          <a:stretch xmlns:a="http://schemas.openxmlformats.org/drawingml/2006/main"/>
        </p:blipFill>
        <p:spPr>
          <a:xfrm xmlns:a="http://schemas.openxmlformats.org/drawingml/2006/main">
            <a:off x="7962900" y="2914650"/>
            <a:ext cx="2971800" cy="2971800"/>
          </a:xfrm>
          <a:prstGeom xmlns:a="http://schemas.openxmlformats.org/drawingml/2006/main" prst="rect">
            <a:avLst/>
          </a:prstGeom>
        </p:spPr>
      </p:pic>
      <p:sp>
        <p:nvSpPr>
          <p:cNvPr id="24" name="ui-260">
            <a:extLst xmlns:a="http://schemas.openxmlformats.org/drawingml/2006/main">
              <a:ext uri="{FF2B5EF4-FFF2-40B4-BE49-F238E27FC236}">
                <a16:creationId xmlns:a16="http://schemas.microsoft.com/office/drawing/2014/main" id="{1AEAF24F-5DD0-4F55-91D9-6A218C31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8956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Office tower</a:t>
            </a:r>
          </a:p>
        </p:txBody>
      </p:sp>
      <p:sp>
        <p:nvSpPr>
          <p:cNvPr id="25" name="ui-261">
            <a:extLst xmlns:a="http://schemas.openxmlformats.org/drawingml/2006/main">
              <a:ext uri="{FF2B5EF4-FFF2-40B4-BE49-F238E27FC236}">
                <a16:creationId xmlns:a16="http://schemas.microsoft.com/office/drawing/2014/main" id="{5BC82DC1-7829-47E8-B470-CC46CA08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686550"/>
            <a:ext cx="28956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Floor leases</a:t>
            </a:r>
          </a:p>
        </p:txBody>
      </p:sp>
      <p:sp>
        <p:nvSpPr>
          <p:cNvPr id="26" name="ui-262">
            <a:extLst xmlns:a="http://schemas.openxmlformats.org/drawingml/2006/main">
              <a:ext uri="{FF2B5EF4-FFF2-40B4-BE49-F238E27FC236}">
                <a16:creationId xmlns:a16="http://schemas.microsoft.com/office/drawing/2014/main" id="{BA9BEE1E-7FA6-4A4B-A3FA-2EFC45BF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696200"/>
            <a:ext cx="2895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ui-263">
            <a:extLst xmlns:a="http://schemas.openxmlformats.org/drawingml/2006/main">
              <a:ext uri="{FF2B5EF4-FFF2-40B4-BE49-F238E27FC236}">
                <a16:creationId xmlns:a16="http://schemas.microsoft.com/office/drawing/2014/main" id="{AEAFA776-C358-4FE4-B1A6-94BD57EE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658100"/>
            <a:ext cx="2895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28" name="ui-264">
            <a:extLst xmlns:a="http://schemas.openxmlformats.org/drawingml/2006/main">
              <a:ext uri="{FF2B5EF4-FFF2-40B4-BE49-F238E27FC236}">
                <a16:creationId xmlns:a16="http://schemas.microsoft.com/office/drawing/2014/main" id="{45DA7000-A5D7-4D8D-A5A1-A7C9826E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7734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Select</a:t>
            </a:r>
          </a:p>
        </p:txBody>
      </p:sp>
      <p:sp>
        <p:nvSpPr>
          <p:cNvPr id="29" name="ui-265">
            <a:extLst xmlns:a="http://schemas.openxmlformats.org/drawingml/2006/main">
              <a:ext uri="{FF2B5EF4-FFF2-40B4-BE49-F238E27FC236}">
                <a16:creationId xmlns:a16="http://schemas.microsoft.com/office/drawing/2014/main" id="{A64F5186-54A2-4AF5-AB3B-833394E0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667000"/>
            <a:ext cx="3352800" cy="582930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FCC44A-FDF5-41ED-9AAE-FCFA0ED877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dd4ea9e9c4074"/>
          <a:srcRect xmlns:a="http://schemas.openxmlformats.org/drawingml/2006/main" l="50000" t="50000" r="0" b="0"/>
          <a:stretch xmlns:a="http://schemas.openxmlformats.org/drawingml/2006/main"/>
        </p:blipFill>
        <p:spPr>
          <a:xfrm xmlns:a="http://schemas.openxmlformats.org/drawingml/2006/main">
            <a:off x="11620500" y="2914650"/>
            <a:ext cx="2971800" cy="2971800"/>
          </a:xfrm>
          <a:prstGeom xmlns:a="http://schemas.openxmlformats.org/drawingml/2006/main" prst="rect">
            <a:avLst/>
          </a:prstGeom>
        </p:spPr>
      </p:pic>
      <p:sp>
        <p:nvSpPr>
          <p:cNvPr id="31" name="ui-266">
            <a:extLst xmlns:a="http://schemas.openxmlformats.org/drawingml/2006/main">
              <a:ext uri="{FF2B5EF4-FFF2-40B4-BE49-F238E27FC236}">
                <a16:creationId xmlns:a16="http://schemas.microsoft.com/office/drawing/2014/main" id="{FDD83344-7744-4124-BEFC-7470E2A6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191250"/>
            <a:ext cx="28956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Food court</a:t>
            </a:r>
          </a:p>
        </p:txBody>
      </p:sp>
      <p:sp>
        <p:nvSpPr>
          <p:cNvPr id="32" name="ui-267">
            <a:extLst xmlns:a="http://schemas.openxmlformats.org/drawingml/2006/main">
              <a:ext uri="{FF2B5EF4-FFF2-40B4-BE49-F238E27FC236}">
                <a16:creationId xmlns:a16="http://schemas.microsoft.com/office/drawing/2014/main" id="{BC1F6514-CC27-4FB6-8C49-1CF1DD94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686550"/>
            <a:ext cx="28956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Customer sales</a:t>
            </a:r>
          </a:p>
        </p:txBody>
      </p:sp>
      <p:sp>
        <p:nvSpPr>
          <p:cNvPr id="33" name="ui-268">
            <a:extLst xmlns:a="http://schemas.openxmlformats.org/drawingml/2006/main">
              <a:ext uri="{FF2B5EF4-FFF2-40B4-BE49-F238E27FC236}">
                <a16:creationId xmlns:a16="http://schemas.microsoft.com/office/drawing/2014/main" id="{EC2E607F-0FBA-4B86-AD1E-A9AA5F6D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7696200"/>
            <a:ext cx="2895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ui-269">
            <a:extLst xmlns:a="http://schemas.openxmlformats.org/drawingml/2006/main">
              <a:ext uri="{FF2B5EF4-FFF2-40B4-BE49-F238E27FC236}">
                <a16:creationId xmlns:a16="http://schemas.microsoft.com/office/drawing/2014/main" id="{B128F8E7-26E3-48F5-A607-6FF6CD47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7658100"/>
            <a:ext cx="2895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35" name="ui-270">
            <a:extLst xmlns:a="http://schemas.openxmlformats.org/drawingml/2006/main">
              <a:ext uri="{FF2B5EF4-FFF2-40B4-BE49-F238E27FC236}">
                <a16:creationId xmlns:a16="http://schemas.microsoft.com/office/drawing/2014/main" id="{052B1397-38CC-43B3-9D20-B61C772B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7734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Select</a:t>
            </a:r>
          </a:p>
        </p:txBody>
      </p:sp>
    </p:spTree>
    <p:extLst>
      <p:ext uri="{BB962C8B-B14F-4D97-AF65-F5344CB8AC3E}">
        <p14:creationId xmlns:p14="http://schemas.microsoft.com/office/powerpoint/2010/main" val="7494227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5C4C529-163A-4353-B789-1D23D48108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fc321ddc04a64"/>
          <a:stretch xmlns:a="http://schemas.openxmlformats.org/drawingml/2006/main"/>
        </p:blipFill>
        <p:spPr>
          <a:xfrm xmlns:a="http://schemas.openxmlformats.org/drawingml/2006/main">
            <a:off x="457200" y="266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ui-271">
            <a:extLst xmlns:a="http://schemas.openxmlformats.org/drawingml/2006/main">
              <a:ext uri="{FF2B5EF4-FFF2-40B4-BE49-F238E27FC236}">
                <a16:creationId xmlns:a16="http://schemas.microsoft.com/office/drawing/2014/main" id="{6FC848EF-10C5-4211-9690-549DACB3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10001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Building Management Tycoon</a:t>
            </a:r>
          </a:p>
        </p:txBody>
      </p:sp>
      <p:sp>
        <p:nvSpPr>
          <p:cNvPr id="3" name="ui-272">
            <a:extLst xmlns:a="http://schemas.openxmlformats.org/drawingml/2006/main">
              <a:ext uri="{FF2B5EF4-FFF2-40B4-BE49-F238E27FC236}">
                <a16:creationId xmlns:a16="http://schemas.microsoft.com/office/drawing/2014/main" id="{8A98F9B6-7FA9-48F6-9B3E-0CE79795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3850"/>
            <a:ext cx="1219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10 / 16</a:t>
            </a:r>
          </a:p>
        </p:txBody>
      </p:sp>
      <p:sp>
        <p:nvSpPr>
          <p:cNvPr id="4" name="ui-273">
            <a:extLst xmlns:a="http://schemas.openxmlformats.org/drawingml/2006/main">
              <a:ext uri="{FF2B5EF4-FFF2-40B4-BE49-F238E27FC236}">
                <a16:creationId xmlns:a16="http://schemas.microsoft.com/office/drawing/2014/main" id="{61A48C5E-5BA0-4C9B-8C00-308B8958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i-274">
            <a:extLst xmlns:a="http://schemas.openxmlformats.org/drawingml/2006/main">
              <a:ext uri="{FF2B5EF4-FFF2-40B4-BE49-F238E27FC236}">
                <a16:creationId xmlns:a16="http://schemas.microsoft.com/office/drawing/2014/main" id="{9B6EFBEA-CDB8-402B-8C8B-5E4F6522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432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10  Construction / land footprint</a:t>
            </a:r>
          </a:p>
        </p:txBody>
      </p:sp>
      <p:sp>
        <p:nvSpPr>
          <p:cNvPr id="6" name="ui-275">
            <a:extLst xmlns:a="http://schemas.openxmlformats.org/drawingml/2006/main">
              <a:ext uri="{FF2B5EF4-FFF2-40B4-BE49-F238E27FC236}">
                <a16:creationId xmlns:a16="http://schemas.microsoft.com/office/drawing/2014/main" id="{E85EB0EC-9117-497A-8098-293F0335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48750"/>
            <a:ext cx="138684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Game design reference. Economy values and district names are examples.</a:t>
            </a:r>
          </a:p>
        </p:txBody>
      </p:sp>
      <p:sp>
        <p:nvSpPr>
          <p:cNvPr id="7" name="ui-276">
            <a:extLst xmlns:a="http://schemas.openxmlformats.org/drawingml/2006/main">
              <a:ext uri="{FF2B5EF4-FFF2-40B4-BE49-F238E27FC236}">
                <a16:creationId xmlns:a16="http://schemas.microsoft.com/office/drawing/2014/main" id="{40913A2F-884F-463B-9477-0A95F2A3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1432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1  Type     2  Footprint     3  Floors     4  Review</a:t>
            </a:r>
          </a:p>
        </p:txBody>
      </p:sp>
      <p:sp>
        <p:nvSpPr>
          <p:cNvPr id="8" name="ui-277">
            <a:extLst xmlns:a="http://schemas.openxmlformats.org/drawingml/2006/main">
              <a:ext uri="{FF2B5EF4-FFF2-40B4-BE49-F238E27FC236}">
                <a16:creationId xmlns:a16="http://schemas.microsoft.com/office/drawing/2014/main" id="{2A2D01DB-5E4F-415D-85CF-5805819C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8915400" cy="58293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9" name="plot-278">
            <a:extLst xmlns:a="http://schemas.openxmlformats.org/drawingml/2006/main">
              <a:ext uri="{FF2B5EF4-FFF2-40B4-BE49-F238E27FC236}">
                <a16:creationId xmlns:a16="http://schemas.microsoft.com/office/drawing/2014/main" id="{D7E8B244-2075-48AC-94CA-4F8A09EC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242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10" name="plot-279">
            <a:extLst xmlns:a="http://schemas.openxmlformats.org/drawingml/2006/main">
              <a:ext uri="{FF2B5EF4-FFF2-40B4-BE49-F238E27FC236}">
                <a16:creationId xmlns:a16="http://schemas.microsoft.com/office/drawing/2014/main" id="{EF5AF07A-2866-49EE-A051-9C776EFB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290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11" name="plot-280">
            <a:extLst xmlns:a="http://schemas.openxmlformats.org/drawingml/2006/main">
              <a:ext uri="{FF2B5EF4-FFF2-40B4-BE49-F238E27FC236}">
                <a16:creationId xmlns:a16="http://schemas.microsoft.com/office/drawing/2014/main" id="{9131D5E0-DABB-4C16-A931-67CB3597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338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12" name="plot-281">
            <a:extLst xmlns:a="http://schemas.openxmlformats.org/drawingml/2006/main">
              <a:ext uri="{FF2B5EF4-FFF2-40B4-BE49-F238E27FC236}">
                <a16:creationId xmlns:a16="http://schemas.microsoft.com/office/drawing/2014/main" id="{7FBD0CAE-134A-494C-B86B-43F6CD52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386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13" name="plot-282">
            <a:extLst xmlns:a="http://schemas.openxmlformats.org/drawingml/2006/main">
              <a:ext uri="{FF2B5EF4-FFF2-40B4-BE49-F238E27FC236}">
                <a16:creationId xmlns:a16="http://schemas.microsoft.com/office/drawing/2014/main" id="{28732D60-F862-44AC-96EE-CE2F80AB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434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14" name="plot-283">
            <a:extLst xmlns:a="http://schemas.openxmlformats.org/drawingml/2006/main">
              <a:ext uri="{FF2B5EF4-FFF2-40B4-BE49-F238E27FC236}">
                <a16:creationId xmlns:a16="http://schemas.microsoft.com/office/drawing/2014/main" id="{38BD033D-AEEB-45C2-B0EB-433A7503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482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15" name="plot-284">
            <a:extLst xmlns:a="http://schemas.openxmlformats.org/drawingml/2006/main">
              <a:ext uri="{FF2B5EF4-FFF2-40B4-BE49-F238E27FC236}">
                <a16:creationId xmlns:a16="http://schemas.microsoft.com/office/drawing/2014/main" id="{00FD6264-E6BE-4425-99E9-41D0127E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530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16" name="plot-285">
            <a:extLst xmlns:a="http://schemas.openxmlformats.org/drawingml/2006/main">
              <a:ext uri="{FF2B5EF4-FFF2-40B4-BE49-F238E27FC236}">
                <a16:creationId xmlns:a16="http://schemas.microsoft.com/office/drawing/2014/main" id="{68764D1D-35CC-4849-BFE7-6BAA8115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578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17" name="plot-286">
            <a:extLst xmlns:a="http://schemas.openxmlformats.org/drawingml/2006/main">
              <a:ext uri="{FF2B5EF4-FFF2-40B4-BE49-F238E27FC236}">
                <a16:creationId xmlns:a16="http://schemas.microsoft.com/office/drawing/2014/main" id="{89EF5894-4ABA-4FE2-BCE4-8C4905D4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290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18" name="plot-287">
            <a:extLst xmlns:a="http://schemas.openxmlformats.org/drawingml/2006/main">
              <a:ext uri="{FF2B5EF4-FFF2-40B4-BE49-F238E27FC236}">
                <a16:creationId xmlns:a16="http://schemas.microsoft.com/office/drawing/2014/main" id="{7F2FC4AC-3876-45FF-9648-B70D7653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338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BEBDD"/>
          </a:solidFill>
          <a:ln xmlns:a="http://schemas.openxmlformats.org/drawingml/2006/main" w="28575">
            <a:solidFill>
              <a:srgbClr val="237563"/>
            </a:solidFill>
            <a:prstDash val="solid"/>
          </a:ln>
        </p:spPr>
      </p:sp>
      <p:sp>
        <p:nvSpPr>
          <p:cNvPr id="19" name="plot-288">
            <a:extLst xmlns:a="http://schemas.openxmlformats.org/drawingml/2006/main">
              <a:ext uri="{FF2B5EF4-FFF2-40B4-BE49-F238E27FC236}">
                <a16:creationId xmlns:a16="http://schemas.microsoft.com/office/drawing/2014/main" id="{B010D272-F78F-4DE3-B60A-65CC6345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386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BEBDD"/>
          </a:solidFill>
          <a:ln xmlns:a="http://schemas.openxmlformats.org/drawingml/2006/main" w="28575">
            <a:solidFill>
              <a:srgbClr val="237563"/>
            </a:solidFill>
            <a:prstDash val="solid"/>
          </a:ln>
        </p:spPr>
      </p:sp>
      <p:sp>
        <p:nvSpPr>
          <p:cNvPr id="20" name="plot-289">
            <a:extLst xmlns:a="http://schemas.openxmlformats.org/drawingml/2006/main">
              <a:ext uri="{FF2B5EF4-FFF2-40B4-BE49-F238E27FC236}">
                <a16:creationId xmlns:a16="http://schemas.microsoft.com/office/drawing/2014/main" id="{F58947EC-9255-4EF8-AFD4-67466D0B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434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BEBDD"/>
          </a:solidFill>
          <a:ln xmlns:a="http://schemas.openxmlformats.org/drawingml/2006/main" w="28575">
            <a:solidFill>
              <a:srgbClr val="237563"/>
            </a:solidFill>
            <a:prstDash val="solid"/>
          </a:ln>
        </p:spPr>
      </p:sp>
      <p:sp>
        <p:nvSpPr>
          <p:cNvPr id="21" name="plot-290">
            <a:extLst xmlns:a="http://schemas.openxmlformats.org/drawingml/2006/main">
              <a:ext uri="{FF2B5EF4-FFF2-40B4-BE49-F238E27FC236}">
                <a16:creationId xmlns:a16="http://schemas.microsoft.com/office/drawing/2014/main" id="{F3F7E1CE-9B63-4C0D-9207-0FF23B7F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482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22" name="plot-291">
            <a:extLst xmlns:a="http://schemas.openxmlformats.org/drawingml/2006/main">
              <a:ext uri="{FF2B5EF4-FFF2-40B4-BE49-F238E27FC236}">
                <a16:creationId xmlns:a16="http://schemas.microsoft.com/office/drawing/2014/main" id="{5A39F5F1-A974-4D1D-BCB9-1ACB964D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530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23" name="plot-292">
            <a:extLst xmlns:a="http://schemas.openxmlformats.org/drawingml/2006/main">
              <a:ext uri="{FF2B5EF4-FFF2-40B4-BE49-F238E27FC236}">
                <a16:creationId xmlns:a16="http://schemas.microsoft.com/office/drawing/2014/main" id="{6F46C796-8778-4CC7-ADE9-C8BB4EA7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578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24" name="plot-293">
            <a:extLst xmlns:a="http://schemas.openxmlformats.org/drawingml/2006/main">
              <a:ext uri="{FF2B5EF4-FFF2-40B4-BE49-F238E27FC236}">
                <a16:creationId xmlns:a16="http://schemas.microsoft.com/office/drawing/2014/main" id="{290B6146-7FAF-4B33-AF88-E69F4F58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5626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25" name="plot-294">
            <a:extLst xmlns:a="http://schemas.openxmlformats.org/drawingml/2006/main">
              <a:ext uri="{FF2B5EF4-FFF2-40B4-BE49-F238E27FC236}">
                <a16:creationId xmlns:a16="http://schemas.microsoft.com/office/drawing/2014/main" id="{92226967-C094-42C9-9207-06360F9F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338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26" name="plot-295">
            <a:extLst xmlns:a="http://schemas.openxmlformats.org/drawingml/2006/main">
              <a:ext uri="{FF2B5EF4-FFF2-40B4-BE49-F238E27FC236}">
                <a16:creationId xmlns:a16="http://schemas.microsoft.com/office/drawing/2014/main" id="{90FA64BA-908F-4B43-8447-F63B7A2B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386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BEBDD"/>
          </a:solidFill>
          <a:ln xmlns:a="http://schemas.openxmlformats.org/drawingml/2006/main" w="28575">
            <a:solidFill>
              <a:srgbClr val="237563"/>
            </a:solidFill>
            <a:prstDash val="solid"/>
          </a:ln>
        </p:spPr>
      </p:sp>
      <p:sp>
        <p:nvSpPr>
          <p:cNvPr id="27" name="plot-296">
            <a:extLst xmlns:a="http://schemas.openxmlformats.org/drawingml/2006/main">
              <a:ext uri="{FF2B5EF4-FFF2-40B4-BE49-F238E27FC236}">
                <a16:creationId xmlns:a16="http://schemas.microsoft.com/office/drawing/2014/main" id="{AA53DAD6-B0ED-4F73-99B1-AF26E333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434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BEBDD"/>
          </a:solidFill>
          <a:ln xmlns:a="http://schemas.openxmlformats.org/drawingml/2006/main" w="28575">
            <a:solidFill>
              <a:srgbClr val="237563"/>
            </a:solidFill>
            <a:prstDash val="solid"/>
          </a:ln>
        </p:spPr>
      </p:sp>
      <p:sp>
        <p:nvSpPr>
          <p:cNvPr id="28" name="plot-297">
            <a:extLst xmlns:a="http://schemas.openxmlformats.org/drawingml/2006/main">
              <a:ext uri="{FF2B5EF4-FFF2-40B4-BE49-F238E27FC236}">
                <a16:creationId xmlns:a16="http://schemas.microsoft.com/office/drawing/2014/main" id="{97FE0974-7FF2-4A60-B644-78C4203F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482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BEBDD"/>
          </a:solidFill>
          <a:ln xmlns:a="http://schemas.openxmlformats.org/drawingml/2006/main" w="28575">
            <a:solidFill>
              <a:srgbClr val="237563"/>
            </a:solidFill>
            <a:prstDash val="solid"/>
          </a:ln>
        </p:spPr>
      </p:sp>
      <p:sp>
        <p:nvSpPr>
          <p:cNvPr id="29" name="plot-298">
            <a:extLst xmlns:a="http://schemas.openxmlformats.org/drawingml/2006/main">
              <a:ext uri="{FF2B5EF4-FFF2-40B4-BE49-F238E27FC236}">
                <a16:creationId xmlns:a16="http://schemas.microsoft.com/office/drawing/2014/main" id="{A24F9DAD-18BB-4F59-A04C-08537A7B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530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30" name="plot-299">
            <a:extLst xmlns:a="http://schemas.openxmlformats.org/drawingml/2006/main">
              <a:ext uri="{FF2B5EF4-FFF2-40B4-BE49-F238E27FC236}">
                <a16:creationId xmlns:a16="http://schemas.microsoft.com/office/drawing/2014/main" id="{981BFBB1-DFAB-451D-9E44-13A3168C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578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31" name="plot-300">
            <a:extLst xmlns:a="http://schemas.openxmlformats.org/drawingml/2006/main">
              <a:ext uri="{FF2B5EF4-FFF2-40B4-BE49-F238E27FC236}">
                <a16:creationId xmlns:a16="http://schemas.microsoft.com/office/drawing/2014/main" id="{34606A51-2571-4355-BE35-275463D6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626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32" name="plot-301">
            <a:extLst xmlns:a="http://schemas.openxmlformats.org/drawingml/2006/main">
              <a:ext uri="{FF2B5EF4-FFF2-40B4-BE49-F238E27FC236}">
                <a16:creationId xmlns:a16="http://schemas.microsoft.com/office/drawing/2014/main" id="{16061BF9-FFE4-46BB-8C51-45076204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674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33" name="plot-302">
            <a:extLst xmlns:a="http://schemas.openxmlformats.org/drawingml/2006/main">
              <a:ext uri="{FF2B5EF4-FFF2-40B4-BE49-F238E27FC236}">
                <a16:creationId xmlns:a16="http://schemas.microsoft.com/office/drawing/2014/main" id="{21D9A0EA-6A1F-458C-94E1-17829B66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386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34" name="plot-303">
            <a:extLst xmlns:a="http://schemas.openxmlformats.org/drawingml/2006/main">
              <a:ext uri="{FF2B5EF4-FFF2-40B4-BE49-F238E27FC236}">
                <a16:creationId xmlns:a16="http://schemas.microsoft.com/office/drawing/2014/main" id="{5CE7ED8A-563E-4343-A233-6A98D173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434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35" name="plot-304">
            <a:extLst xmlns:a="http://schemas.openxmlformats.org/drawingml/2006/main">
              <a:ext uri="{FF2B5EF4-FFF2-40B4-BE49-F238E27FC236}">
                <a16:creationId xmlns:a16="http://schemas.microsoft.com/office/drawing/2014/main" id="{4402E0BC-BC97-4218-8599-94EC99DC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482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36" name="plot-305">
            <a:extLst xmlns:a="http://schemas.openxmlformats.org/drawingml/2006/main">
              <a:ext uri="{FF2B5EF4-FFF2-40B4-BE49-F238E27FC236}">
                <a16:creationId xmlns:a16="http://schemas.microsoft.com/office/drawing/2014/main" id="{AA904C10-A860-4868-B283-022B4979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530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37" name="plot-306">
            <a:extLst xmlns:a="http://schemas.openxmlformats.org/drawingml/2006/main">
              <a:ext uri="{FF2B5EF4-FFF2-40B4-BE49-F238E27FC236}">
                <a16:creationId xmlns:a16="http://schemas.microsoft.com/office/drawing/2014/main" id="{65F27A3C-A2AF-4C5B-B99F-425A84EF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578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38" name="plot-307">
            <a:extLst xmlns:a="http://schemas.openxmlformats.org/drawingml/2006/main">
              <a:ext uri="{FF2B5EF4-FFF2-40B4-BE49-F238E27FC236}">
                <a16:creationId xmlns:a16="http://schemas.microsoft.com/office/drawing/2014/main" id="{2AED815E-862E-432A-8CB3-DF2EF2C2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5626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39" name="plot-308">
            <a:extLst xmlns:a="http://schemas.openxmlformats.org/drawingml/2006/main">
              <a:ext uri="{FF2B5EF4-FFF2-40B4-BE49-F238E27FC236}">
                <a16:creationId xmlns:a16="http://schemas.microsoft.com/office/drawing/2014/main" id="{350C41B0-D43F-401A-86E7-C21A7AA3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674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40" name="plot-309">
            <a:extLst xmlns:a="http://schemas.openxmlformats.org/drawingml/2006/main">
              <a:ext uri="{FF2B5EF4-FFF2-40B4-BE49-F238E27FC236}">
                <a16:creationId xmlns:a16="http://schemas.microsoft.com/office/drawing/2014/main" id="{AB2DF80A-1DF7-4CAC-A332-F3E5DCFA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722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41" name="plot-310">
            <a:extLst xmlns:a="http://schemas.openxmlformats.org/drawingml/2006/main">
              <a:ext uri="{FF2B5EF4-FFF2-40B4-BE49-F238E27FC236}">
                <a16:creationId xmlns:a16="http://schemas.microsoft.com/office/drawing/2014/main" id="{7687040B-6D4B-483E-9B39-567ECE59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42" name="plot-311">
            <a:extLst xmlns:a="http://schemas.openxmlformats.org/drawingml/2006/main">
              <a:ext uri="{FF2B5EF4-FFF2-40B4-BE49-F238E27FC236}">
                <a16:creationId xmlns:a16="http://schemas.microsoft.com/office/drawing/2014/main" id="{18228D7D-AF60-4FCB-9792-58659E91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482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43" name="plot-312">
            <a:extLst xmlns:a="http://schemas.openxmlformats.org/drawingml/2006/main">
              <a:ext uri="{FF2B5EF4-FFF2-40B4-BE49-F238E27FC236}">
                <a16:creationId xmlns:a16="http://schemas.microsoft.com/office/drawing/2014/main" id="{1F67E024-086B-4B18-84D5-2B071763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530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44" name="plot-313">
            <a:extLst xmlns:a="http://schemas.openxmlformats.org/drawingml/2006/main">
              <a:ext uri="{FF2B5EF4-FFF2-40B4-BE49-F238E27FC236}">
                <a16:creationId xmlns:a16="http://schemas.microsoft.com/office/drawing/2014/main" id="{CBEA5676-B1D5-4D9A-806B-67AEE039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578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45" name="plot-314">
            <a:extLst xmlns:a="http://schemas.openxmlformats.org/drawingml/2006/main">
              <a:ext uri="{FF2B5EF4-FFF2-40B4-BE49-F238E27FC236}">
                <a16:creationId xmlns:a16="http://schemas.microsoft.com/office/drawing/2014/main" id="{F3DC60A6-3573-4A76-90F2-D83F993F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626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46" name="plot-315">
            <a:extLst xmlns:a="http://schemas.openxmlformats.org/drawingml/2006/main">
              <a:ext uri="{FF2B5EF4-FFF2-40B4-BE49-F238E27FC236}">
                <a16:creationId xmlns:a16="http://schemas.microsoft.com/office/drawing/2014/main" id="{CBB1F601-A101-4490-901C-73EA224D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674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47" name="plot-316">
            <a:extLst xmlns:a="http://schemas.openxmlformats.org/drawingml/2006/main">
              <a:ext uri="{FF2B5EF4-FFF2-40B4-BE49-F238E27FC236}">
                <a16:creationId xmlns:a16="http://schemas.microsoft.com/office/drawing/2014/main" id="{7D6C6899-F84F-44A5-B274-B54BDBB1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1722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48" name="plot-317">
            <a:extLst xmlns:a="http://schemas.openxmlformats.org/drawingml/2006/main">
              <a:ext uri="{FF2B5EF4-FFF2-40B4-BE49-F238E27FC236}">
                <a16:creationId xmlns:a16="http://schemas.microsoft.com/office/drawing/2014/main" id="{0F81B716-285F-4574-9AA7-63F9598E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477000"/>
            <a:ext cx="1219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BD995"/>
          </a:solidFill>
          <a:ln xmlns:a="http://schemas.openxmlformats.org/drawingml/2006/main" w="14288">
            <a:solidFill>
              <a:srgbClr val="97B675"/>
            </a:solidFill>
            <a:prstDash val="solid"/>
          </a:ln>
        </p:spPr>
      </p:sp>
      <p:sp>
        <p:nvSpPr>
          <p:cNvPr id="49" name="ui-318">
            <a:extLst xmlns:a="http://schemas.openxmlformats.org/drawingml/2006/main">
              <a:ext uri="{FF2B5EF4-FFF2-40B4-BE49-F238E27FC236}">
                <a16:creationId xmlns:a16="http://schemas.microsoft.com/office/drawing/2014/main" id="{6913127A-2A90-4D2B-A464-F0FC6391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34250"/>
            <a:ext cx="2514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ui-319">
            <a:extLst xmlns:a="http://schemas.openxmlformats.org/drawingml/2006/main">
              <a:ext uri="{FF2B5EF4-FFF2-40B4-BE49-F238E27FC236}">
                <a16:creationId xmlns:a16="http://schemas.microsoft.com/office/drawing/2014/main" id="{BEC3E0AF-A27E-4391-99C3-598BBB84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38187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rPr>
              <a:t>3 × 2 plots</a:t>
            </a:r>
          </a:p>
        </p:txBody>
      </p:sp>
      <p:sp>
        <p:nvSpPr>
          <p:cNvPr id="51" name="ui-320">
            <a:extLst xmlns:a="http://schemas.openxmlformats.org/drawingml/2006/main">
              <a:ext uri="{FF2B5EF4-FFF2-40B4-BE49-F238E27FC236}">
                <a16:creationId xmlns:a16="http://schemas.microsoft.com/office/drawing/2014/main" id="{77BCAB3F-267E-4AD5-BD1C-87D63A22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0"/>
            <a:ext cx="80772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Drag across empty plots to set the land area.</a:t>
            </a:r>
          </a:p>
        </p:txBody>
      </p:sp>
      <p:sp>
        <p:nvSpPr>
          <p:cNvPr id="52" name="ui-321">
            <a:extLst xmlns:a="http://schemas.openxmlformats.org/drawingml/2006/main">
              <a:ext uri="{FF2B5EF4-FFF2-40B4-BE49-F238E27FC236}">
                <a16:creationId xmlns:a16="http://schemas.microsoft.com/office/drawing/2014/main" id="{65C2CE6C-2F13-4B21-A138-970130AF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47950"/>
            <a:ext cx="5105400" cy="5829300"/>
          </a:xfrm>
          <a:prstGeom xmlns:a="http://schemas.openxmlformats.org/drawingml/2006/main" prst="roundRect">
            <a:avLst>
              <a:gd name="adj" fmla="val 3358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53" name="ui-322">
            <a:extLst xmlns:a="http://schemas.openxmlformats.org/drawingml/2006/main">
              <a:ext uri="{FF2B5EF4-FFF2-40B4-BE49-F238E27FC236}">
                <a16:creationId xmlns:a16="http://schemas.microsoft.com/office/drawing/2014/main" id="{81CCD4B2-DFAD-48CD-84FC-6F27A305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38450"/>
            <a:ext cx="46482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Apartment footprint</a:t>
            </a:r>
          </a:p>
        </p:txBody>
      </p:sp>
      <p:sp>
        <p:nvSpPr>
          <p:cNvPr id="54" name="ui-323">
            <a:extLst xmlns:a="http://schemas.openxmlformats.org/drawingml/2006/main">
              <a:ext uri="{FF2B5EF4-FFF2-40B4-BE49-F238E27FC236}">
                <a16:creationId xmlns:a16="http://schemas.microsoft.com/office/drawing/2014/main" id="{49FAE4F3-9290-47E0-9069-4B47DBBF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95650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11E36FD-7876-479E-BF21-C65B296213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1bf3c9b574abf"/>
          <a:srcRect xmlns:a="http://schemas.openxmlformats.org/drawingml/2006/main" l="0" t="0" r="50000" b="50000"/>
          <a:stretch xmlns:a="http://schemas.openxmlformats.org/drawingml/2006/main"/>
        </p:blipFill>
        <p:spPr>
          <a:xfrm xmlns:a="http://schemas.openxmlformats.org/drawingml/2006/main">
            <a:off x="11582400" y="3371850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56" name="ui-324">
            <a:extLst xmlns:a="http://schemas.openxmlformats.org/drawingml/2006/main">
              <a:ext uri="{FF2B5EF4-FFF2-40B4-BE49-F238E27FC236}">
                <a16:creationId xmlns:a16="http://schemas.microsoft.com/office/drawing/2014/main" id="{27018163-22FC-4841-977C-B60E77AA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86350"/>
            <a:ext cx="278892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Width</a:t>
            </a:r>
          </a:p>
        </p:txBody>
      </p:sp>
      <p:sp>
        <p:nvSpPr>
          <p:cNvPr id="57" name="ui-325">
            <a:extLst xmlns:a="http://schemas.openxmlformats.org/drawingml/2006/main">
              <a:ext uri="{FF2B5EF4-FFF2-40B4-BE49-F238E27FC236}">
                <a16:creationId xmlns:a16="http://schemas.microsoft.com/office/drawing/2014/main" id="{C7B89C06-B951-4E4D-AA77-D946319E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8992" y="5086350"/>
            <a:ext cx="2045208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3 plots</a:t>
            </a:r>
          </a:p>
        </p:txBody>
      </p:sp>
      <p:sp>
        <p:nvSpPr>
          <p:cNvPr id="58" name="ui-326">
            <a:extLst xmlns:a="http://schemas.openxmlformats.org/drawingml/2006/main">
              <a:ext uri="{FF2B5EF4-FFF2-40B4-BE49-F238E27FC236}">
                <a16:creationId xmlns:a16="http://schemas.microsoft.com/office/drawing/2014/main" id="{9D5A4B85-4030-47DB-97BD-3043459D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505450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ui-327">
            <a:extLst xmlns:a="http://schemas.openxmlformats.org/drawingml/2006/main">
              <a:ext uri="{FF2B5EF4-FFF2-40B4-BE49-F238E27FC236}">
                <a16:creationId xmlns:a16="http://schemas.microsoft.com/office/drawing/2014/main" id="{8E62D352-40A0-448B-83F3-B5240C3F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76900"/>
            <a:ext cx="278892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Length</a:t>
            </a:r>
          </a:p>
        </p:txBody>
      </p:sp>
      <p:sp>
        <p:nvSpPr>
          <p:cNvPr id="60" name="ui-328">
            <a:extLst xmlns:a="http://schemas.openxmlformats.org/drawingml/2006/main">
              <a:ext uri="{FF2B5EF4-FFF2-40B4-BE49-F238E27FC236}">
                <a16:creationId xmlns:a16="http://schemas.microsoft.com/office/drawing/2014/main" id="{2441DBD7-CA14-43BE-9878-1927898A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8992" y="5676900"/>
            <a:ext cx="2045208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2 plots</a:t>
            </a:r>
          </a:p>
        </p:txBody>
      </p:sp>
      <p:sp>
        <p:nvSpPr>
          <p:cNvPr id="61" name="ui-329">
            <a:extLst xmlns:a="http://schemas.openxmlformats.org/drawingml/2006/main">
              <a:ext uri="{FF2B5EF4-FFF2-40B4-BE49-F238E27FC236}">
                <a16:creationId xmlns:a16="http://schemas.microsoft.com/office/drawing/2014/main" id="{51327FD7-08BD-4371-B5B8-6CFAE96B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96000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ui-330">
            <a:extLst xmlns:a="http://schemas.openxmlformats.org/drawingml/2006/main">
              <a:ext uri="{FF2B5EF4-FFF2-40B4-BE49-F238E27FC236}">
                <a16:creationId xmlns:a16="http://schemas.microsoft.com/office/drawing/2014/main" id="{5DECFF04-E6CD-43EA-991E-17DED5BC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2286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ui-331">
            <a:extLst xmlns:a="http://schemas.openxmlformats.org/drawingml/2006/main">
              <a:ext uri="{FF2B5EF4-FFF2-40B4-BE49-F238E27FC236}">
                <a16:creationId xmlns:a16="http://schemas.microsoft.com/office/drawing/2014/main" id="{460CF77C-A13A-4BB4-9077-AA4934BB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674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rPr>
              <a:t>Valid footprint</a:t>
            </a:r>
          </a:p>
        </p:txBody>
      </p:sp>
      <p:sp>
        <p:nvSpPr>
          <p:cNvPr id="64" name="ui-332">
            <a:extLst xmlns:a="http://schemas.openxmlformats.org/drawingml/2006/main">
              <a:ext uri="{FF2B5EF4-FFF2-40B4-BE49-F238E27FC236}">
                <a16:creationId xmlns:a16="http://schemas.microsoft.com/office/drawing/2014/main" id="{06557C47-3926-41C2-BFCF-ADB0B979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181850"/>
            <a:ext cx="4648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ui-333">
            <a:extLst xmlns:a="http://schemas.openxmlformats.org/drawingml/2006/main">
              <a:ext uri="{FF2B5EF4-FFF2-40B4-BE49-F238E27FC236}">
                <a16:creationId xmlns:a16="http://schemas.microsoft.com/office/drawing/2014/main" id="{6FD02E8B-9C1F-4AF7-95C7-D2504BCF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143750"/>
            <a:ext cx="4648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66" name="ui-334">
            <a:extLst xmlns:a="http://schemas.openxmlformats.org/drawingml/2006/main">
              <a:ext uri="{FF2B5EF4-FFF2-40B4-BE49-F238E27FC236}">
                <a16:creationId xmlns:a16="http://schemas.microsoft.com/office/drawing/2014/main" id="{C9FCC43A-CA3C-4E1C-90F9-9DEF3663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721995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rPr>
              <a:t>Use this footprint</a:t>
            </a:r>
          </a:p>
        </p:txBody>
      </p:sp>
      <p:sp>
        <p:nvSpPr>
          <p:cNvPr id="67" name="ui-335">
            <a:extLst xmlns:a="http://schemas.openxmlformats.org/drawingml/2006/main">
              <a:ext uri="{FF2B5EF4-FFF2-40B4-BE49-F238E27FC236}">
                <a16:creationId xmlns:a16="http://schemas.microsoft.com/office/drawing/2014/main" id="{05FD0E0A-BAF7-45F2-AD33-1D65D8A6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001000"/>
            <a:ext cx="4648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Back keeps your plan.</a:t>
            </a:r>
          </a:p>
        </p:txBody>
      </p:sp>
    </p:spTree>
    <p:extLst>
      <p:ext uri="{BB962C8B-B14F-4D97-AF65-F5344CB8AC3E}">
        <p14:creationId xmlns:p14="http://schemas.microsoft.com/office/powerpoint/2010/main" val="20328352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D0610D-1AFE-4193-9F65-6AE24B9AF4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f016d51e547f5"/>
          <a:stretch xmlns:a="http://schemas.openxmlformats.org/drawingml/2006/main"/>
        </p:blipFill>
        <p:spPr>
          <a:xfrm xmlns:a="http://schemas.openxmlformats.org/drawingml/2006/main">
            <a:off x="457200" y="266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ui-336">
            <a:extLst xmlns:a="http://schemas.openxmlformats.org/drawingml/2006/main">
              <a:ext uri="{FF2B5EF4-FFF2-40B4-BE49-F238E27FC236}">
                <a16:creationId xmlns:a16="http://schemas.microsoft.com/office/drawing/2014/main" id="{BDF097A4-AFBC-4ADF-B0D2-F66883E3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10001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Building Management Tycoon</a:t>
            </a:r>
          </a:p>
        </p:txBody>
      </p:sp>
      <p:sp>
        <p:nvSpPr>
          <p:cNvPr id="3" name="ui-337">
            <a:extLst xmlns:a="http://schemas.openxmlformats.org/drawingml/2006/main">
              <a:ext uri="{FF2B5EF4-FFF2-40B4-BE49-F238E27FC236}">
                <a16:creationId xmlns:a16="http://schemas.microsoft.com/office/drawing/2014/main" id="{527C19CC-3100-4298-96E7-85408C9E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3850"/>
            <a:ext cx="1219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11 / 16</a:t>
            </a:r>
          </a:p>
        </p:txBody>
      </p:sp>
      <p:sp>
        <p:nvSpPr>
          <p:cNvPr id="4" name="ui-338">
            <a:extLst xmlns:a="http://schemas.openxmlformats.org/drawingml/2006/main">
              <a:ext uri="{FF2B5EF4-FFF2-40B4-BE49-F238E27FC236}">
                <a16:creationId xmlns:a16="http://schemas.microsoft.com/office/drawing/2014/main" id="{B1F51E0E-83CB-46BB-B1AB-F4D0F914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i-339">
            <a:extLst xmlns:a="http://schemas.openxmlformats.org/drawingml/2006/main">
              <a:ext uri="{FF2B5EF4-FFF2-40B4-BE49-F238E27FC236}">
                <a16:creationId xmlns:a16="http://schemas.microsoft.com/office/drawing/2014/main" id="{6FC6718C-2A20-4D7C-A7E8-B47EC195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432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11  Construction / floors and review</a:t>
            </a:r>
          </a:p>
        </p:txBody>
      </p:sp>
      <p:sp>
        <p:nvSpPr>
          <p:cNvPr id="6" name="ui-340">
            <a:extLst xmlns:a="http://schemas.openxmlformats.org/drawingml/2006/main">
              <a:ext uri="{FF2B5EF4-FFF2-40B4-BE49-F238E27FC236}">
                <a16:creationId xmlns:a16="http://schemas.microsoft.com/office/drawing/2014/main" id="{5877BEA7-4DCC-4A8E-B735-0CF07F2D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48750"/>
            <a:ext cx="138684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Game design reference. Economy values and district names are examples.</a:t>
            </a:r>
          </a:p>
        </p:txBody>
      </p:sp>
      <p:sp>
        <p:nvSpPr>
          <p:cNvPr id="7" name="ui-341">
            <a:extLst xmlns:a="http://schemas.openxmlformats.org/drawingml/2006/main">
              <a:ext uri="{FF2B5EF4-FFF2-40B4-BE49-F238E27FC236}">
                <a16:creationId xmlns:a16="http://schemas.microsoft.com/office/drawing/2014/main" id="{E141078E-29FA-433E-9C63-0A1C615F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1432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1  Type     2  Footprint     3  Floors     4  Review</a:t>
            </a:r>
          </a:p>
        </p:txBody>
      </p:sp>
      <p:sp>
        <p:nvSpPr>
          <p:cNvPr id="8" name="ui-342">
            <a:extLst xmlns:a="http://schemas.openxmlformats.org/drawingml/2006/main">
              <a:ext uri="{FF2B5EF4-FFF2-40B4-BE49-F238E27FC236}">
                <a16:creationId xmlns:a16="http://schemas.microsoft.com/office/drawing/2014/main" id="{7FD2010E-491D-41C9-8578-FD7BFF6D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4495800" cy="5791200"/>
          </a:xfrm>
          <a:prstGeom xmlns:a="http://schemas.openxmlformats.org/drawingml/2006/main" prst="roundRect">
            <a:avLst>
              <a:gd name="adj" fmla="val 3814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9" name="ui-343">
            <a:extLst xmlns:a="http://schemas.openxmlformats.org/drawingml/2006/main">
              <a:ext uri="{FF2B5EF4-FFF2-40B4-BE49-F238E27FC236}">
                <a16:creationId xmlns:a16="http://schemas.microsoft.com/office/drawing/2014/main" id="{1CEFC6AD-D98B-42A3-A25B-7C3C001C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0386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Above-ground floors</a:t>
            </a:r>
          </a:p>
        </p:txBody>
      </p:sp>
      <p:sp>
        <p:nvSpPr>
          <p:cNvPr id="10" name="ui-344">
            <a:extLst xmlns:a="http://schemas.openxmlformats.org/drawingml/2006/main">
              <a:ext uri="{FF2B5EF4-FFF2-40B4-BE49-F238E27FC236}">
                <a16:creationId xmlns:a16="http://schemas.microsoft.com/office/drawing/2014/main" id="{79C247F9-9C9E-4209-B935-4B3BA0BE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403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ui-345">
            <a:extLst xmlns:a="http://schemas.openxmlformats.org/drawingml/2006/main">
              <a:ext uri="{FF2B5EF4-FFF2-40B4-BE49-F238E27FC236}">
                <a16:creationId xmlns:a16="http://schemas.microsoft.com/office/drawing/2014/main" id="{8174BDC7-0C77-4FD4-AACF-1FC8F5BC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4038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Number of floors</a:t>
            </a:r>
          </a:p>
        </p:txBody>
      </p:sp>
      <p:sp>
        <p:nvSpPr>
          <p:cNvPr id="12" name="ui-346">
            <a:extLst xmlns:a="http://schemas.openxmlformats.org/drawingml/2006/main">
              <a:ext uri="{FF2B5EF4-FFF2-40B4-BE49-F238E27FC236}">
                <a16:creationId xmlns:a16="http://schemas.microsoft.com/office/drawing/2014/main" id="{6D37BA6C-03B1-4E95-AE71-A90FB65E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0386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13" name="ui-347">
            <a:extLst xmlns:a="http://schemas.openxmlformats.org/drawingml/2006/main">
              <a:ext uri="{FF2B5EF4-FFF2-40B4-BE49-F238E27FC236}">
                <a16:creationId xmlns:a16="http://schemas.microsoft.com/office/drawing/2014/main" id="{FF2CA729-08AF-459E-B0C8-465EE1CA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373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14" name="ui-348">
            <a:extLst xmlns:a="http://schemas.openxmlformats.org/drawingml/2006/main">
              <a:ext uri="{FF2B5EF4-FFF2-40B4-BE49-F238E27FC236}">
                <a16:creationId xmlns:a16="http://schemas.microsoft.com/office/drawing/2014/main" id="{7A127F6F-CAD2-4CC3-AF88-9EF0459F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14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ui-349">
            <a:extLst xmlns:a="http://schemas.openxmlformats.org/drawingml/2006/main">
              <a:ext uri="{FF2B5EF4-FFF2-40B4-BE49-F238E27FC236}">
                <a16:creationId xmlns:a16="http://schemas.microsoft.com/office/drawing/2014/main" id="{51A53AA5-D063-434E-92B1-DA393CC7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914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16" name="ui-350">
            <a:extLst xmlns:a="http://schemas.openxmlformats.org/drawingml/2006/main">
              <a:ext uri="{FF2B5EF4-FFF2-40B4-BE49-F238E27FC236}">
                <a16:creationId xmlns:a16="http://schemas.microsoft.com/office/drawing/2014/main" id="{D71974B3-3CCB-4C84-A02C-E2466CED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−</a:t>
            </a:r>
          </a:p>
        </p:txBody>
      </p:sp>
      <p:sp>
        <p:nvSpPr>
          <p:cNvPr id="17" name="ui-351">
            <a:extLst xmlns:a="http://schemas.openxmlformats.org/drawingml/2006/main">
              <a:ext uri="{FF2B5EF4-FFF2-40B4-BE49-F238E27FC236}">
                <a16:creationId xmlns:a16="http://schemas.microsoft.com/office/drawing/2014/main" id="{B13B0F9B-3ED5-4ACE-9F38-5D4B0AF0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53000"/>
            <a:ext cx="914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ui-352">
            <a:extLst xmlns:a="http://schemas.openxmlformats.org/drawingml/2006/main">
              <a:ext uri="{FF2B5EF4-FFF2-40B4-BE49-F238E27FC236}">
                <a16:creationId xmlns:a16="http://schemas.microsoft.com/office/drawing/2014/main" id="{26161AE9-6448-4D64-84C1-A7E3E5A2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14900"/>
            <a:ext cx="914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19" name="ui-353">
            <a:extLst xmlns:a="http://schemas.openxmlformats.org/drawingml/2006/main">
              <a:ext uri="{FF2B5EF4-FFF2-40B4-BE49-F238E27FC236}">
                <a16:creationId xmlns:a16="http://schemas.microsoft.com/office/drawing/2014/main" id="{8C793333-2240-4594-8D05-C62FB7AB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9911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+</a:t>
            </a:r>
          </a:p>
        </p:txBody>
      </p:sp>
      <p:sp>
        <p:nvSpPr>
          <p:cNvPr id="20" name="ui-354">
            <a:extLst xmlns:a="http://schemas.openxmlformats.org/drawingml/2006/main">
              <a:ext uri="{FF2B5EF4-FFF2-40B4-BE49-F238E27FC236}">
                <a16:creationId xmlns:a16="http://schemas.microsoft.com/office/drawing/2014/main" id="{A4505C35-CD0D-4419-A703-D00D61B9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42316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Footprint</a:t>
            </a:r>
          </a:p>
        </p:txBody>
      </p:sp>
      <p:sp>
        <p:nvSpPr>
          <p:cNvPr id="21" name="ui-355">
            <a:extLst xmlns:a="http://schemas.openxmlformats.org/drawingml/2006/main">
              <a:ext uri="{FF2B5EF4-FFF2-40B4-BE49-F238E27FC236}">
                <a16:creationId xmlns:a16="http://schemas.microsoft.com/office/drawing/2014/main" id="{D7282696-FEC3-400F-B98D-486022C4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416" y="5867400"/>
            <a:ext cx="1776984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3 × 2</a:t>
            </a:r>
          </a:p>
        </p:txBody>
      </p:sp>
      <p:sp>
        <p:nvSpPr>
          <p:cNvPr id="22" name="ui-356">
            <a:extLst xmlns:a="http://schemas.openxmlformats.org/drawingml/2006/main">
              <a:ext uri="{FF2B5EF4-FFF2-40B4-BE49-F238E27FC236}">
                <a16:creationId xmlns:a16="http://schemas.microsoft.com/office/drawing/2014/main" id="{E860C98E-3A42-409B-8B2C-5192B7DD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03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ui-357">
            <a:extLst xmlns:a="http://schemas.openxmlformats.org/drawingml/2006/main">
              <a:ext uri="{FF2B5EF4-FFF2-40B4-BE49-F238E27FC236}">
                <a16:creationId xmlns:a16="http://schemas.microsoft.com/office/drawing/2014/main" id="{86DAC04F-E492-4962-A752-4EFC6304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42316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Room capacity</a:t>
            </a:r>
          </a:p>
        </p:txBody>
      </p:sp>
      <p:sp>
        <p:nvSpPr>
          <p:cNvPr id="24" name="ui-358">
            <a:extLst xmlns:a="http://schemas.openxmlformats.org/drawingml/2006/main">
              <a:ext uri="{FF2B5EF4-FFF2-40B4-BE49-F238E27FC236}">
                <a16:creationId xmlns:a16="http://schemas.microsoft.com/office/drawing/2014/main" id="{99D9EC63-F78D-4A17-9282-F769DDFF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416" y="6534150"/>
            <a:ext cx="1776984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Calculated</a:t>
            </a:r>
          </a:p>
        </p:txBody>
      </p:sp>
      <p:sp>
        <p:nvSpPr>
          <p:cNvPr id="25" name="ui-359">
            <a:extLst xmlns:a="http://schemas.openxmlformats.org/drawingml/2006/main">
              <a:ext uri="{FF2B5EF4-FFF2-40B4-BE49-F238E27FC236}">
                <a16:creationId xmlns:a16="http://schemas.microsoft.com/office/drawing/2014/main" id="{FA97A932-2CCE-44D9-98B0-61D524DE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0"/>
            <a:ext cx="403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ui-360">
            <a:extLst xmlns:a="http://schemas.openxmlformats.org/drawingml/2006/main">
              <a:ext uri="{FF2B5EF4-FFF2-40B4-BE49-F238E27FC236}">
                <a16:creationId xmlns:a16="http://schemas.microsoft.com/office/drawing/2014/main" id="{93137427-9DDF-494B-B60D-96B8AFF1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62850"/>
            <a:ext cx="40386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Rooms follow the footprint.</a:t>
            </a:r>
          </a:p>
        </p:txBody>
      </p:sp>
      <p:sp>
        <p:nvSpPr>
          <p:cNvPr id="27" name="ui-361">
            <a:extLst xmlns:a="http://schemas.openxmlformats.org/drawingml/2006/main">
              <a:ext uri="{FF2B5EF4-FFF2-40B4-BE49-F238E27FC236}">
                <a16:creationId xmlns:a16="http://schemas.microsoft.com/office/drawing/2014/main" id="{405754E4-7B50-4263-B473-D0FB6068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67000"/>
            <a:ext cx="4495800" cy="5791200"/>
          </a:xfrm>
          <a:prstGeom xmlns:a="http://schemas.openxmlformats.org/drawingml/2006/main" prst="roundRect">
            <a:avLst>
              <a:gd name="adj" fmla="val 3814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28" name="ui-362">
            <a:extLst xmlns:a="http://schemas.openxmlformats.org/drawingml/2006/main">
              <a:ext uri="{FF2B5EF4-FFF2-40B4-BE49-F238E27FC236}">
                <a16:creationId xmlns:a16="http://schemas.microsoft.com/office/drawing/2014/main" id="{789FEA6D-C9CC-42DE-9285-6A035C7C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57500"/>
            <a:ext cx="40386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Apartment</a:t>
            </a:r>
          </a:p>
        </p:txBody>
      </p:sp>
      <p:sp>
        <p:nvSpPr>
          <p:cNvPr id="29" name="ui-363">
            <a:extLst xmlns:a="http://schemas.openxmlformats.org/drawingml/2006/main">
              <a:ext uri="{FF2B5EF4-FFF2-40B4-BE49-F238E27FC236}">
                <a16:creationId xmlns:a16="http://schemas.microsoft.com/office/drawing/2014/main" id="{4EED5E97-E98A-4A9B-9CAA-B35B7C01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14700"/>
            <a:ext cx="403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E02D80-AB85-478B-B069-D678231E90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216e16d544252"/>
          <a:srcRect xmlns:a="http://schemas.openxmlformats.org/drawingml/2006/main" l="0" t="0" r="50000" b="50000"/>
          <a:stretch xmlns:a="http://schemas.openxmlformats.org/drawingml/2006/main"/>
        </p:blipFill>
        <p:spPr>
          <a:xfrm xmlns:a="http://schemas.openxmlformats.org/drawingml/2006/main">
            <a:off x="5600700" y="3600450"/>
            <a:ext cx="3810000" cy="3810000"/>
          </a:xfrm>
          <a:prstGeom xmlns:a="http://schemas.openxmlformats.org/drawingml/2006/main" prst="rect">
            <a:avLst/>
          </a:prstGeom>
        </p:spPr>
      </p:pic>
      <p:sp>
        <p:nvSpPr>
          <p:cNvPr id="31" name="ui-364">
            <a:extLst xmlns:a="http://schemas.openxmlformats.org/drawingml/2006/main">
              <a:ext uri="{FF2B5EF4-FFF2-40B4-BE49-F238E27FC236}">
                <a16:creationId xmlns:a16="http://schemas.microsoft.com/office/drawing/2014/main" id="{6E7BAEB5-5785-4B7C-99D2-B664DDC5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77533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Sizing stays fixed after building.</a:t>
            </a:r>
          </a:p>
        </p:txBody>
      </p:sp>
      <p:sp>
        <p:nvSpPr>
          <p:cNvPr id="32" name="ui-365">
            <a:extLst xmlns:a="http://schemas.openxmlformats.org/drawingml/2006/main">
              <a:ext uri="{FF2B5EF4-FFF2-40B4-BE49-F238E27FC236}">
                <a16:creationId xmlns:a16="http://schemas.microsoft.com/office/drawing/2014/main" id="{16868AE3-6984-44CB-A11B-E07219FC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67000"/>
            <a:ext cx="4724400" cy="5791200"/>
          </a:xfrm>
          <a:prstGeom xmlns:a="http://schemas.openxmlformats.org/drawingml/2006/main" prst="roundRect">
            <a:avLst>
              <a:gd name="adj" fmla="val 3629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33" name="ui-366">
            <a:extLst xmlns:a="http://schemas.openxmlformats.org/drawingml/2006/main">
              <a:ext uri="{FF2B5EF4-FFF2-40B4-BE49-F238E27FC236}">
                <a16:creationId xmlns:a16="http://schemas.microsoft.com/office/drawing/2014/main" id="{EC218D58-222D-4837-B484-CAC13531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42672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Review construction</a:t>
            </a:r>
          </a:p>
        </p:txBody>
      </p:sp>
      <p:sp>
        <p:nvSpPr>
          <p:cNvPr id="34" name="ui-367">
            <a:extLst xmlns:a="http://schemas.openxmlformats.org/drawingml/2006/main">
              <a:ext uri="{FF2B5EF4-FFF2-40B4-BE49-F238E27FC236}">
                <a16:creationId xmlns:a16="http://schemas.microsoft.com/office/drawing/2014/main" id="{65772347-384D-4AD2-A0EF-91F36D42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14700"/>
            <a:ext cx="426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ui-368">
            <a:extLst xmlns:a="http://schemas.openxmlformats.org/drawingml/2006/main">
              <a:ext uri="{FF2B5EF4-FFF2-40B4-BE49-F238E27FC236}">
                <a16:creationId xmlns:a16="http://schemas.microsoft.com/office/drawing/2014/main" id="{1BB14F3D-24DC-4C37-B316-E0477C91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95700"/>
            <a:ext cx="256032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Construction cost</a:t>
            </a:r>
          </a:p>
        </p:txBody>
      </p:sp>
      <p:sp>
        <p:nvSpPr>
          <p:cNvPr id="36" name="ui-369">
            <a:extLst xmlns:a="http://schemas.openxmlformats.org/drawingml/2006/main">
              <a:ext uri="{FF2B5EF4-FFF2-40B4-BE49-F238E27FC236}">
                <a16:creationId xmlns:a16="http://schemas.microsoft.com/office/drawing/2014/main" id="{96919CC3-81AF-4902-82C8-03082892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6632" y="3695700"/>
            <a:ext cx="1877568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Estimate</a:t>
            </a:r>
          </a:p>
        </p:txBody>
      </p:sp>
      <p:sp>
        <p:nvSpPr>
          <p:cNvPr id="37" name="ui-370">
            <a:extLst xmlns:a="http://schemas.openxmlformats.org/drawingml/2006/main">
              <a:ext uri="{FF2B5EF4-FFF2-40B4-BE49-F238E27FC236}">
                <a16:creationId xmlns:a16="http://schemas.microsoft.com/office/drawing/2014/main" id="{BCCDA520-76ED-4964-93C5-592462B2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14800"/>
            <a:ext cx="426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ui-371">
            <a:extLst xmlns:a="http://schemas.openxmlformats.org/drawingml/2006/main">
              <a:ext uri="{FF2B5EF4-FFF2-40B4-BE49-F238E27FC236}">
                <a16:creationId xmlns:a16="http://schemas.microsoft.com/office/drawing/2014/main" id="{D69CF4F8-F326-403A-A9C1-9684AE86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43400"/>
            <a:ext cx="256032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Daily upkeep</a:t>
            </a:r>
          </a:p>
        </p:txBody>
      </p:sp>
      <p:sp>
        <p:nvSpPr>
          <p:cNvPr id="39" name="ui-372">
            <a:extLst xmlns:a="http://schemas.openxmlformats.org/drawingml/2006/main">
              <a:ext uri="{FF2B5EF4-FFF2-40B4-BE49-F238E27FC236}">
                <a16:creationId xmlns:a16="http://schemas.microsoft.com/office/drawing/2014/main" id="{F8FED33B-B248-468C-98BF-185EAE04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6632" y="4343400"/>
            <a:ext cx="1877568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Estimate</a:t>
            </a:r>
          </a:p>
        </p:txBody>
      </p:sp>
      <p:sp>
        <p:nvSpPr>
          <p:cNvPr id="40" name="ui-373">
            <a:extLst xmlns:a="http://schemas.openxmlformats.org/drawingml/2006/main">
              <a:ext uri="{FF2B5EF4-FFF2-40B4-BE49-F238E27FC236}">
                <a16:creationId xmlns:a16="http://schemas.microsoft.com/office/drawing/2014/main" id="{694A7E4B-20AC-4825-BBCA-9027423D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62500"/>
            <a:ext cx="426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ui-374">
            <a:extLst xmlns:a="http://schemas.openxmlformats.org/drawingml/2006/main">
              <a:ext uri="{FF2B5EF4-FFF2-40B4-BE49-F238E27FC236}">
                <a16:creationId xmlns:a16="http://schemas.microsoft.com/office/drawing/2014/main" id="{3BB34E51-1A40-4987-A9F6-90ACAC31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91100"/>
            <a:ext cx="256032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Current funds</a:t>
            </a:r>
          </a:p>
        </p:txBody>
      </p:sp>
      <p:sp>
        <p:nvSpPr>
          <p:cNvPr id="42" name="ui-375">
            <a:extLst xmlns:a="http://schemas.openxmlformats.org/drawingml/2006/main">
              <a:ext uri="{FF2B5EF4-FFF2-40B4-BE49-F238E27FC236}">
                <a16:creationId xmlns:a16="http://schemas.microsoft.com/office/drawing/2014/main" id="{48A6780C-F7DE-4A87-B888-062CE8C9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6632" y="4991100"/>
            <a:ext cx="1877568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$12,000</a:t>
            </a:r>
          </a:p>
        </p:txBody>
      </p:sp>
      <p:sp>
        <p:nvSpPr>
          <p:cNvPr id="43" name="ui-376">
            <a:extLst xmlns:a="http://schemas.openxmlformats.org/drawingml/2006/main">
              <a:ext uri="{FF2B5EF4-FFF2-40B4-BE49-F238E27FC236}">
                <a16:creationId xmlns:a16="http://schemas.microsoft.com/office/drawing/2014/main" id="{D1B44193-81EC-4727-93AA-3A6BDE0B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10200"/>
            <a:ext cx="426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ui-377">
            <a:extLst xmlns:a="http://schemas.openxmlformats.org/drawingml/2006/main">
              <a:ext uri="{FF2B5EF4-FFF2-40B4-BE49-F238E27FC236}">
                <a16:creationId xmlns:a16="http://schemas.microsoft.com/office/drawing/2014/main" id="{F4AD6AEF-B8DD-40DB-A572-65888E03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29300"/>
            <a:ext cx="4267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B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ui-378">
            <a:extLst xmlns:a="http://schemas.openxmlformats.org/drawingml/2006/main">
              <a:ext uri="{FF2B5EF4-FFF2-40B4-BE49-F238E27FC236}">
                <a16:creationId xmlns:a16="http://schemas.microsoft.com/office/drawing/2014/main" id="{4661879E-BEF0-4E9F-B977-E33C58F3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876925"/>
            <a:ext cx="407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Footprint and floors lock</a:t>
            </a:r>
          </a:p>
        </p:txBody>
      </p:sp>
      <p:sp>
        <p:nvSpPr>
          <p:cNvPr id="46" name="ui-379">
            <a:extLst xmlns:a="http://schemas.openxmlformats.org/drawingml/2006/main">
              <a:ext uri="{FF2B5EF4-FFF2-40B4-BE49-F238E27FC236}">
                <a16:creationId xmlns:a16="http://schemas.microsoft.com/office/drawing/2014/main" id="{7282B229-E641-4B95-9729-D6883217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838950"/>
            <a:ext cx="4267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ui-380">
            <a:extLst xmlns:a="http://schemas.openxmlformats.org/drawingml/2006/main">
              <a:ext uri="{FF2B5EF4-FFF2-40B4-BE49-F238E27FC236}">
                <a16:creationId xmlns:a16="http://schemas.microsoft.com/office/drawing/2014/main" id="{1ABB4BBB-1334-4C4C-A054-243DC866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800850"/>
            <a:ext cx="4267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48" name="ui-381">
            <a:extLst xmlns:a="http://schemas.openxmlformats.org/drawingml/2006/main">
              <a:ext uri="{FF2B5EF4-FFF2-40B4-BE49-F238E27FC236}">
                <a16:creationId xmlns:a16="http://schemas.microsoft.com/office/drawing/2014/main" id="{9605267A-9571-4D5F-BA75-A8A975E0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877050"/>
            <a:ext cx="403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rPr>
              <a:t>Confirm construction</a:t>
            </a:r>
          </a:p>
        </p:txBody>
      </p:sp>
      <p:sp>
        <p:nvSpPr>
          <p:cNvPr id="49" name="ui-382">
            <a:extLst xmlns:a="http://schemas.openxmlformats.org/drawingml/2006/main">
              <a:ext uri="{FF2B5EF4-FFF2-40B4-BE49-F238E27FC236}">
                <a16:creationId xmlns:a16="http://schemas.microsoft.com/office/drawing/2014/main" id="{06C9C586-9AD3-426A-8F2D-F9DE0399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715250"/>
            <a:ext cx="4267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Review the estimate before building.</a:t>
            </a:r>
          </a:p>
        </p:txBody>
      </p:sp>
    </p:spTree>
    <p:extLst>
      <p:ext uri="{BB962C8B-B14F-4D97-AF65-F5344CB8AC3E}">
        <p14:creationId xmlns:p14="http://schemas.microsoft.com/office/powerpoint/2010/main" val="319981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52E50C-F0A2-4571-BF75-6E4584E504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7856b8e434ba4"/>
          <a:stretch xmlns:a="http://schemas.openxmlformats.org/drawingml/2006/main"/>
        </p:blipFill>
        <p:spPr>
          <a:xfrm xmlns:a="http://schemas.openxmlformats.org/drawingml/2006/main">
            <a:off x="457200" y="266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ui-383">
            <a:extLst xmlns:a="http://schemas.openxmlformats.org/drawingml/2006/main">
              <a:ext uri="{FF2B5EF4-FFF2-40B4-BE49-F238E27FC236}">
                <a16:creationId xmlns:a16="http://schemas.microsoft.com/office/drawing/2014/main" id="{77C43F44-5BDE-448D-ACE4-E4FC3C24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10001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Building Management Tycoon</a:t>
            </a:r>
          </a:p>
        </p:txBody>
      </p:sp>
      <p:sp>
        <p:nvSpPr>
          <p:cNvPr id="3" name="ui-384">
            <a:extLst xmlns:a="http://schemas.openxmlformats.org/drawingml/2006/main">
              <a:ext uri="{FF2B5EF4-FFF2-40B4-BE49-F238E27FC236}">
                <a16:creationId xmlns:a16="http://schemas.microsoft.com/office/drawing/2014/main" id="{EA5386D3-2157-4955-886B-BB0D2A1F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3850"/>
            <a:ext cx="1219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12 / 16</a:t>
            </a:r>
          </a:p>
        </p:txBody>
      </p:sp>
      <p:sp>
        <p:nvSpPr>
          <p:cNvPr id="4" name="ui-385">
            <a:extLst xmlns:a="http://schemas.openxmlformats.org/drawingml/2006/main">
              <a:ext uri="{FF2B5EF4-FFF2-40B4-BE49-F238E27FC236}">
                <a16:creationId xmlns:a16="http://schemas.microsoft.com/office/drawing/2014/main" id="{17B12C8B-2F02-4EE0-B11A-89F32A33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i-386">
            <a:extLst xmlns:a="http://schemas.openxmlformats.org/drawingml/2006/main">
              <a:ext uri="{FF2B5EF4-FFF2-40B4-BE49-F238E27FC236}">
                <a16:creationId xmlns:a16="http://schemas.microsoft.com/office/drawing/2014/main" id="{26336A39-F669-47A8-87FB-073F7854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432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12  Building and floor management</a:t>
            </a:r>
          </a:p>
        </p:txBody>
      </p:sp>
      <p:sp>
        <p:nvSpPr>
          <p:cNvPr id="6" name="ui-387">
            <a:extLst xmlns:a="http://schemas.openxmlformats.org/drawingml/2006/main">
              <a:ext uri="{FF2B5EF4-FFF2-40B4-BE49-F238E27FC236}">
                <a16:creationId xmlns:a16="http://schemas.microsoft.com/office/drawing/2014/main" id="{B6ED5E38-D66E-4EEC-B845-1AF4BDF3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48750"/>
            <a:ext cx="138684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Game design reference. Economy values and district names are examples.</a:t>
            </a:r>
          </a:p>
        </p:txBody>
      </p:sp>
      <p:sp>
        <p:nvSpPr>
          <p:cNvPr id="7" name="ui-388">
            <a:extLst xmlns:a="http://schemas.openxmlformats.org/drawingml/2006/main">
              <a:ext uri="{FF2B5EF4-FFF2-40B4-BE49-F238E27FC236}">
                <a16:creationId xmlns:a16="http://schemas.microsoft.com/office/drawing/2014/main" id="{92BDBC59-0A2E-4067-A5F4-5D715F72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9144000" cy="6477000"/>
          </a:xfrm>
          <a:prstGeom xmlns:a="http://schemas.openxmlformats.org/drawingml/2006/main" prst="roundRect">
            <a:avLst>
              <a:gd name="adj" fmla="val 2647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8" name="ui-389">
            <a:extLst xmlns:a="http://schemas.openxmlformats.org/drawingml/2006/main">
              <a:ext uri="{FF2B5EF4-FFF2-40B4-BE49-F238E27FC236}">
                <a16:creationId xmlns:a16="http://schemas.microsoft.com/office/drawing/2014/main" id="{8A96E2D1-7601-4DC4-912B-C7E9D8DB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0960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Amber Apartments</a:t>
            </a:r>
          </a:p>
        </p:txBody>
      </p:sp>
      <p:sp>
        <p:nvSpPr>
          <p:cNvPr id="9" name="ui-390">
            <a:extLst xmlns:a="http://schemas.openxmlformats.org/drawingml/2006/main">
              <a:ext uri="{FF2B5EF4-FFF2-40B4-BE49-F238E27FC236}">
                <a16:creationId xmlns:a16="http://schemas.microsoft.com/office/drawing/2014/main" id="{522D4864-73F9-402A-BFB9-9FEC477F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0960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Tap a room / drag to pan</a:t>
            </a:r>
          </a:p>
        </p:txBody>
      </p:sp>
      <p:sp>
        <p:nvSpPr>
          <p:cNvPr id="10" name="ui-391">
            <a:extLst xmlns:a="http://schemas.openxmlformats.org/drawingml/2006/main">
              <a:ext uri="{FF2B5EF4-FFF2-40B4-BE49-F238E27FC236}">
                <a16:creationId xmlns:a16="http://schemas.microsoft.com/office/drawing/2014/main" id="{FD04F8ED-D5B0-471A-A69B-839C806E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533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03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C883B-0874-4B7D-8304-D99C6CE523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f1344da544134"/>
          <a:srcRect xmlns:a="http://schemas.openxmlformats.org/drawingml/2006/main" l="600" t="15400" r="50400" b="50400"/>
          <a:stretch xmlns:a="http://schemas.openxmlformats.org/drawingml/2006/main"/>
        </p:blipFill>
        <p:spPr>
          <a:xfrm xmlns:a="http://schemas.openxmlformats.org/drawingml/2006/main">
            <a:off x="1409700" y="3009900"/>
            <a:ext cx="2057400" cy="13716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ECE64-3FE3-4409-8029-BB2E401767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ae173e0264897"/>
          <a:srcRect xmlns:a="http://schemas.openxmlformats.org/drawingml/2006/main" l="600" t="15400" r="50400" b="50400"/>
          <a:stretch xmlns:a="http://schemas.openxmlformats.org/drawingml/2006/main"/>
        </p:blipFill>
        <p:spPr>
          <a:xfrm xmlns:a="http://schemas.openxmlformats.org/drawingml/2006/main">
            <a:off x="3543300" y="3009900"/>
            <a:ext cx="2057400" cy="1371600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DC1AD-1824-419F-9C5D-2D25978620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22302dc954549"/>
          <a:srcRect xmlns:a="http://schemas.openxmlformats.org/drawingml/2006/main" l="61800" t="13200" r="400" b="52100"/>
          <a:stretch xmlns:a="http://schemas.openxmlformats.org/drawingml/2006/main"/>
        </p:blipFill>
        <p:spPr>
          <a:xfrm xmlns:a="http://schemas.openxmlformats.org/drawingml/2006/main">
            <a:off x="5905500" y="3009900"/>
            <a:ext cx="1524000" cy="1371600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4E58C-ABAD-46AE-A8E9-04AD8C6037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f9f78a8dc4c5c"/>
          <a:srcRect xmlns:a="http://schemas.openxmlformats.org/drawingml/2006/main" l="51200" t="50200" r="2400" b="12900"/>
          <a:stretch xmlns:a="http://schemas.openxmlformats.org/drawingml/2006/main"/>
        </p:blipFill>
        <p:spPr>
          <a:xfrm xmlns:a="http://schemas.openxmlformats.org/drawingml/2006/main">
            <a:off x="7734300" y="3009900"/>
            <a:ext cx="1485900" cy="1371600"/>
          </a:xfrm>
          <a:prstGeom xmlns:a="http://schemas.openxmlformats.org/drawingml/2006/main" prst="rect">
            <a:avLst/>
          </a:prstGeom>
        </p:spPr>
      </p:pic>
      <p:sp>
        <p:nvSpPr>
          <p:cNvPr id="15" name="ui-392">
            <a:extLst xmlns:a="http://schemas.openxmlformats.org/drawingml/2006/main">
              <a:ext uri="{FF2B5EF4-FFF2-40B4-BE49-F238E27FC236}">
                <a16:creationId xmlns:a16="http://schemas.microsoft.com/office/drawing/2014/main" id="{961F4F52-F293-4719-9984-53193616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533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02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0E68D-DC27-4CEC-B068-623D03F1DA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25710c2f04aa0"/>
          <a:srcRect xmlns:a="http://schemas.openxmlformats.org/drawingml/2006/main" l="600" t="15400" r="50400" b="50400"/>
          <a:stretch xmlns:a="http://schemas.openxmlformats.org/drawingml/2006/main"/>
        </p:blipFill>
        <p:spPr>
          <a:xfrm xmlns:a="http://schemas.openxmlformats.org/drawingml/2006/main">
            <a:off x="1409700" y="4381500"/>
            <a:ext cx="2057400" cy="1371600"/>
          </a:xfrm>
          <a:prstGeom xmlns:a="http://schemas.openxmlformats.org/drawingml/2006/main" prst="rect">
            <a:avLst/>
          </a:prstGeom>
        </p:spPr>
      </p:pic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54810-7DA8-4B34-BDE7-267BACB4A3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f8987e12141b4"/>
          <a:srcRect xmlns:a="http://schemas.openxmlformats.org/drawingml/2006/main" l="600" t="15400" r="50400" b="50400"/>
          <a:stretch xmlns:a="http://schemas.openxmlformats.org/drawingml/2006/main"/>
        </p:blipFill>
        <p:spPr>
          <a:xfrm xmlns:a="http://schemas.openxmlformats.org/drawingml/2006/main">
            <a:off x="3543300" y="4381500"/>
            <a:ext cx="2057400" cy="1371600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F8281-BA82-4AE4-9731-39D175428C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0bd19bde24e4c"/>
          <a:srcRect xmlns:a="http://schemas.openxmlformats.org/drawingml/2006/main" l="61800" t="13200" r="400" b="52100"/>
          <a:stretch xmlns:a="http://schemas.openxmlformats.org/drawingml/2006/main"/>
        </p:blipFill>
        <p:spPr>
          <a:xfrm xmlns:a="http://schemas.openxmlformats.org/drawingml/2006/main">
            <a:off x="5905500" y="4381500"/>
            <a:ext cx="1524000" cy="1371600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780B57-B8C3-477C-8426-8E0261400E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b5ab67cd84ef4"/>
          <a:srcRect xmlns:a="http://schemas.openxmlformats.org/drawingml/2006/main" l="51200" t="50200" r="2400" b="12900"/>
          <a:stretch xmlns:a="http://schemas.openxmlformats.org/drawingml/2006/main"/>
        </p:blipFill>
        <p:spPr>
          <a:xfrm xmlns:a="http://schemas.openxmlformats.org/drawingml/2006/main">
            <a:off x="7734300" y="4381500"/>
            <a:ext cx="1485900" cy="1371600"/>
          </a:xfrm>
          <a:prstGeom xmlns:a="http://schemas.openxmlformats.org/drawingml/2006/main" prst="rect">
            <a:avLst/>
          </a:prstGeom>
        </p:spPr>
      </p:pic>
      <p:sp>
        <p:nvSpPr>
          <p:cNvPr id="20" name="ui-393">
            <a:extLst xmlns:a="http://schemas.openxmlformats.org/drawingml/2006/main">
              <a:ext uri="{FF2B5EF4-FFF2-40B4-BE49-F238E27FC236}">
                <a16:creationId xmlns:a16="http://schemas.microsoft.com/office/drawing/2014/main" id="{27EF1FC7-CE74-4FD5-96B1-9083770C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533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01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794194-BA6C-44CC-94AB-38FC7E66A1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2dfb02633486f"/>
          <a:srcRect xmlns:a="http://schemas.openxmlformats.org/drawingml/2006/main" l="600" t="15400" r="50400" b="50400"/>
          <a:stretch xmlns:a="http://schemas.openxmlformats.org/drawingml/2006/main"/>
        </p:blipFill>
        <p:spPr>
          <a:xfrm xmlns:a="http://schemas.openxmlformats.org/drawingml/2006/main">
            <a:off x="1409700" y="5753100"/>
            <a:ext cx="2057400" cy="1371600"/>
          </a:xfrm>
          <a:prstGeom xmlns:a="http://schemas.openxmlformats.org/drawingml/2006/main" prst="rect">
            <a:avLst/>
          </a:prstGeom>
        </p:spPr>
      </p:pic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EC2BC3-2AA5-496B-A6C9-7862A40852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0cd568c0244ce8"/>
          <a:srcRect xmlns:a="http://schemas.openxmlformats.org/drawingml/2006/main" l="600" t="15400" r="50400" b="50400"/>
          <a:stretch xmlns:a="http://schemas.openxmlformats.org/drawingml/2006/main"/>
        </p:blipFill>
        <p:spPr>
          <a:xfrm xmlns:a="http://schemas.openxmlformats.org/drawingml/2006/main">
            <a:off x="3543300" y="5753100"/>
            <a:ext cx="2057400" cy="1371600"/>
          </a:xfrm>
          <a:prstGeom xmlns:a="http://schemas.openxmlformats.org/drawingml/2006/main" prst="rect">
            <a:avLst/>
          </a:prstGeom>
        </p:spPr>
      </p:pic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B80EF7-2E67-4F99-98F7-51CC8FA17F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ee440e1dd40af"/>
          <a:srcRect xmlns:a="http://schemas.openxmlformats.org/drawingml/2006/main" l="61800" t="13200" r="400" b="52100"/>
          <a:stretch xmlns:a="http://schemas.openxmlformats.org/drawingml/2006/main"/>
        </p:blipFill>
        <p:spPr>
          <a:xfrm xmlns:a="http://schemas.openxmlformats.org/drawingml/2006/main">
            <a:off x="5905500" y="5753100"/>
            <a:ext cx="1524000" cy="1371600"/>
          </a:xfrm>
          <a:prstGeom xmlns:a="http://schemas.openxmlformats.org/drawingml/2006/main" prst="rect">
            <a:avLst/>
          </a:prstGeom>
        </p:spPr>
      </p:pic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9F57B4-939F-46B3-B9C1-0C5A35C6A2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f77ae6fbe4225"/>
          <a:srcRect xmlns:a="http://schemas.openxmlformats.org/drawingml/2006/main" l="51200" t="50200" r="2400" b="12900"/>
          <a:stretch xmlns:a="http://schemas.openxmlformats.org/drawingml/2006/main"/>
        </p:blipFill>
        <p:spPr>
          <a:xfrm xmlns:a="http://schemas.openxmlformats.org/drawingml/2006/main">
            <a:off x="7734300" y="5753100"/>
            <a:ext cx="1485900" cy="1371600"/>
          </a:xfrm>
          <a:prstGeom xmlns:a="http://schemas.openxmlformats.org/drawingml/2006/main" prst="rect">
            <a:avLst/>
          </a:prstGeom>
        </p:spPr>
      </p:pic>
      <p:sp>
        <p:nvSpPr>
          <p:cNvPr id="25" name="ui-394">
            <a:extLst xmlns:a="http://schemas.openxmlformats.org/drawingml/2006/main">
              <a:ext uri="{FF2B5EF4-FFF2-40B4-BE49-F238E27FC236}">
                <a16:creationId xmlns:a16="http://schemas.microsoft.com/office/drawing/2014/main" id="{6E63DF7E-5456-4507-B450-654F3828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39050"/>
            <a:ext cx="533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B1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428846-F412-4AC3-AFED-EBAE126C1A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154d1a94f47ff"/>
          <a:srcRect xmlns:a="http://schemas.openxmlformats.org/drawingml/2006/main" l="400" t="13500" r="38900" b="52100"/>
          <a:stretch xmlns:a="http://schemas.openxmlformats.org/drawingml/2006/main"/>
        </p:blipFill>
        <p:spPr>
          <a:xfrm xmlns:a="http://schemas.openxmlformats.org/drawingml/2006/main">
            <a:off x="1409700" y="7124700"/>
            <a:ext cx="2514600" cy="1371600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53AF86-6585-4DE8-8C64-AB96C2B98C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0ce5d9fcf4e25"/>
          <a:srcRect xmlns:a="http://schemas.openxmlformats.org/drawingml/2006/main" l="400" t="13500" r="38900" b="52100"/>
          <a:stretch xmlns:a="http://schemas.openxmlformats.org/drawingml/2006/main"/>
        </p:blipFill>
        <p:spPr>
          <a:xfrm xmlns:a="http://schemas.openxmlformats.org/drawingml/2006/main">
            <a:off x="4038600" y="7124700"/>
            <a:ext cx="2514600" cy="1371600"/>
          </a:xfrm>
          <a:prstGeom xmlns:a="http://schemas.openxmlformats.org/drawingml/2006/main" prst="rect">
            <a:avLst/>
          </a:prstGeom>
        </p:spPr>
      </p:pic>
      <p:sp>
        <p:nvSpPr>
          <p:cNvPr id="28" name="ui-395">
            <a:extLst xmlns:a="http://schemas.openxmlformats.org/drawingml/2006/main">
              <a:ext uri="{FF2B5EF4-FFF2-40B4-BE49-F238E27FC236}">
                <a16:creationId xmlns:a16="http://schemas.microsoft.com/office/drawing/2014/main" id="{CE47BAFB-3CF2-4BAE-AD2D-FA7338A6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62450"/>
            <a:ext cx="2171700" cy="1409700"/>
          </a:xfrm>
          <a:prstGeom xmlns:a="http://schemas.openxmlformats.org/drawingml/2006/main" prst="roundRect">
            <a:avLst>
              <a:gd name="adj" fmla="val 5405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237563"/>
            </a:solidFill>
            <a:prstDash val="solid"/>
          </a:ln>
        </p:spPr>
      </p:sp>
      <p:sp>
        <p:nvSpPr>
          <p:cNvPr id="29" name="ui-396">
            <a:extLst xmlns:a="http://schemas.openxmlformats.org/drawingml/2006/main">
              <a:ext uri="{FF2B5EF4-FFF2-40B4-BE49-F238E27FC236}">
                <a16:creationId xmlns:a16="http://schemas.microsoft.com/office/drawing/2014/main" id="{D9E4A0FB-A0AE-4DF6-95C6-53F71088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95500"/>
            <a:ext cx="4876800" cy="6477000"/>
          </a:xfrm>
          <a:prstGeom xmlns:a="http://schemas.openxmlformats.org/drawingml/2006/main" prst="roundRect">
            <a:avLst>
              <a:gd name="adj" fmla="val 3516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30" name="ui-397">
            <a:extLst xmlns:a="http://schemas.openxmlformats.org/drawingml/2006/main">
              <a:ext uri="{FF2B5EF4-FFF2-40B4-BE49-F238E27FC236}">
                <a16:creationId xmlns:a16="http://schemas.microsoft.com/office/drawing/2014/main" id="{D872FF93-4536-4951-BAD5-B39B9B26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86000"/>
            <a:ext cx="44196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Floor 02 / Room 0201</a:t>
            </a:r>
          </a:p>
        </p:txBody>
      </p:sp>
      <p:sp>
        <p:nvSpPr>
          <p:cNvPr id="31" name="ui-398">
            <a:extLst xmlns:a="http://schemas.openxmlformats.org/drawingml/2006/main">
              <a:ext uri="{FF2B5EF4-FFF2-40B4-BE49-F238E27FC236}">
                <a16:creationId xmlns:a16="http://schemas.microsoft.com/office/drawing/2014/main" id="{711326AA-362A-407D-8EC9-1022A26C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743200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6D69A0-12D5-4492-A853-FD7DA1FFCE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b822bb6304666"/>
          <a:srcRect xmlns:a="http://schemas.openxmlformats.org/drawingml/2006/main" l="600" t="15400" r="50400" b="50400"/>
          <a:stretch xmlns:a="http://schemas.openxmlformats.org/drawingml/2006/main"/>
        </p:blipFill>
        <p:spPr>
          <a:xfrm xmlns:a="http://schemas.openxmlformats.org/drawingml/2006/main">
            <a:off x="10134600" y="3105150"/>
            <a:ext cx="4419600" cy="2400300"/>
          </a:xfrm>
          <a:prstGeom xmlns:a="http://schemas.openxmlformats.org/drawingml/2006/main" prst="rect">
            <a:avLst/>
          </a:prstGeom>
        </p:spPr>
      </p:pic>
      <p:sp>
        <p:nvSpPr>
          <p:cNvPr id="33" name="ui-399">
            <a:extLst xmlns:a="http://schemas.openxmlformats.org/drawingml/2006/main">
              <a:ext uri="{FF2B5EF4-FFF2-40B4-BE49-F238E27FC236}">
                <a16:creationId xmlns:a16="http://schemas.microsoft.com/office/drawing/2014/main" id="{0FFAD97F-98FE-41BB-AF8F-66ED071B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734050"/>
            <a:ext cx="1828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ui-400">
            <a:extLst xmlns:a="http://schemas.openxmlformats.org/drawingml/2006/main">
              <a:ext uri="{FF2B5EF4-FFF2-40B4-BE49-F238E27FC236}">
                <a16:creationId xmlns:a16="http://schemas.microsoft.com/office/drawing/2014/main" id="{3AA41F3E-00F8-4970-B3B4-7F26467C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78167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rPr>
              <a:t>Occupied</a:t>
            </a:r>
          </a:p>
        </p:txBody>
      </p:sp>
      <p:sp>
        <p:nvSpPr>
          <p:cNvPr id="35" name="ui-401">
            <a:extLst xmlns:a="http://schemas.openxmlformats.org/drawingml/2006/main">
              <a:ext uri="{FF2B5EF4-FFF2-40B4-BE49-F238E27FC236}">
                <a16:creationId xmlns:a16="http://schemas.microsoft.com/office/drawing/2014/main" id="{7EA71F25-5EB9-4074-BC1D-AACC447D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362700"/>
            <a:ext cx="265176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Tenant</a:t>
            </a:r>
          </a:p>
        </p:txBody>
      </p:sp>
      <p:sp>
        <p:nvSpPr>
          <p:cNvPr id="36" name="ui-402">
            <a:extLst xmlns:a="http://schemas.openxmlformats.org/drawingml/2006/main">
              <a:ext uri="{FF2B5EF4-FFF2-40B4-BE49-F238E27FC236}">
                <a16:creationId xmlns:a16="http://schemas.microsoft.com/office/drawing/2014/main" id="{C7A71EA3-B204-4E09-8721-5657EE2A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9576" y="6362700"/>
            <a:ext cx="1944624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Maya</a:t>
            </a:r>
          </a:p>
        </p:txBody>
      </p:sp>
      <p:sp>
        <p:nvSpPr>
          <p:cNvPr id="37" name="ui-403">
            <a:extLst xmlns:a="http://schemas.openxmlformats.org/drawingml/2006/main">
              <a:ext uri="{FF2B5EF4-FFF2-40B4-BE49-F238E27FC236}">
                <a16:creationId xmlns:a16="http://schemas.microsoft.com/office/drawing/2014/main" id="{C335E4EC-F6E6-45B4-BDD3-34D40DAB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781800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ui-404">
            <a:extLst xmlns:a="http://schemas.openxmlformats.org/drawingml/2006/main">
              <a:ext uri="{FF2B5EF4-FFF2-40B4-BE49-F238E27FC236}">
                <a16:creationId xmlns:a16="http://schemas.microsoft.com/office/drawing/2014/main" id="{645E82B0-A460-48EB-91EA-06C121CF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991350"/>
            <a:ext cx="265176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Parking</a:t>
            </a:r>
          </a:p>
        </p:txBody>
      </p:sp>
      <p:sp>
        <p:nvSpPr>
          <p:cNvPr id="39" name="ui-405">
            <a:extLst xmlns:a="http://schemas.openxmlformats.org/drawingml/2006/main">
              <a:ext uri="{FF2B5EF4-FFF2-40B4-BE49-F238E27FC236}">
                <a16:creationId xmlns:a16="http://schemas.microsoft.com/office/drawing/2014/main" id="{984A1ED9-7677-4DA4-B1F2-2B2AABD2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9576" y="6991350"/>
            <a:ext cx="1944624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Available</a:t>
            </a:r>
          </a:p>
        </p:txBody>
      </p:sp>
      <p:sp>
        <p:nvSpPr>
          <p:cNvPr id="40" name="ui-406">
            <a:extLst xmlns:a="http://schemas.openxmlformats.org/drawingml/2006/main">
              <a:ext uri="{FF2B5EF4-FFF2-40B4-BE49-F238E27FC236}">
                <a16:creationId xmlns:a16="http://schemas.microsoft.com/office/drawing/2014/main" id="{2338D97F-2382-4074-8DFC-2FDEB9E2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7410450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ui-407">
            <a:extLst xmlns:a="http://schemas.openxmlformats.org/drawingml/2006/main">
              <a:ext uri="{FF2B5EF4-FFF2-40B4-BE49-F238E27FC236}">
                <a16:creationId xmlns:a16="http://schemas.microsoft.com/office/drawing/2014/main" id="{862BC33D-2767-4E07-A224-50A9AFA8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7791450"/>
            <a:ext cx="4419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ui-408">
            <a:extLst xmlns:a="http://schemas.openxmlformats.org/drawingml/2006/main">
              <a:ext uri="{FF2B5EF4-FFF2-40B4-BE49-F238E27FC236}">
                <a16:creationId xmlns:a16="http://schemas.microsoft.com/office/drawing/2014/main" id="{F73A7457-83EB-4EEC-B5B5-D9476D00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7753350"/>
            <a:ext cx="4419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43" name="ui-409">
            <a:extLst xmlns:a="http://schemas.openxmlformats.org/drawingml/2006/main">
              <a:ext uri="{FF2B5EF4-FFF2-40B4-BE49-F238E27FC236}">
                <a16:creationId xmlns:a16="http://schemas.microsoft.com/office/drawing/2014/main" id="{133BF19E-21D7-4BD6-8855-DFC3BD1B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78295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rPr>
              <a:t>View tenant</a:t>
            </a:r>
          </a:p>
        </p:txBody>
      </p:sp>
    </p:spTree>
    <p:extLst>
      <p:ext uri="{BB962C8B-B14F-4D97-AF65-F5344CB8AC3E}">
        <p14:creationId xmlns:p14="http://schemas.microsoft.com/office/powerpoint/2010/main" val="17597542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E8D9FE-4AE9-4ECA-8950-9710F2DC81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efe5f83c64b75"/>
          <a:stretch xmlns:a="http://schemas.openxmlformats.org/drawingml/2006/main"/>
        </p:blipFill>
        <p:spPr>
          <a:xfrm xmlns:a="http://schemas.openxmlformats.org/drawingml/2006/main">
            <a:off x="457200" y="266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ui-410">
            <a:extLst xmlns:a="http://schemas.openxmlformats.org/drawingml/2006/main">
              <a:ext uri="{FF2B5EF4-FFF2-40B4-BE49-F238E27FC236}">
                <a16:creationId xmlns:a16="http://schemas.microsoft.com/office/drawing/2014/main" id="{8A6D5E70-8BA8-48EB-8752-D89F3ACC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10001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Building Management Tycoon</a:t>
            </a:r>
          </a:p>
        </p:txBody>
      </p:sp>
      <p:sp>
        <p:nvSpPr>
          <p:cNvPr id="3" name="ui-411">
            <a:extLst xmlns:a="http://schemas.openxmlformats.org/drawingml/2006/main">
              <a:ext uri="{FF2B5EF4-FFF2-40B4-BE49-F238E27FC236}">
                <a16:creationId xmlns:a16="http://schemas.microsoft.com/office/drawing/2014/main" id="{405977CA-E2E0-4896-AFF7-97579AED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3850"/>
            <a:ext cx="1219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13 / 16</a:t>
            </a:r>
          </a:p>
        </p:txBody>
      </p:sp>
      <p:sp>
        <p:nvSpPr>
          <p:cNvPr id="4" name="ui-412">
            <a:extLst xmlns:a="http://schemas.openxmlformats.org/drawingml/2006/main">
              <a:ext uri="{FF2B5EF4-FFF2-40B4-BE49-F238E27FC236}">
                <a16:creationId xmlns:a16="http://schemas.microsoft.com/office/drawing/2014/main" id="{66B0D3DC-7E8F-4880-9E7F-995B133A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i-413">
            <a:extLst xmlns:a="http://schemas.openxmlformats.org/drawingml/2006/main">
              <a:ext uri="{FF2B5EF4-FFF2-40B4-BE49-F238E27FC236}">
                <a16:creationId xmlns:a16="http://schemas.microsoft.com/office/drawing/2014/main" id="{3C78507B-7A56-4078-B2B2-97E26025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432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13  Tenants and parking</a:t>
            </a:r>
          </a:p>
        </p:txBody>
      </p:sp>
      <p:sp>
        <p:nvSpPr>
          <p:cNvPr id="6" name="ui-414">
            <a:extLst xmlns:a="http://schemas.openxmlformats.org/drawingml/2006/main">
              <a:ext uri="{FF2B5EF4-FFF2-40B4-BE49-F238E27FC236}">
                <a16:creationId xmlns:a16="http://schemas.microsoft.com/office/drawing/2014/main" id="{AD187683-8B1A-4D64-A35B-37738C6D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48750"/>
            <a:ext cx="138684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Game design reference. Economy values and district names are examples.</a:t>
            </a:r>
          </a:p>
        </p:txBody>
      </p:sp>
      <p:sp>
        <p:nvSpPr>
          <p:cNvPr id="7" name="ui-415">
            <a:extLst xmlns:a="http://schemas.openxmlformats.org/drawingml/2006/main">
              <a:ext uri="{FF2B5EF4-FFF2-40B4-BE49-F238E27FC236}">
                <a16:creationId xmlns:a16="http://schemas.microsoft.com/office/drawing/2014/main" id="{06AD1949-B206-4D4A-8092-AFA11FE1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7010400" cy="6477000"/>
          </a:xfrm>
          <a:prstGeom xmlns:a="http://schemas.openxmlformats.org/drawingml/2006/main" prst="roundRect">
            <a:avLst>
              <a:gd name="adj" fmla="val 2647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8" name="ui-416">
            <a:extLst xmlns:a="http://schemas.openxmlformats.org/drawingml/2006/main">
              <a:ext uri="{FF2B5EF4-FFF2-40B4-BE49-F238E27FC236}">
                <a16:creationId xmlns:a16="http://schemas.microsoft.com/office/drawing/2014/main" id="{9AC6B21D-E7F8-45DC-A3BE-641D1B38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5532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Maya / Apartment resident</a:t>
            </a:r>
          </a:p>
        </p:txBody>
      </p:sp>
      <p:sp>
        <p:nvSpPr>
          <p:cNvPr id="9" name="ui-417">
            <a:extLst xmlns:a="http://schemas.openxmlformats.org/drawingml/2006/main">
              <a:ext uri="{FF2B5EF4-FFF2-40B4-BE49-F238E27FC236}">
                <a16:creationId xmlns:a16="http://schemas.microsoft.com/office/drawing/2014/main" id="{FFABD0B5-B1BC-4C1A-BB9E-E0FA072E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655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EADC8-EBF1-4F39-B39C-6F148AB114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d322b1cf454127"/>
          <a:srcRect xmlns:a="http://schemas.openxmlformats.org/drawingml/2006/main" l="0" t="0" r="66667" b="50000"/>
          <a:stretch xmlns:a="http://schemas.openxmlformats.org/drawingml/2006/main"/>
        </p:blipFill>
        <p:spPr>
          <a:xfrm xmlns:a="http://schemas.openxmlformats.org/drawingml/2006/main">
            <a:off x="838200" y="3105150"/>
            <a:ext cx="1981200" cy="342900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198CB-D4DE-44AF-AECE-A02B403748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5e9d070944b79"/>
          <a:srcRect xmlns:a="http://schemas.openxmlformats.org/drawingml/2006/main" l="600" t="15400" r="50400" b="50400"/>
          <a:stretch xmlns:a="http://schemas.openxmlformats.org/drawingml/2006/main"/>
        </p:blipFill>
        <p:spPr>
          <a:xfrm xmlns:a="http://schemas.openxmlformats.org/drawingml/2006/main">
            <a:off x="3162300" y="3505200"/>
            <a:ext cx="3848100" cy="2476500"/>
          </a:xfrm>
          <a:prstGeom xmlns:a="http://schemas.openxmlformats.org/drawingml/2006/main" prst="rect">
            <a:avLst/>
          </a:prstGeom>
        </p:spPr>
      </p:pic>
      <p:sp>
        <p:nvSpPr>
          <p:cNvPr id="12" name="ui-418">
            <a:extLst xmlns:a="http://schemas.openxmlformats.org/drawingml/2006/main">
              <a:ext uri="{FF2B5EF4-FFF2-40B4-BE49-F238E27FC236}">
                <a16:creationId xmlns:a16="http://schemas.microsoft.com/office/drawing/2014/main" id="{075CDCB7-EA21-4C09-916D-3560E31E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96100"/>
            <a:ext cx="1828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ui-419">
            <a:extLst xmlns:a="http://schemas.openxmlformats.org/drawingml/2006/main">
              <a:ext uri="{FF2B5EF4-FFF2-40B4-BE49-F238E27FC236}">
                <a16:creationId xmlns:a16="http://schemas.microsoft.com/office/drawing/2014/main" id="{335B0090-6B38-418C-BA80-EE8F71E3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94372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rPr>
              <a:t>Happy</a:t>
            </a:r>
          </a:p>
        </p:txBody>
      </p:sp>
      <p:sp>
        <p:nvSpPr>
          <p:cNvPr id="14" name="ui-420">
            <a:extLst xmlns:a="http://schemas.openxmlformats.org/drawingml/2006/main">
              <a:ext uri="{FF2B5EF4-FFF2-40B4-BE49-F238E27FC236}">
                <a16:creationId xmlns:a16="http://schemas.microsoft.com/office/drawing/2014/main" id="{3EDE93A5-B146-44F1-A7B7-02226B05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39050"/>
            <a:ext cx="6019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Room 0201 / Amber Apartments</a:t>
            </a:r>
          </a:p>
        </p:txBody>
      </p:sp>
      <p:sp>
        <p:nvSpPr>
          <p:cNvPr id="15" name="ui-421">
            <a:extLst xmlns:a="http://schemas.openxmlformats.org/drawingml/2006/main">
              <a:ext uri="{FF2B5EF4-FFF2-40B4-BE49-F238E27FC236}">
                <a16:creationId xmlns:a16="http://schemas.microsoft.com/office/drawing/2014/main" id="{7EF58767-69F4-4B58-9FEA-4150F653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5500"/>
            <a:ext cx="7010400" cy="6477000"/>
          </a:xfrm>
          <a:prstGeom xmlns:a="http://schemas.openxmlformats.org/drawingml/2006/main" prst="roundRect">
            <a:avLst>
              <a:gd name="adj" fmla="val 2647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16" name="ui-422">
            <a:extLst xmlns:a="http://schemas.openxmlformats.org/drawingml/2006/main">
              <a:ext uri="{FF2B5EF4-FFF2-40B4-BE49-F238E27FC236}">
                <a16:creationId xmlns:a16="http://schemas.microsoft.com/office/drawing/2014/main" id="{59C43221-7FCC-480F-A258-F29E6B07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65532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Parking capacity</a:t>
            </a:r>
          </a:p>
        </p:txBody>
      </p:sp>
      <p:sp>
        <p:nvSpPr>
          <p:cNvPr id="17" name="ui-423">
            <a:extLst xmlns:a="http://schemas.openxmlformats.org/drawingml/2006/main">
              <a:ext uri="{FF2B5EF4-FFF2-40B4-BE49-F238E27FC236}">
                <a16:creationId xmlns:a16="http://schemas.microsoft.com/office/drawing/2014/main" id="{C918D74A-11BD-4EFE-8493-B1CE0249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43200"/>
            <a:ext cx="655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85568F-1038-41A0-9BB1-01982B0045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e8543997a4ca6"/>
          <a:srcRect xmlns:a="http://schemas.openxmlformats.org/drawingml/2006/main" l="400" t="13500" r="38900" b="52100"/>
          <a:stretch xmlns:a="http://schemas.openxmlformats.org/drawingml/2006/main"/>
        </p:blipFill>
        <p:spPr>
          <a:xfrm xmlns:a="http://schemas.openxmlformats.org/drawingml/2006/main">
            <a:off x="8191500" y="3086100"/>
            <a:ext cx="6172200" cy="2705100"/>
          </a:xfrm>
          <a:prstGeom xmlns:a="http://schemas.openxmlformats.org/drawingml/2006/main" prst="rect">
            <a:avLst/>
          </a:prstGeom>
        </p:spPr>
      </p:pic>
      <p:sp>
        <p:nvSpPr>
          <p:cNvPr id="19" name="ui-424">
            <a:extLst xmlns:a="http://schemas.openxmlformats.org/drawingml/2006/main">
              <a:ext uri="{FF2B5EF4-FFF2-40B4-BE49-F238E27FC236}">
                <a16:creationId xmlns:a16="http://schemas.microsoft.com/office/drawing/2014/main" id="{D43B4AE0-3407-478A-978C-113E6303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15050"/>
            <a:ext cx="393192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Used spaces</a:t>
            </a:r>
          </a:p>
        </p:txBody>
      </p:sp>
      <p:sp>
        <p:nvSpPr>
          <p:cNvPr id="20" name="ui-425">
            <a:extLst xmlns:a="http://schemas.openxmlformats.org/drawingml/2006/main">
              <a:ext uri="{FF2B5EF4-FFF2-40B4-BE49-F238E27FC236}">
                <a16:creationId xmlns:a16="http://schemas.microsoft.com/office/drawing/2014/main" id="{F9C61F85-2436-43B3-A4E0-A0CC1E4D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0792" y="6115050"/>
            <a:ext cx="2883408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80 / 100</a:t>
            </a:r>
          </a:p>
        </p:txBody>
      </p:sp>
      <p:sp>
        <p:nvSpPr>
          <p:cNvPr id="21" name="ui-426">
            <a:extLst xmlns:a="http://schemas.openxmlformats.org/drawingml/2006/main">
              <a:ext uri="{FF2B5EF4-FFF2-40B4-BE49-F238E27FC236}">
                <a16:creationId xmlns:a16="http://schemas.microsoft.com/office/drawing/2014/main" id="{FECC5F6E-B014-44B4-96E2-D93984EC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34150"/>
            <a:ext cx="655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ui-427">
            <a:extLst xmlns:a="http://schemas.openxmlformats.org/drawingml/2006/main">
              <a:ext uri="{FF2B5EF4-FFF2-40B4-BE49-F238E27FC236}">
                <a16:creationId xmlns:a16="http://schemas.microsoft.com/office/drawing/2014/main" id="{788C310A-07E6-48A3-AC45-0B1DCAB1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724650"/>
            <a:ext cx="6553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ui-428">
            <a:extLst xmlns:a="http://schemas.openxmlformats.org/drawingml/2006/main">
              <a:ext uri="{FF2B5EF4-FFF2-40B4-BE49-F238E27FC236}">
                <a16:creationId xmlns:a16="http://schemas.microsoft.com/office/drawing/2014/main" id="{3694C83E-0B0C-4439-8EF9-6BA797D5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724650"/>
            <a:ext cx="524256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ui-429">
            <a:extLst xmlns:a="http://schemas.openxmlformats.org/drawingml/2006/main">
              <a:ext uri="{FF2B5EF4-FFF2-40B4-BE49-F238E27FC236}">
                <a16:creationId xmlns:a16="http://schemas.microsoft.com/office/drawing/2014/main" id="{9D0B1565-A5CC-4216-8EBF-58B616E9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296150"/>
            <a:ext cx="65532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8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ui-430">
            <a:extLst xmlns:a="http://schemas.openxmlformats.org/drawingml/2006/main">
              <a:ext uri="{FF2B5EF4-FFF2-40B4-BE49-F238E27FC236}">
                <a16:creationId xmlns:a16="http://schemas.microsoft.com/office/drawing/2014/main" id="{5CEA6C6A-ADEB-47ED-B66F-9D16B694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391400"/>
            <a:ext cx="61722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AF443F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F443F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AF443F"/>
                </a:solidFill>
                <a:latin typeface="Trebuchet MS"/>
                <a:ea typeface="Trebuchet MS"/>
                <a:cs typeface="Trebuchet MS"/>
              </a:rPr>
              <a:t>At full capacity, new occupancy stops.</a:t>
            </a:r>
          </a:p>
        </p:txBody>
      </p:sp>
      <p:sp>
        <p:nvSpPr>
          <p:cNvPr id="26" name="ui-431">
            <a:extLst xmlns:a="http://schemas.openxmlformats.org/drawingml/2006/main">
              <a:ext uri="{FF2B5EF4-FFF2-40B4-BE49-F238E27FC236}">
                <a16:creationId xmlns:a16="http://schemas.microsoft.com/office/drawing/2014/main" id="{7C1171A1-EDF5-491B-A402-BEAD17F9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810500"/>
            <a:ext cx="617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AF443F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F443F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AF443F"/>
                </a:solidFill>
                <a:latin typeface="Trebuchet MS"/>
                <a:ea typeface="Trebuchet MS"/>
                <a:cs typeface="Trebuchet MS"/>
              </a:rPr>
              <a:t>Expand parking before adding tenants.</a:t>
            </a:r>
          </a:p>
        </p:txBody>
      </p:sp>
    </p:spTree>
    <p:extLst>
      <p:ext uri="{BB962C8B-B14F-4D97-AF65-F5344CB8AC3E}">
        <p14:creationId xmlns:p14="http://schemas.microsoft.com/office/powerpoint/2010/main" val="5985711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DD653D-7638-4F6D-B9ED-A9F26806D3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78c6cdabc413a"/>
          <a:stretch xmlns:a="http://schemas.openxmlformats.org/drawingml/2006/main"/>
        </p:blipFill>
        <p:spPr>
          <a:xfrm xmlns:a="http://schemas.openxmlformats.org/drawingml/2006/main">
            <a:off x="457200" y="266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ui-432">
            <a:extLst xmlns:a="http://schemas.openxmlformats.org/drawingml/2006/main">
              <a:ext uri="{FF2B5EF4-FFF2-40B4-BE49-F238E27FC236}">
                <a16:creationId xmlns:a16="http://schemas.microsoft.com/office/drawing/2014/main" id="{D6E23FF9-CCE2-41BF-9CC8-FC77053E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10001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Building Management Tycoon</a:t>
            </a:r>
          </a:p>
        </p:txBody>
      </p:sp>
      <p:sp>
        <p:nvSpPr>
          <p:cNvPr id="3" name="ui-433">
            <a:extLst xmlns:a="http://schemas.openxmlformats.org/drawingml/2006/main">
              <a:ext uri="{FF2B5EF4-FFF2-40B4-BE49-F238E27FC236}">
                <a16:creationId xmlns:a16="http://schemas.microsoft.com/office/drawing/2014/main" id="{33D3C49F-186C-4192-A94A-B2EF4447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3850"/>
            <a:ext cx="1219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14 / 16</a:t>
            </a:r>
          </a:p>
        </p:txBody>
      </p:sp>
      <p:sp>
        <p:nvSpPr>
          <p:cNvPr id="4" name="ui-434">
            <a:extLst xmlns:a="http://schemas.openxmlformats.org/drawingml/2006/main">
              <a:ext uri="{FF2B5EF4-FFF2-40B4-BE49-F238E27FC236}">
                <a16:creationId xmlns:a16="http://schemas.microsoft.com/office/drawing/2014/main" id="{5DBB04AC-99E5-4EF6-ACA9-3DCF75B6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i-435">
            <a:extLst xmlns:a="http://schemas.openxmlformats.org/drawingml/2006/main">
              <a:ext uri="{FF2B5EF4-FFF2-40B4-BE49-F238E27FC236}">
                <a16:creationId xmlns:a16="http://schemas.microsoft.com/office/drawing/2014/main" id="{E19F90A5-55B8-4B5E-90DE-3EF2E20D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432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14  Building upgrades</a:t>
            </a:r>
          </a:p>
        </p:txBody>
      </p:sp>
      <p:sp>
        <p:nvSpPr>
          <p:cNvPr id="6" name="ui-436">
            <a:extLst xmlns:a="http://schemas.openxmlformats.org/drawingml/2006/main">
              <a:ext uri="{FF2B5EF4-FFF2-40B4-BE49-F238E27FC236}">
                <a16:creationId xmlns:a16="http://schemas.microsoft.com/office/drawing/2014/main" id="{4195248E-4C82-4417-844D-836E04F3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48750"/>
            <a:ext cx="138684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Game design reference. Economy values and district names are examples.</a:t>
            </a:r>
          </a:p>
        </p:txBody>
      </p:sp>
      <p:sp>
        <p:nvSpPr>
          <p:cNvPr id="7" name="ui-437">
            <a:extLst xmlns:a="http://schemas.openxmlformats.org/drawingml/2006/main">
              <a:ext uri="{FF2B5EF4-FFF2-40B4-BE49-F238E27FC236}">
                <a16:creationId xmlns:a16="http://schemas.microsoft.com/office/drawing/2014/main" id="{F7B91359-35EB-40B1-9097-9E3BE3EC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3352800" cy="636270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8" name="ui-438">
            <a:extLst xmlns:a="http://schemas.openxmlformats.org/drawingml/2006/main">
              <a:ext uri="{FF2B5EF4-FFF2-40B4-BE49-F238E27FC236}">
                <a16:creationId xmlns:a16="http://schemas.microsoft.com/office/drawing/2014/main" id="{03038DBF-8EE6-427D-9743-BB1DE0AB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956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Luxury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A98F0-18DF-4B53-8F19-7BEE9932EE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6a79268c84c64"/>
          <a:srcRect xmlns:a="http://schemas.openxmlformats.org/drawingml/2006/main" l="0" t="0" r="50000" b="50000"/>
          <a:stretch xmlns:a="http://schemas.openxmlformats.org/drawingml/2006/main"/>
        </p:blipFill>
        <p:spPr>
          <a:xfrm xmlns:a="http://schemas.openxmlformats.org/drawingml/2006/main">
            <a:off x="838200" y="2990850"/>
            <a:ext cx="2590800" cy="2590800"/>
          </a:xfrm>
          <a:prstGeom xmlns:a="http://schemas.openxmlformats.org/drawingml/2006/main" prst="rect">
            <a:avLst/>
          </a:prstGeom>
        </p:spPr>
      </p:pic>
      <p:sp>
        <p:nvSpPr>
          <p:cNvPr id="10" name="ui-439">
            <a:extLst xmlns:a="http://schemas.openxmlformats.org/drawingml/2006/main">
              <a:ext uri="{FF2B5EF4-FFF2-40B4-BE49-F238E27FC236}">
                <a16:creationId xmlns:a16="http://schemas.microsoft.com/office/drawing/2014/main" id="{B67F2ECF-2048-498F-BB68-631D2492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89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Level example</a:t>
            </a:r>
          </a:p>
        </p:txBody>
      </p:sp>
      <p:sp>
        <p:nvSpPr>
          <p:cNvPr id="11" name="ui-440">
            <a:extLst xmlns:a="http://schemas.openxmlformats.org/drawingml/2006/main">
              <a:ext uri="{FF2B5EF4-FFF2-40B4-BE49-F238E27FC236}">
                <a16:creationId xmlns:a16="http://schemas.microsoft.com/office/drawing/2014/main" id="{6A2E0D11-27C8-4243-AF5A-B2E21E51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8956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Rating upgrades</a:t>
            </a:r>
          </a:p>
        </p:txBody>
      </p:sp>
      <p:sp>
        <p:nvSpPr>
          <p:cNvPr id="12" name="ui-441">
            <a:extLst xmlns:a="http://schemas.openxmlformats.org/drawingml/2006/main">
              <a:ext uri="{FF2B5EF4-FFF2-40B4-BE49-F238E27FC236}">
                <a16:creationId xmlns:a16="http://schemas.microsoft.com/office/drawing/2014/main" id="{4E64B0F7-C008-4736-975A-BAE9576C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Cost: estimate</a:t>
            </a:r>
          </a:p>
        </p:txBody>
      </p:sp>
      <p:sp>
        <p:nvSpPr>
          <p:cNvPr id="13" name="ui-442">
            <a:extLst xmlns:a="http://schemas.openxmlformats.org/drawingml/2006/main">
              <a:ext uri="{FF2B5EF4-FFF2-40B4-BE49-F238E27FC236}">
                <a16:creationId xmlns:a16="http://schemas.microsoft.com/office/drawing/2014/main" id="{012AEE1D-956E-41E9-9365-6131F547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05650"/>
            <a:ext cx="28956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Daily upkeep: estimate</a:t>
            </a:r>
          </a:p>
        </p:txBody>
      </p:sp>
      <p:sp>
        <p:nvSpPr>
          <p:cNvPr id="14" name="ui-443">
            <a:extLst xmlns:a="http://schemas.openxmlformats.org/drawingml/2006/main">
              <a:ext uri="{FF2B5EF4-FFF2-40B4-BE49-F238E27FC236}">
                <a16:creationId xmlns:a16="http://schemas.microsoft.com/office/drawing/2014/main" id="{B80408CE-4D61-4126-8B64-D3C3B53A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29550"/>
            <a:ext cx="2895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ui-444">
            <a:extLst xmlns:a="http://schemas.openxmlformats.org/drawingml/2006/main">
              <a:ext uri="{FF2B5EF4-FFF2-40B4-BE49-F238E27FC236}">
                <a16:creationId xmlns:a16="http://schemas.microsoft.com/office/drawing/2014/main" id="{1622F53A-9CCF-4F30-8E78-26BFAA71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91450"/>
            <a:ext cx="2895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16" name="ui-445">
            <a:extLst xmlns:a="http://schemas.openxmlformats.org/drawingml/2006/main">
              <a:ext uri="{FF2B5EF4-FFF2-40B4-BE49-F238E27FC236}">
                <a16:creationId xmlns:a16="http://schemas.microsoft.com/office/drawing/2014/main" id="{886D0614-14F0-4DED-8D2F-1A3C2D66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67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rPr>
              <a:t>Review upgrade</a:t>
            </a:r>
          </a:p>
        </p:txBody>
      </p:sp>
      <p:sp>
        <p:nvSpPr>
          <p:cNvPr id="17" name="ui-446">
            <a:extLst xmlns:a="http://schemas.openxmlformats.org/drawingml/2006/main">
              <a:ext uri="{FF2B5EF4-FFF2-40B4-BE49-F238E27FC236}">
                <a16:creationId xmlns:a16="http://schemas.microsoft.com/office/drawing/2014/main" id="{FA16742A-C206-4C2F-8493-444EB70C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33600"/>
            <a:ext cx="3352800" cy="636270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18" name="ui-447">
            <a:extLst xmlns:a="http://schemas.openxmlformats.org/drawingml/2006/main">
              <a:ext uri="{FF2B5EF4-FFF2-40B4-BE49-F238E27FC236}">
                <a16:creationId xmlns:a16="http://schemas.microsoft.com/office/drawing/2014/main" id="{AD3F2A3C-EF7B-4C48-9C6C-653ED091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28956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Parking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54A9A-7B38-4458-8560-514C9E1015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6a4dd77744fd2"/>
          <a:srcRect xmlns:a="http://schemas.openxmlformats.org/drawingml/2006/main" l="400" t="13500" r="38900" b="52100"/>
          <a:stretch xmlns:a="http://schemas.openxmlformats.org/drawingml/2006/main"/>
        </p:blipFill>
        <p:spPr>
          <a:xfrm xmlns:a="http://schemas.openxmlformats.org/drawingml/2006/main">
            <a:off x="4343400" y="3238500"/>
            <a:ext cx="2895600" cy="2247900"/>
          </a:xfrm>
          <a:prstGeom xmlns:a="http://schemas.openxmlformats.org/drawingml/2006/main" prst="rect">
            <a:avLst/>
          </a:prstGeom>
        </p:spPr>
      </p:pic>
      <p:sp>
        <p:nvSpPr>
          <p:cNvPr id="20" name="ui-448">
            <a:extLst xmlns:a="http://schemas.openxmlformats.org/drawingml/2006/main">
              <a:ext uri="{FF2B5EF4-FFF2-40B4-BE49-F238E27FC236}">
                <a16:creationId xmlns:a16="http://schemas.microsoft.com/office/drawing/2014/main" id="{4BDE1FC0-0C64-4727-B966-C1E6B8C0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810250"/>
            <a:ext cx="289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0 / 3 levels</a:t>
            </a:r>
          </a:p>
        </p:txBody>
      </p:sp>
      <p:sp>
        <p:nvSpPr>
          <p:cNvPr id="21" name="ui-449">
            <a:extLst xmlns:a="http://schemas.openxmlformats.org/drawingml/2006/main">
              <a:ext uri="{FF2B5EF4-FFF2-40B4-BE49-F238E27FC236}">
                <a16:creationId xmlns:a16="http://schemas.microsoft.com/office/drawing/2014/main" id="{DA213F54-C6DF-49B9-AFEE-79A99CB2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286500"/>
            <a:ext cx="28956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Basements only</a:t>
            </a:r>
          </a:p>
        </p:txBody>
      </p:sp>
      <p:sp>
        <p:nvSpPr>
          <p:cNvPr id="22" name="ui-450">
            <a:extLst xmlns:a="http://schemas.openxmlformats.org/drawingml/2006/main">
              <a:ext uri="{FF2B5EF4-FFF2-40B4-BE49-F238E27FC236}">
                <a16:creationId xmlns:a16="http://schemas.microsoft.com/office/drawing/2014/main" id="{90241004-C00E-4063-9669-3543647E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7246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Cost: estimate</a:t>
            </a:r>
          </a:p>
        </p:txBody>
      </p:sp>
      <p:sp>
        <p:nvSpPr>
          <p:cNvPr id="23" name="ui-451">
            <a:extLst xmlns:a="http://schemas.openxmlformats.org/drawingml/2006/main">
              <a:ext uri="{FF2B5EF4-FFF2-40B4-BE49-F238E27FC236}">
                <a16:creationId xmlns:a16="http://schemas.microsoft.com/office/drawing/2014/main" id="{F4F04372-E85C-4D03-AF75-D889A2EF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7105650"/>
            <a:ext cx="28956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Daily upkeep: estimate</a:t>
            </a:r>
          </a:p>
        </p:txBody>
      </p:sp>
      <p:sp>
        <p:nvSpPr>
          <p:cNvPr id="24" name="ui-452">
            <a:extLst xmlns:a="http://schemas.openxmlformats.org/drawingml/2006/main">
              <a:ext uri="{FF2B5EF4-FFF2-40B4-BE49-F238E27FC236}">
                <a16:creationId xmlns:a16="http://schemas.microsoft.com/office/drawing/2014/main" id="{F5AB2FE3-5C8C-456E-B2F9-ABD91C5A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7829550"/>
            <a:ext cx="2895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ui-453">
            <a:extLst xmlns:a="http://schemas.openxmlformats.org/drawingml/2006/main">
              <a:ext uri="{FF2B5EF4-FFF2-40B4-BE49-F238E27FC236}">
                <a16:creationId xmlns:a16="http://schemas.microsoft.com/office/drawing/2014/main" id="{374ACDA9-2A8B-4C44-8D99-025258E9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7791450"/>
            <a:ext cx="2895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26" name="ui-454">
            <a:extLst xmlns:a="http://schemas.openxmlformats.org/drawingml/2006/main">
              <a:ext uri="{FF2B5EF4-FFF2-40B4-BE49-F238E27FC236}">
                <a16:creationId xmlns:a16="http://schemas.microsoft.com/office/drawing/2014/main" id="{43750226-9E77-41B3-A2FA-F44C4D48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867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rPr>
              <a:t>Review upgrade</a:t>
            </a:r>
          </a:p>
        </p:txBody>
      </p:sp>
      <p:sp>
        <p:nvSpPr>
          <p:cNvPr id="27" name="ui-455">
            <a:extLst xmlns:a="http://schemas.openxmlformats.org/drawingml/2006/main">
              <a:ext uri="{FF2B5EF4-FFF2-40B4-BE49-F238E27FC236}">
                <a16:creationId xmlns:a16="http://schemas.microsoft.com/office/drawing/2014/main" id="{873FE293-3D34-420C-AA3A-2EAFB490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33600"/>
            <a:ext cx="3352800" cy="636270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28" name="ui-456">
            <a:extLst xmlns:a="http://schemas.openxmlformats.org/drawingml/2006/main">
              <a:ext uri="{FF2B5EF4-FFF2-40B4-BE49-F238E27FC236}">
                <a16:creationId xmlns:a16="http://schemas.microsoft.com/office/drawing/2014/main" id="{DD5B7D1B-B02F-45FF-8F23-0EA899F2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62200"/>
            <a:ext cx="28956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Standard lift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B654F2-C713-4D90-9362-423095551D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13ff07a8f4062"/>
          <a:srcRect xmlns:a="http://schemas.openxmlformats.org/drawingml/2006/main" l="61800" t="13200" r="400" b="52100"/>
          <a:stretch xmlns:a="http://schemas.openxmlformats.org/drawingml/2006/main"/>
        </p:blipFill>
        <p:spPr>
          <a:xfrm xmlns:a="http://schemas.openxmlformats.org/drawingml/2006/main">
            <a:off x="8001000" y="3238500"/>
            <a:ext cx="2895600" cy="2247900"/>
          </a:xfrm>
          <a:prstGeom xmlns:a="http://schemas.openxmlformats.org/drawingml/2006/main" prst="rect">
            <a:avLst/>
          </a:prstGeom>
        </p:spPr>
      </p:pic>
      <p:sp>
        <p:nvSpPr>
          <p:cNvPr id="30" name="ui-457">
            <a:extLst xmlns:a="http://schemas.openxmlformats.org/drawingml/2006/main">
              <a:ext uri="{FF2B5EF4-FFF2-40B4-BE49-F238E27FC236}">
                <a16:creationId xmlns:a16="http://schemas.microsoft.com/office/drawing/2014/main" id="{D6092685-BAB8-4B84-AF72-9EEBCBE5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810250"/>
            <a:ext cx="289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0 / 3 lifts</a:t>
            </a:r>
          </a:p>
        </p:txBody>
      </p:sp>
      <p:sp>
        <p:nvSpPr>
          <p:cNvPr id="31" name="ui-458">
            <a:extLst xmlns:a="http://schemas.openxmlformats.org/drawingml/2006/main">
              <a:ext uri="{FF2B5EF4-FFF2-40B4-BE49-F238E27FC236}">
                <a16:creationId xmlns:a16="http://schemas.microsoft.com/office/drawing/2014/main" id="{C18B3758-BC20-4B70-BFBE-7E24E3A3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286500"/>
            <a:ext cx="28956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Better floor access</a:t>
            </a:r>
          </a:p>
        </p:txBody>
      </p:sp>
      <p:sp>
        <p:nvSpPr>
          <p:cNvPr id="32" name="ui-459">
            <a:extLst xmlns:a="http://schemas.openxmlformats.org/drawingml/2006/main">
              <a:ext uri="{FF2B5EF4-FFF2-40B4-BE49-F238E27FC236}">
                <a16:creationId xmlns:a16="http://schemas.microsoft.com/office/drawing/2014/main" id="{CF30910A-A706-4E3B-876C-6A6C050B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7246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Cost: estimate</a:t>
            </a:r>
          </a:p>
        </p:txBody>
      </p:sp>
      <p:sp>
        <p:nvSpPr>
          <p:cNvPr id="33" name="ui-460">
            <a:extLst xmlns:a="http://schemas.openxmlformats.org/drawingml/2006/main">
              <a:ext uri="{FF2B5EF4-FFF2-40B4-BE49-F238E27FC236}">
                <a16:creationId xmlns:a16="http://schemas.microsoft.com/office/drawing/2014/main" id="{A4FB4569-A944-4803-9998-59361720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105650"/>
            <a:ext cx="28956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Daily upkeep: estimate</a:t>
            </a:r>
          </a:p>
        </p:txBody>
      </p:sp>
      <p:sp>
        <p:nvSpPr>
          <p:cNvPr id="34" name="ui-461">
            <a:extLst xmlns:a="http://schemas.openxmlformats.org/drawingml/2006/main">
              <a:ext uri="{FF2B5EF4-FFF2-40B4-BE49-F238E27FC236}">
                <a16:creationId xmlns:a16="http://schemas.microsoft.com/office/drawing/2014/main" id="{D6480770-6056-42F2-8F3F-DE5DDB03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829550"/>
            <a:ext cx="2895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ui-462">
            <a:extLst xmlns:a="http://schemas.openxmlformats.org/drawingml/2006/main">
              <a:ext uri="{FF2B5EF4-FFF2-40B4-BE49-F238E27FC236}">
                <a16:creationId xmlns:a16="http://schemas.microsoft.com/office/drawing/2014/main" id="{38E18641-13FF-4745-B0EA-9F409D5F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791450"/>
            <a:ext cx="2895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36" name="ui-463">
            <a:extLst xmlns:a="http://schemas.openxmlformats.org/drawingml/2006/main">
              <a:ext uri="{FF2B5EF4-FFF2-40B4-BE49-F238E27FC236}">
                <a16:creationId xmlns:a16="http://schemas.microsoft.com/office/drawing/2014/main" id="{2341D903-EDD0-44E1-B783-640D6A27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7867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rPr>
              <a:t>Review upgrade</a:t>
            </a:r>
          </a:p>
        </p:txBody>
      </p:sp>
      <p:sp>
        <p:nvSpPr>
          <p:cNvPr id="37" name="ui-464">
            <a:extLst xmlns:a="http://schemas.openxmlformats.org/drawingml/2006/main">
              <a:ext uri="{FF2B5EF4-FFF2-40B4-BE49-F238E27FC236}">
                <a16:creationId xmlns:a16="http://schemas.microsoft.com/office/drawing/2014/main" id="{3187AC33-C5F7-4A1D-96AC-5211AF4E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133600"/>
            <a:ext cx="3352800" cy="636270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38" name="ui-465">
            <a:extLst xmlns:a="http://schemas.openxmlformats.org/drawingml/2006/main">
              <a:ext uri="{FF2B5EF4-FFF2-40B4-BE49-F238E27FC236}">
                <a16:creationId xmlns:a16="http://schemas.microsoft.com/office/drawing/2014/main" id="{0137952F-D165-4900-A452-8C5A770C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362200"/>
            <a:ext cx="28956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Executive lift</a:t>
            </a:r>
          </a:p>
        </p:txBody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18C817-9812-441E-A5BD-4F5460038F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a32ed02014af4"/>
          <a:srcRect xmlns:a="http://schemas.openxmlformats.org/drawingml/2006/main" l="3100" t="50200" r="49700" b="12900"/>
          <a:stretch xmlns:a="http://schemas.openxmlformats.org/drawingml/2006/main"/>
        </p:blipFill>
        <p:spPr>
          <a:xfrm xmlns:a="http://schemas.openxmlformats.org/drawingml/2006/main">
            <a:off x="11658600" y="3238500"/>
            <a:ext cx="2895600" cy="2247900"/>
          </a:xfrm>
          <a:prstGeom xmlns:a="http://schemas.openxmlformats.org/drawingml/2006/main" prst="rect">
            <a:avLst/>
          </a:prstGeom>
        </p:spPr>
      </p:pic>
      <p:sp>
        <p:nvSpPr>
          <p:cNvPr id="40" name="ui-466">
            <a:extLst xmlns:a="http://schemas.openxmlformats.org/drawingml/2006/main">
              <a:ext uri="{FF2B5EF4-FFF2-40B4-BE49-F238E27FC236}">
                <a16:creationId xmlns:a16="http://schemas.microsoft.com/office/drawing/2014/main" id="{DEED7A72-BEF9-4DC8-AC67-73956A46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810250"/>
            <a:ext cx="289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1 / 1 lift</a:t>
            </a:r>
          </a:p>
        </p:txBody>
      </p:sp>
      <p:sp>
        <p:nvSpPr>
          <p:cNvPr id="41" name="ui-467">
            <a:extLst xmlns:a="http://schemas.openxmlformats.org/drawingml/2006/main">
              <a:ext uri="{FF2B5EF4-FFF2-40B4-BE49-F238E27FC236}">
                <a16:creationId xmlns:a16="http://schemas.microsoft.com/office/drawing/2014/main" id="{770EBCBC-41F9-4E14-A6F8-3152E551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286500"/>
            <a:ext cx="28956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Executive access</a:t>
            </a:r>
          </a:p>
        </p:txBody>
      </p:sp>
      <p:sp>
        <p:nvSpPr>
          <p:cNvPr id="42" name="ui-468">
            <a:extLst xmlns:a="http://schemas.openxmlformats.org/drawingml/2006/main">
              <a:ext uri="{FF2B5EF4-FFF2-40B4-BE49-F238E27FC236}">
                <a16:creationId xmlns:a16="http://schemas.microsoft.com/office/drawing/2014/main" id="{1B1D87B7-DE2D-43EF-891E-FBF7EB67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7246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Cost: estimate</a:t>
            </a:r>
          </a:p>
        </p:txBody>
      </p:sp>
      <p:sp>
        <p:nvSpPr>
          <p:cNvPr id="43" name="ui-469">
            <a:extLst xmlns:a="http://schemas.openxmlformats.org/drawingml/2006/main">
              <a:ext uri="{FF2B5EF4-FFF2-40B4-BE49-F238E27FC236}">
                <a16:creationId xmlns:a16="http://schemas.microsoft.com/office/drawing/2014/main" id="{BD185831-01DE-46F3-BEA4-160DE7C2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7105650"/>
            <a:ext cx="28956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Daily upkeep: estimate</a:t>
            </a:r>
          </a:p>
        </p:txBody>
      </p:sp>
      <p:sp>
        <p:nvSpPr>
          <p:cNvPr id="44" name="ui-470">
            <a:extLst xmlns:a="http://schemas.openxmlformats.org/drawingml/2006/main">
              <a:ext uri="{FF2B5EF4-FFF2-40B4-BE49-F238E27FC236}">
                <a16:creationId xmlns:a16="http://schemas.microsoft.com/office/drawing/2014/main" id="{32841F8A-2785-4871-9969-C98D280C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7829550"/>
            <a:ext cx="2895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ui-471">
            <a:extLst xmlns:a="http://schemas.openxmlformats.org/drawingml/2006/main">
              <a:ext uri="{FF2B5EF4-FFF2-40B4-BE49-F238E27FC236}">
                <a16:creationId xmlns:a16="http://schemas.microsoft.com/office/drawing/2014/main" id="{FC1382BA-CC3F-4EB7-A90C-BD05C0C3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7791450"/>
            <a:ext cx="2895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2E5DE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46" name="ui-472">
            <a:extLst xmlns:a="http://schemas.openxmlformats.org/drawingml/2006/main">
              <a:ext uri="{FF2B5EF4-FFF2-40B4-BE49-F238E27FC236}">
                <a16:creationId xmlns:a16="http://schemas.microsoft.com/office/drawing/2014/main" id="{0D23C765-3E89-44E9-810B-563955C8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7867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Maximum reached</a:t>
            </a:r>
          </a:p>
        </p:txBody>
      </p:sp>
    </p:spTree>
    <p:extLst>
      <p:ext uri="{BB962C8B-B14F-4D97-AF65-F5344CB8AC3E}">
        <p14:creationId xmlns:p14="http://schemas.microsoft.com/office/powerpoint/2010/main" val="19406454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E59C384-3FAB-44BC-A589-B7719FF7C1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2dff6950b4548"/>
          <a:stretch xmlns:a="http://schemas.openxmlformats.org/drawingml/2006/main"/>
        </p:blipFill>
        <p:spPr>
          <a:xfrm xmlns:a="http://schemas.openxmlformats.org/drawingml/2006/main">
            <a:off x="457200" y="266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ui-473">
            <a:extLst xmlns:a="http://schemas.openxmlformats.org/drawingml/2006/main">
              <a:ext uri="{FF2B5EF4-FFF2-40B4-BE49-F238E27FC236}">
                <a16:creationId xmlns:a16="http://schemas.microsoft.com/office/drawing/2014/main" id="{7717AAF9-5ECB-479B-819E-C7E29443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10001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Building Management Tycoon</a:t>
            </a:r>
          </a:p>
        </p:txBody>
      </p:sp>
      <p:sp>
        <p:nvSpPr>
          <p:cNvPr id="3" name="ui-474">
            <a:extLst xmlns:a="http://schemas.openxmlformats.org/drawingml/2006/main">
              <a:ext uri="{FF2B5EF4-FFF2-40B4-BE49-F238E27FC236}">
                <a16:creationId xmlns:a16="http://schemas.microsoft.com/office/drawing/2014/main" id="{0E262814-3F0D-4487-B9D8-2B4F75FA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3850"/>
            <a:ext cx="1219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15 / 16</a:t>
            </a:r>
          </a:p>
        </p:txBody>
      </p:sp>
      <p:sp>
        <p:nvSpPr>
          <p:cNvPr id="4" name="ui-475">
            <a:extLst xmlns:a="http://schemas.openxmlformats.org/drawingml/2006/main">
              <a:ext uri="{FF2B5EF4-FFF2-40B4-BE49-F238E27FC236}">
                <a16:creationId xmlns:a16="http://schemas.microsoft.com/office/drawing/2014/main" id="{5DFE81E0-2759-4B03-86C2-FA9B307E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i-476">
            <a:extLst xmlns:a="http://schemas.openxmlformats.org/drawingml/2006/main">
              <a:ext uri="{FF2B5EF4-FFF2-40B4-BE49-F238E27FC236}">
                <a16:creationId xmlns:a16="http://schemas.microsoft.com/office/drawing/2014/main" id="{56A33742-E207-443C-AF14-5636B675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432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15  Daily finances</a:t>
            </a:r>
          </a:p>
        </p:txBody>
      </p:sp>
      <p:sp>
        <p:nvSpPr>
          <p:cNvPr id="6" name="ui-477">
            <a:extLst xmlns:a="http://schemas.openxmlformats.org/drawingml/2006/main">
              <a:ext uri="{FF2B5EF4-FFF2-40B4-BE49-F238E27FC236}">
                <a16:creationId xmlns:a16="http://schemas.microsoft.com/office/drawing/2014/main" id="{C0EC7773-871D-4462-AF0B-01B8514E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48750"/>
            <a:ext cx="138684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Game design reference. Economy values and district names are examples.</a:t>
            </a:r>
          </a:p>
        </p:txBody>
      </p:sp>
      <p:sp>
        <p:nvSpPr>
          <p:cNvPr id="7" name="ui-478">
            <a:extLst xmlns:a="http://schemas.openxmlformats.org/drawingml/2006/main">
              <a:ext uri="{FF2B5EF4-FFF2-40B4-BE49-F238E27FC236}">
                <a16:creationId xmlns:a16="http://schemas.microsoft.com/office/drawing/2014/main" id="{3C3F2FC3-B6E1-4F6E-92C6-AB62C6E7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4572000" cy="6477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8" name="ui-479">
            <a:extLst xmlns:a="http://schemas.openxmlformats.org/drawingml/2006/main">
              <a:ext uri="{FF2B5EF4-FFF2-40B4-BE49-F238E27FC236}">
                <a16:creationId xmlns:a16="http://schemas.microsoft.com/office/drawing/2014/main" id="{F8619188-DAC2-4FD1-8CE5-399E792C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1148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Noon closing</a:t>
            </a:r>
          </a:p>
        </p:txBody>
      </p:sp>
      <p:sp>
        <p:nvSpPr>
          <p:cNvPr id="9" name="ui-480">
            <a:extLst xmlns:a="http://schemas.openxmlformats.org/drawingml/2006/main">
              <a:ext uri="{FF2B5EF4-FFF2-40B4-BE49-F238E27FC236}">
                <a16:creationId xmlns:a16="http://schemas.microsoft.com/office/drawing/2014/main" id="{F42F48B6-4705-4925-9A4C-03D3852D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ui-481">
            <a:extLst xmlns:a="http://schemas.openxmlformats.org/drawingml/2006/main">
              <a:ext uri="{FF2B5EF4-FFF2-40B4-BE49-F238E27FC236}">
                <a16:creationId xmlns:a16="http://schemas.microsoft.com/office/drawing/2014/main" id="{6197B6D8-3FF1-4487-B0C9-F1D01113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4572000" cy="6477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11" name="ui-482">
            <a:extLst xmlns:a="http://schemas.openxmlformats.org/drawingml/2006/main">
              <a:ext uri="{FF2B5EF4-FFF2-40B4-BE49-F238E27FC236}">
                <a16:creationId xmlns:a16="http://schemas.microsoft.com/office/drawing/2014/main" id="{AC2E05FA-0B17-4F49-AD31-4C480D03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86000"/>
            <a:ext cx="41148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Offline return</a:t>
            </a:r>
          </a:p>
        </p:txBody>
      </p:sp>
      <p:sp>
        <p:nvSpPr>
          <p:cNvPr id="12" name="ui-483">
            <a:extLst xmlns:a="http://schemas.openxmlformats.org/drawingml/2006/main">
              <a:ext uri="{FF2B5EF4-FFF2-40B4-BE49-F238E27FC236}">
                <a16:creationId xmlns:a16="http://schemas.microsoft.com/office/drawing/2014/main" id="{A1E927B0-C3AA-4040-9B8F-41EE050F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432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ui-484">
            <a:extLst xmlns:a="http://schemas.openxmlformats.org/drawingml/2006/main">
              <a:ext uri="{FF2B5EF4-FFF2-40B4-BE49-F238E27FC236}">
                <a16:creationId xmlns:a16="http://schemas.microsoft.com/office/drawing/2014/main" id="{D8B8807A-C69F-44A3-9389-FE91FFD2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95500"/>
            <a:ext cx="4572000" cy="6477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14" name="ui-485">
            <a:extLst xmlns:a="http://schemas.openxmlformats.org/drawingml/2006/main">
              <a:ext uri="{FF2B5EF4-FFF2-40B4-BE49-F238E27FC236}">
                <a16:creationId xmlns:a16="http://schemas.microsoft.com/office/drawing/2014/main" id="{1F62F563-6445-48F0-BFD1-8F46D450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286000"/>
            <a:ext cx="41148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Loss day</a:t>
            </a:r>
          </a:p>
        </p:txBody>
      </p:sp>
      <p:sp>
        <p:nvSpPr>
          <p:cNvPr id="15" name="ui-486">
            <a:extLst xmlns:a="http://schemas.openxmlformats.org/drawingml/2006/main">
              <a:ext uri="{FF2B5EF4-FFF2-40B4-BE49-F238E27FC236}">
                <a16:creationId xmlns:a16="http://schemas.microsoft.com/office/drawing/2014/main" id="{471B9492-F896-44D7-AADC-9033A8A5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432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ui-487">
            <a:extLst xmlns:a="http://schemas.openxmlformats.org/drawingml/2006/main">
              <a:ext uri="{FF2B5EF4-FFF2-40B4-BE49-F238E27FC236}">
                <a16:creationId xmlns:a16="http://schemas.microsoft.com/office/drawing/2014/main" id="{FB4C6041-2C78-4D6A-A829-3E01032A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2286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ui-488">
            <a:extLst xmlns:a="http://schemas.openxmlformats.org/drawingml/2006/main">
              <a:ext uri="{FF2B5EF4-FFF2-40B4-BE49-F238E27FC236}">
                <a16:creationId xmlns:a16="http://schemas.microsoft.com/office/drawing/2014/main" id="{5AA52C0B-35EE-4F53-BCC2-AF28E039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rPr>
              <a:t>Day 12</a:t>
            </a:r>
          </a:p>
        </p:txBody>
      </p:sp>
      <p:sp>
        <p:nvSpPr>
          <p:cNvPr id="18" name="ui-489">
            <a:extLst xmlns:a="http://schemas.openxmlformats.org/drawingml/2006/main">
              <a:ext uri="{FF2B5EF4-FFF2-40B4-BE49-F238E27FC236}">
                <a16:creationId xmlns:a16="http://schemas.microsoft.com/office/drawing/2014/main" id="{33E7D552-5481-4C3C-AE53-FADA7442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46888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Gross revenue</a:t>
            </a:r>
          </a:p>
        </p:txBody>
      </p:sp>
      <p:sp>
        <p:nvSpPr>
          <p:cNvPr id="19" name="ui-490">
            <a:extLst xmlns:a="http://schemas.openxmlformats.org/drawingml/2006/main">
              <a:ext uri="{FF2B5EF4-FFF2-40B4-BE49-F238E27FC236}">
                <a16:creationId xmlns:a16="http://schemas.microsoft.com/office/drawing/2014/main" id="{89BCB9EC-10B4-40BA-81D8-F3253F64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3962400"/>
            <a:ext cx="1810512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$1,000</a:t>
            </a:r>
          </a:p>
        </p:txBody>
      </p:sp>
      <p:sp>
        <p:nvSpPr>
          <p:cNvPr id="20" name="ui-491">
            <a:extLst xmlns:a="http://schemas.openxmlformats.org/drawingml/2006/main">
              <a:ext uri="{FF2B5EF4-FFF2-40B4-BE49-F238E27FC236}">
                <a16:creationId xmlns:a16="http://schemas.microsoft.com/office/drawing/2014/main" id="{4F54AC38-61A5-45D3-8B26-A00F30E4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ui-492">
            <a:extLst xmlns:a="http://schemas.openxmlformats.org/drawingml/2006/main">
              <a:ext uri="{FF2B5EF4-FFF2-40B4-BE49-F238E27FC236}">
                <a16:creationId xmlns:a16="http://schemas.microsoft.com/office/drawing/2014/main" id="{4F9A9DA1-409D-41C4-986E-930FC984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46888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Maintenance</a:t>
            </a:r>
          </a:p>
        </p:txBody>
      </p:sp>
      <p:sp>
        <p:nvSpPr>
          <p:cNvPr id="22" name="ui-493">
            <a:extLst xmlns:a="http://schemas.openxmlformats.org/drawingml/2006/main">
              <a:ext uri="{FF2B5EF4-FFF2-40B4-BE49-F238E27FC236}">
                <a16:creationId xmlns:a16="http://schemas.microsoft.com/office/drawing/2014/main" id="{03997897-1512-4365-A781-F65AD7B3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4648200"/>
            <a:ext cx="1810512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−$300</a:t>
            </a:r>
          </a:p>
        </p:txBody>
      </p:sp>
      <p:sp>
        <p:nvSpPr>
          <p:cNvPr id="23" name="ui-494">
            <a:extLst xmlns:a="http://schemas.openxmlformats.org/drawingml/2006/main">
              <a:ext uri="{FF2B5EF4-FFF2-40B4-BE49-F238E27FC236}">
                <a16:creationId xmlns:a16="http://schemas.microsoft.com/office/drawing/2014/main" id="{6C0B6A91-A9DA-4DA4-91C7-98C2080A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ui-495">
            <a:extLst xmlns:a="http://schemas.openxmlformats.org/drawingml/2006/main">
              <a:ext uri="{FF2B5EF4-FFF2-40B4-BE49-F238E27FC236}">
                <a16:creationId xmlns:a16="http://schemas.microsoft.com/office/drawing/2014/main" id="{2C377658-765F-4038-B37D-CCC0AC41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246888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Tax</a:t>
            </a:r>
          </a:p>
        </p:txBody>
      </p:sp>
      <p:sp>
        <p:nvSpPr>
          <p:cNvPr id="25" name="ui-496">
            <a:extLst xmlns:a="http://schemas.openxmlformats.org/drawingml/2006/main">
              <a:ext uri="{FF2B5EF4-FFF2-40B4-BE49-F238E27FC236}">
                <a16:creationId xmlns:a16="http://schemas.microsoft.com/office/drawing/2014/main" id="{29D5FB08-F4EC-48F8-BA61-DBEECB28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5334000"/>
            <a:ext cx="1810512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−$100</a:t>
            </a:r>
          </a:p>
        </p:txBody>
      </p:sp>
      <p:sp>
        <p:nvSpPr>
          <p:cNvPr id="26" name="ui-497">
            <a:extLst xmlns:a="http://schemas.openxmlformats.org/drawingml/2006/main">
              <a:ext uri="{FF2B5EF4-FFF2-40B4-BE49-F238E27FC236}">
                <a16:creationId xmlns:a16="http://schemas.microsoft.com/office/drawing/2014/main" id="{A0A21B1C-0EC1-4728-ADEA-BD635607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ui-498">
            <a:extLst xmlns:a="http://schemas.openxmlformats.org/drawingml/2006/main">
              <a:ext uri="{FF2B5EF4-FFF2-40B4-BE49-F238E27FC236}">
                <a16:creationId xmlns:a16="http://schemas.microsoft.com/office/drawing/2014/main" id="{8DC61F50-4106-4A83-864E-9945F57B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1148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Net</a:t>
            </a:r>
          </a:p>
        </p:txBody>
      </p:sp>
      <p:sp>
        <p:nvSpPr>
          <p:cNvPr id="28" name="ui-499">
            <a:extLst xmlns:a="http://schemas.openxmlformats.org/drawingml/2006/main">
              <a:ext uri="{FF2B5EF4-FFF2-40B4-BE49-F238E27FC236}">
                <a16:creationId xmlns:a16="http://schemas.microsoft.com/office/drawing/2014/main" id="{9A02F5F1-6BE7-4320-8516-EDBBECEC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114800" cy="693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900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pPr>
            <a:r>
              <a:rPr sz="3900" b="1">
                <a:solidFill>
                  <a:srgbClr val="237563"/>
                </a:solidFill>
                <a:latin typeface="Trebuchet MS"/>
                <a:ea typeface="Trebuchet MS"/>
                <a:cs typeface="Trebuchet MS"/>
              </a:rPr>
              <a:t>+$600</a:t>
            </a:r>
          </a:p>
        </p:txBody>
      </p:sp>
      <p:sp>
        <p:nvSpPr>
          <p:cNvPr id="29" name="ui-500">
            <a:extLst xmlns:a="http://schemas.openxmlformats.org/drawingml/2006/main">
              <a:ext uri="{FF2B5EF4-FFF2-40B4-BE49-F238E27FC236}">
                <a16:creationId xmlns:a16="http://schemas.microsoft.com/office/drawing/2014/main" id="{D9DC7C19-4257-4BE9-A98D-7EC911D0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8665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Added at daily closing.</a:t>
            </a:r>
          </a:p>
        </p:txBody>
      </p:sp>
      <p:sp>
        <p:nvSpPr>
          <p:cNvPr id="30" name="ui-501">
            <a:extLst xmlns:a="http://schemas.openxmlformats.org/drawingml/2006/main">
              <a:ext uri="{FF2B5EF4-FFF2-40B4-BE49-F238E27FC236}">
                <a16:creationId xmlns:a16="http://schemas.microsoft.com/office/drawing/2014/main" id="{B4C6C3D9-17D0-4FE6-B27D-29404751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43850"/>
            <a:ext cx="4114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ui-502">
            <a:extLst xmlns:a="http://schemas.openxmlformats.org/drawingml/2006/main">
              <a:ext uri="{FF2B5EF4-FFF2-40B4-BE49-F238E27FC236}">
                <a16:creationId xmlns:a16="http://schemas.microsoft.com/office/drawing/2014/main" id="{85C14F5C-18A0-4D2D-8D0D-72868521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0"/>
            <a:ext cx="4114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32" name="ui-503">
            <a:extLst xmlns:a="http://schemas.openxmlformats.org/drawingml/2006/main">
              <a:ext uri="{FF2B5EF4-FFF2-40B4-BE49-F238E27FC236}">
                <a16:creationId xmlns:a16="http://schemas.microsoft.com/office/drawing/2014/main" id="{0E9AD998-41FD-455B-A0C3-7A87B89C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9819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rPr>
              <a:t>Continue</a:t>
            </a:r>
          </a:p>
        </p:txBody>
      </p:sp>
      <p:sp>
        <p:nvSpPr>
          <p:cNvPr id="33" name="ui-504">
            <a:extLst xmlns:a="http://schemas.openxmlformats.org/drawingml/2006/main">
              <a:ext uri="{FF2B5EF4-FFF2-40B4-BE49-F238E27FC236}">
                <a16:creationId xmlns:a16="http://schemas.microsoft.com/office/drawing/2014/main" id="{7BEEDBA4-0842-42E2-82EB-CD68771D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24200"/>
            <a:ext cx="2286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ui-505">
            <a:extLst xmlns:a="http://schemas.openxmlformats.org/drawingml/2006/main">
              <a:ext uri="{FF2B5EF4-FFF2-40B4-BE49-F238E27FC236}">
                <a16:creationId xmlns:a16="http://schemas.microsoft.com/office/drawing/2014/main" id="{CC14907D-6C04-47F5-BAEA-A697DE38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718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rPr>
              <a:t>2 simulated days</a:t>
            </a:r>
          </a:p>
        </p:txBody>
      </p:sp>
      <p:sp>
        <p:nvSpPr>
          <p:cNvPr id="35" name="ui-506">
            <a:extLst xmlns:a="http://schemas.openxmlformats.org/drawingml/2006/main">
              <a:ext uri="{FF2B5EF4-FFF2-40B4-BE49-F238E27FC236}">
                <a16:creationId xmlns:a16="http://schemas.microsoft.com/office/drawing/2014/main" id="{3C26F5D6-9AD4-4935-9379-B4A22561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62400"/>
            <a:ext cx="246888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Gross revenue</a:t>
            </a:r>
          </a:p>
        </p:txBody>
      </p:sp>
      <p:sp>
        <p:nvSpPr>
          <p:cNvPr id="36" name="ui-507">
            <a:extLst xmlns:a="http://schemas.openxmlformats.org/drawingml/2006/main">
              <a:ext uri="{FF2B5EF4-FFF2-40B4-BE49-F238E27FC236}">
                <a16:creationId xmlns:a16="http://schemas.microsoft.com/office/drawing/2014/main" id="{182F76D7-FA95-4867-865C-658D71D5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888" y="3962400"/>
            <a:ext cx="1810512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$2,000</a:t>
            </a:r>
          </a:p>
        </p:txBody>
      </p:sp>
      <p:sp>
        <p:nvSpPr>
          <p:cNvPr id="37" name="ui-508">
            <a:extLst xmlns:a="http://schemas.openxmlformats.org/drawingml/2006/main">
              <a:ext uri="{FF2B5EF4-FFF2-40B4-BE49-F238E27FC236}">
                <a16:creationId xmlns:a16="http://schemas.microsoft.com/office/drawing/2014/main" id="{3E61D6C8-6347-4933-B610-FBA6577A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815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ui-509">
            <a:extLst xmlns:a="http://schemas.openxmlformats.org/drawingml/2006/main">
              <a:ext uri="{FF2B5EF4-FFF2-40B4-BE49-F238E27FC236}">
                <a16:creationId xmlns:a16="http://schemas.microsoft.com/office/drawing/2014/main" id="{2FD55226-3609-4558-B8A2-C2506F5F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48200"/>
            <a:ext cx="246888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Maintenance</a:t>
            </a:r>
          </a:p>
        </p:txBody>
      </p:sp>
      <p:sp>
        <p:nvSpPr>
          <p:cNvPr id="39" name="ui-510">
            <a:extLst xmlns:a="http://schemas.openxmlformats.org/drawingml/2006/main">
              <a:ext uri="{FF2B5EF4-FFF2-40B4-BE49-F238E27FC236}">
                <a16:creationId xmlns:a16="http://schemas.microsoft.com/office/drawing/2014/main" id="{F07D3CCE-9E0A-4074-B60F-A9ADD916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888" y="4648200"/>
            <a:ext cx="1810512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−$600</a:t>
            </a:r>
          </a:p>
        </p:txBody>
      </p:sp>
      <p:sp>
        <p:nvSpPr>
          <p:cNvPr id="40" name="ui-511">
            <a:extLst xmlns:a="http://schemas.openxmlformats.org/drawingml/2006/main">
              <a:ext uri="{FF2B5EF4-FFF2-40B4-BE49-F238E27FC236}">
                <a16:creationId xmlns:a16="http://schemas.microsoft.com/office/drawing/2014/main" id="{03A7C71B-80F9-4270-A439-AF32CF9B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673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ui-512">
            <a:extLst xmlns:a="http://schemas.openxmlformats.org/drawingml/2006/main">
              <a:ext uri="{FF2B5EF4-FFF2-40B4-BE49-F238E27FC236}">
                <a16:creationId xmlns:a16="http://schemas.microsoft.com/office/drawing/2014/main" id="{991917F2-A252-4DE6-8399-E0670DB1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34000"/>
            <a:ext cx="246888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Tax</a:t>
            </a:r>
          </a:p>
        </p:txBody>
      </p:sp>
      <p:sp>
        <p:nvSpPr>
          <p:cNvPr id="42" name="ui-513">
            <a:extLst xmlns:a="http://schemas.openxmlformats.org/drawingml/2006/main">
              <a:ext uri="{FF2B5EF4-FFF2-40B4-BE49-F238E27FC236}">
                <a16:creationId xmlns:a16="http://schemas.microsoft.com/office/drawing/2014/main" id="{6F460586-5BC8-450C-BDB6-24EF7753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888" y="5334000"/>
            <a:ext cx="1810512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−$200</a:t>
            </a:r>
          </a:p>
        </p:txBody>
      </p:sp>
      <p:sp>
        <p:nvSpPr>
          <p:cNvPr id="43" name="ui-514">
            <a:extLst xmlns:a="http://schemas.openxmlformats.org/drawingml/2006/main">
              <a:ext uri="{FF2B5EF4-FFF2-40B4-BE49-F238E27FC236}">
                <a16:creationId xmlns:a16="http://schemas.microsoft.com/office/drawing/2014/main" id="{F014AAE6-C798-48CF-9303-E26327B2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7531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ui-515">
            <a:extLst xmlns:a="http://schemas.openxmlformats.org/drawingml/2006/main">
              <a:ext uri="{FF2B5EF4-FFF2-40B4-BE49-F238E27FC236}">
                <a16:creationId xmlns:a16="http://schemas.microsoft.com/office/drawing/2014/main" id="{82DE4D7D-8C0D-4857-BA80-CB550143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191250"/>
            <a:ext cx="41148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Net</a:t>
            </a:r>
          </a:p>
        </p:txBody>
      </p:sp>
      <p:sp>
        <p:nvSpPr>
          <p:cNvPr id="45" name="ui-516">
            <a:extLst xmlns:a="http://schemas.openxmlformats.org/drawingml/2006/main">
              <a:ext uri="{FF2B5EF4-FFF2-40B4-BE49-F238E27FC236}">
                <a16:creationId xmlns:a16="http://schemas.microsoft.com/office/drawing/2014/main" id="{55AB0262-5A4A-41F4-A4CA-7DBA653E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572250"/>
            <a:ext cx="4114800" cy="693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900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pPr>
            <a:r>
              <a:rPr sz="3900" b="1">
                <a:solidFill>
                  <a:srgbClr val="237563"/>
                </a:solidFill>
                <a:latin typeface="Trebuchet MS"/>
                <a:ea typeface="Trebuchet MS"/>
                <a:cs typeface="Trebuchet MS"/>
              </a:rPr>
              <a:t>+$1,200</a:t>
            </a:r>
          </a:p>
        </p:txBody>
      </p:sp>
      <p:sp>
        <p:nvSpPr>
          <p:cNvPr id="46" name="ui-517">
            <a:extLst xmlns:a="http://schemas.openxmlformats.org/drawingml/2006/main">
              <a:ext uri="{FF2B5EF4-FFF2-40B4-BE49-F238E27FC236}">
                <a16:creationId xmlns:a16="http://schemas.microsoft.com/office/drawing/2014/main" id="{FFFF7F72-692D-408C-91F3-CB8F2ED1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48665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Already applied to your balance.</a:t>
            </a:r>
          </a:p>
        </p:txBody>
      </p:sp>
      <p:sp>
        <p:nvSpPr>
          <p:cNvPr id="47" name="ui-518">
            <a:extLst xmlns:a="http://schemas.openxmlformats.org/drawingml/2006/main">
              <a:ext uri="{FF2B5EF4-FFF2-40B4-BE49-F238E27FC236}">
                <a16:creationId xmlns:a16="http://schemas.microsoft.com/office/drawing/2014/main" id="{47265EE9-BC40-4BE8-BF63-F343799B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943850"/>
            <a:ext cx="4114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ui-519">
            <a:extLst xmlns:a="http://schemas.openxmlformats.org/drawingml/2006/main">
              <a:ext uri="{FF2B5EF4-FFF2-40B4-BE49-F238E27FC236}">
                <a16:creationId xmlns:a16="http://schemas.microsoft.com/office/drawing/2014/main" id="{2D20127F-945E-4C03-8CBE-01233148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905750"/>
            <a:ext cx="4114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49" name="ui-520">
            <a:extLst xmlns:a="http://schemas.openxmlformats.org/drawingml/2006/main">
              <a:ext uri="{FF2B5EF4-FFF2-40B4-BE49-F238E27FC236}">
                <a16:creationId xmlns:a16="http://schemas.microsoft.com/office/drawing/2014/main" id="{55B3B647-7563-4E26-94EE-A721B93E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9819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rPr>
              <a:t>Continue</a:t>
            </a:r>
          </a:p>
        </p:txBody>
      </p:sp>
      <p:sp>
        <p:nvSpPr>
          <p:cNvPr id="50" name="ui-521">
            <a:extLst xmlns:a="http://schemas.openxmlformats.org/drawingml/2006/main">
              <a:ext uri="{FF2B5EF4-FFF2-40B4-BE49-F238E27FC236}">
                <a16:creationId xmlns:a16="http://schemas.microsoft.com/office/drawing/2014/main" id="{F10EAF71-5BED-46DB-96AF-260238D1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24200"/>
            <a:ext cx="2286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ui-522">
            <a:extLst xmlns:a="http://schemas.openxmlformats.org/drawingml/2006/main">
              <a:ext uri="{FF2B5EF4-FFF2-40B4-BE49-F238E27FC236}">
                <a16:creationId xmlns:a16="http://schemas.microsoft.com/office/drawing/2014/main" id="{7B9BD4DD-2AD6-4B9C-B7E0-FF8E9EE9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1718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237563"/>
                </a:solidFill>
                <a:latin typeface="Trebuchet MS"/>
                <a:ea typeface="Trebuchet MS"/>
                <a:cs typeface="Trebuchet MS"/>
              </a:rPr>
              <a:t>Day example</a:t>
            </a:r>
          </a:p>
        </p:txBody>
      </p:sp>
      <p:sp>
        <p:nvSpPr>
          <p:cNvPr id="52" name="ui-523">
            <a:extLst xmlns:a="http://schemas.openxmlformats.org/drawingml/2006/main">
              <a:ext uri="{FF2B5EF4-FFF2-40B4-BE49-F238E27FC236}">
                <a16:creationId xmlns:a16="http://schemas.microsoft.com/office/drawing/2014/main" id="{6BF9F9A0-CFC5-4195-838F-9206D309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962400"/>
            <a:ext cx="246888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Gross revenue</a:t>
            </a:r>
          </a:p>
        </p:txBody>
      </p:sp>
      <p:sp>
        <p:nvSpPr>
          <p:cNvPr id="53" name="ui-524">
            <a:extLst xmlns:a="http://schemas.openxmlformats.org/drawingml/2006/main">
              <a:ext uri="{FF2B5EF4-FFF2-40B4-BE49-F238E27FC236}">
                <a16:creationId xmlns:a16="http://schemas.microsoft.com/office/drawing/2014/main" id="{D7E19C66-E791-4787-950C-401B4862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88" y="3962400"/>
            <a:ext cx="1810512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$200</a:t>
            </a:r>
          </a:p>
        </p:txBody>
      </p:sp>
      <p:sp>
        <p:nvSpPr>
          <p:cNvPr id="54" name="ui-525">
            <a:extLst xmlns:a="http://schemas.openxmlformats.org/drawingml/2006/main">
              <a:ext uri="{FF2B5EF4-FFF2-40B4-BE49-F238E27FC236}">
                <a16:creationId xmlns:a16="http://schemas.microsoft.com/office/drawing/2014/main" id="{3D62577C-C292-43F9-8E8C-87DFFBCF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3815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ui-526">
            <a:extLst xmlns:a="http://schemas.openxmlformats.org/drawingml/2006/main">
              <a:ext uri="{FF2B5EF4-FFF2-40B4-BE49-F238E27FC236}">
                <a16:creationId xmlns:a16="http://schemas.microsoft.com/office/drawing/2014/main" id="{64C8D866-A924-4C96-856C-E7230EA2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648200"/>
            <a:ext cx="246888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Maintenance</a:t>
            </a:r>
          </a:p>
        </p:txBody>
      </p:sp>
      <p:sp>
        <p:nvSpPr>
          <p:cNvPr id="56" name="ui-527">
            <a:extLst xmlns:a="http://schemas.openxmlformats.org/drawingml/2006/main">
              <a:ext uri="{FF2B5EF4-FFF2-40B4-BE49-F238E27FC236}">
                <a16:creationId xmlns:a16="http://schemas.microsoft.com/office/drawing/2014/main" id="{E8510F56-9666-4BEF-A007-9076F3EB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88" y="4648200"/>
            <a:ext cx="1810512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−$300</a:t>
            </a:r>
          </a:p>
        </p:txBody>
      </p:sp>
      <p:sp>
        <p:nvSpPr>
          <p:cNvPr id="57" name="ui-528">
            <a:extLst xmlns:a="http://schemas.openxmlformats.org/drawingml/2006/main">
              <a:ext uri="{FF2B5EF4-FFF2-40B4-BE49-F238E27FC236}">
                <a16:creationId xmlns:a16="http://schemas.microsoft.com/office/drawing/2014/main" id="{97DAD49D-EBA3-44FC-B21E-89D651F0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0673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ui-529">
            <a:extLst xmlns:a="http://schemas.openxmlformats.org/drawingml/2006/main">
              <a:ext uri="{FF2B5EF4-FFF2-40B4-BE49-F238E27FC236}">
                <a16:creationId xmlns:a16="http://schemas.microsoft.com/office/drawing/2014/main" id="{7E9DB40F-E74E-4D76-90BF-A35A91FC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34000"/>
            <a:ext cx="246888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Tax</a:t>
            </a:r>
          </a:p>
        </p:txBody>
      </p:sp>
      <p:sp>
        <p:nvSpPr>
          <p:cNvPr id="59" name="ui-530">
            <a:extLst xmlns:a="http://schemas.openxmlformats.org/drawingml/2006/main">
              <a:ext uri="{FF2B5EF4-FFF2-40B4-BE49-F238E27FC236}">
                <a16:creationId xmlns:a16="http://schemas.microsoft.com/office/drawing/2014/main" id="{AF3A6364-50F4-4D63-AA91-73558411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88" y="5334000"/>
            <a:ext cx="1810512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−$100</a:t>
            </a:r>
          </a:p>
        </p:txBody>
      </p:sp>
      <p:sp>
        <p:nvSpPr>
          <p:cNvPr id="60" name="ui-531">
            <a:extLst xmlns:a="http://schemas.openxmlformats.org/drawingml/2006/main">
              <a:ext uri="{FF2B5EF4-FFF2-40B4-BE49-F238E27FC236}">
                <a16:creationId xmlns:a16="http://schemas.microsoft.com/office/drawing/2014/main" id="{8DDF4E90-1FF1-43A6-9641-016926E0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7531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ui-532">
            <a:extLst xmlns:a="http://schemas.openxmlformats.org/drawingml/2006/main">
              <a:ext uri="{FF2B5EF4-FFF2-40B4-BE49-F238E27FC236}">
                <a16:creationId xmlns:a16="http://schemas.microsoft.com/office/drawing/2014/main" id="{8578F1B0-B856-48FA-8B6D-596E4335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191250"/>
            <a:ext cx="41148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Net</a:t>
            </a:r>
          </a:p>
        </p:txBody>
      </p:sp>
      <p:sp>
        <p:nvSpPr>
          <p:cNvPr id="62" name="ui-533">
            <a:extLst xmlns:a="http://schemas.openxmlformats.org/drawingml/2006/main">
              <a:ext uri="{FF2B5EF4-FFF2-40B4-BE49-F238E27FC236}">
                <a16:creationId xmlns:a16="http://schemas.microsoft.com/office/drawing/2014/main" id="{87627CE1-A248-4500-8A55-8418D18F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72250"/>
            <a:ext cx="4114800" cy="693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900" b="1">
                <a:solidFill>
                  <a:srgbClr val="AF443F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AF443F"/>
                </a:solidFill>
                <a:latin typeface="Trebuchet MS"/>
                <a:ea typeface="Trebuchet MS"/>
                <a:cs typeface="Trebuchet MS"/>
              </a:defRPr>
            </a:pPr>
            <a:r>
              <a:rPr sz="3900" b="1">
                <a:solidFill>
                  <a:srgbClr val="AF443F"/>
                </a:solidFill>
                <a:latin typeface="Trebuchet MS"/>
                <a:ea typeface="Trebuchet MS"/>
                <a:cs typeface="Trebuchet MS"/>
              </a:rPr>
              <a:t>−$200</a:t>
            </a:r>
          </a:p>
        </p:txBody>
      </p:sp>
      <p:sp>
        <p:nvSpPr>
          <p:cNvPr id="63" name="ui-534">
            <a:extLst xmlns:a="http://schemas.openxmlformats.org/drawingml/2006/main">
              <a:ext uri="{FF2B5EF4-FFF2-40B4-BE49-F238E27FC236}">
                <a16:creationId xmlns:a16="http://schemas.microsoft.com/office/drawing/2014/main" id="{FC7DF742-2FA4-4BA8-A328-1A86B2B0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748665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Deducted at daily closing.</a:t>
            </a:r>
          </a:p>
        </p:txBody>
      </p:sp>
      <p:sp>
        <p:nvSpPr>
          <p:cNvPr id="64" name="ui-535">
            <a:extLst xmlns:a="http://schemas.openxmlformats.org/drawingml/2006/main">
              <a:ext uri="{FF2B5EF4-FFF2-40B4-BE49-F238E27FC236}">
                <a16:creationId xmlns:a16="http://schemas.microsoft.com/office/drawing/2014/main" id="{E5674B79-28C7-464D-AF6C-E3CBB641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7943850"/>
            <a:ext cx="4114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ui-536">
            <a:extLst xmlns:a="http://schemas.openxmlformats.org/drawingml/2006/main">
              <a:ext uri="{FF2B5EF4-FFF2-40B4-BE49-F238E27FC236}">
                <a16:creationId xmlns:a16="http://schemas.microsoft.com/office/drawing/2014/main" id="{90FD8802-A8EA-49E2-B179-2935D5A3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7905750"/>
            <a:ext cx="4114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66" name="ui-537">
            <a:extLst xmlns:a="http://schemas.openxmlformats.org/drawingml/2006/main">
              <a:ext uri="{FF2B5EF4-FFF2-40B4-BE49-F238E27FC236}">
                <a16:creationId xmlns:a16="http://schemas.microsoft.com/office/drawing/2014/main" id="{36227E00-76E9-4432-B926-ACDD4D4B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9819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rPr>
              <a:t>Continue</a:t>
            </a:r>
          </a:p>
        </p:txBody>
      </p:sp>
    </p:spTree>
    <p:extLst>
      <p:ext uri="{BB962C8B-B14F-4D97-AF65-F5344CB8AC3E}">
        <p14:creationId xmlns:p14="http://schemas.microsoft.com/office/powerpoint/2010/main" val="14923292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2DF1D6-9970-4B42-B014-61236467E5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b6c45cdf0414f"/>
          <a:stretch xmlns:a="http://schemas.openxmlformats.org/drawingml/2006/main"/>
        </p:blipFill>
        <p:spPr>
          <a:xfrm xmlns:a="http://schemas.openxmlformats.org/drawingml/2006/main">
            <a:off x="457200" y="266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ui-538">
            <a:extLst xmlns:a="http://schemas.openxmlformats.org/drawingml/2006/main">
              <a:ext uri="{FF2B5EF4-FFF2-40B4-BE49-F238E27FC236}">
                <a16:creationId xmlns:a16="http://schemas.microsoft.com/office/drawing/2014/main" id="{81D5BC5B-3B91-414D-975C-83594677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10001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Building Management Tycoon</a:t>
            </a:r>
          </a:p>
        </p:txBody>
      </p:sp>
      <p:sp>
        <p:nvSpPr>
          <p:cNvPr id="3" name="ui-539">
            <a:extLst xmlns:a="http://schemas.openxmlformats.org/drawingml/2006/main">
              <a:ext uri="{FF2B5EF4-FFF2-40B4-BE49-F238E27FC236}">
                <a16:creationId xmlns:a16="http://schemas.microsoft.com/office/drawing/2014/main" id="{BB36D080-05CD-429B-83DF-E4E57B84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3850"/>
            <a:ext cx="1219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16 / 16</a:t>
            </a:r>
          </a:p>
        </p:txBody>
      </p:sp>
      <p:sp>
        <p:nvSpPr>
          <p:cNvPr id="4" name="ui-540">
            <a:extLst xmlns:a="http://schemas.openxmlformats.org/drawingml/2006/main">
              <a:ext uri="{FF2B5EF4-FFF2-40B4-BE49-F238E27FC236}">
                <a16:creationId xmlns:a16="http://schemas.microsoft.com/office/drawing/2014/main" id="{832B5933-96F4-48F6-85C5-7AE9D50D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i-541">
            <a:extLst xmlns:a="http://schemas.openxmlformats.org/drawingml/2006/main">
              <a:ext uri="{FF2B5EF4-FFF2-40B4-BE49-F238E27FC236}">
                <a16:creationId xmlns:a16="http://schemas.microsoft.com/office/drawing/2014/main" id="{C5B93F2E-59CD-4303-B355-534916D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432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9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16  Portrait, landscape and web</a:t>
            </a:r>
          </a:p>
        </p:txBody>
      </p:sp>
      <p:sp>
        <p:nvSpPr>
          <p:cNvPr id="6" name="ui-542">
            <a:extLst xmlns:a="http://schemas.openxmlformats.org/drawingml/2006/main">
              <a:ext uri="{FF2B5EF4-FFF2-40B4-BE49-F238E27FC236}">
                <a16:creationId xmlns:a16="http://schemas.microsoft.com/office/drawing/2014/main" id="{5B49A838-2741-4C2F-A0A9-16CFFD64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48750"/>
            <a:ext cx="138684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Game design reference. Economy values and district names are examples.</a:t>
            </a:r>
          </a:p>
        </p:txBody>
      </p:sp>
      <p:sp>
        <p:nvSpPr>
          <p:cNvPr id="7" name="ui-543">
            <a:extLst xmlns:a="http://schemas.openxmlformats.org/drawingml/2006/main">
              <a:ext uri="{FF2B5EF4-FFF2-40B4-BE49-F238E27FC236}">
                <a16:creationId xmlns:a16="http://schemas.microsoft.com/office/drawing/2014/main" id="{C78B73F6-2D54-4645-8053-ED25A973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34290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Portrait</a:t>
            </a:r>
          </a:p>
        </p:txBody>
      </p:sp>
      <p:sp>
        <p:nvSpPr>
          <p:cNvPr id="8" name="ui-544">
            <a:extLst xmlns:a="http://schemas.openxmlformats.org/drawingml/2006/main">
              <a:ext uri="{FF2B5EF4-FFF2-40B4-BE49-F238E27FC236}">
                <a16:creationId xmlns:a16="http://schemas.microsoft.com/office/drawing/2014/main" id="{451257EA-274E-47B5-8764-EA662084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49530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Landscape</a:t>
            </a:r>
          </a:p>
        </p:txBody>
      </p:sp>
      <p:sp>
        <p:nvSpPr>
          <p:cNvPr id="9" name="ui-545">
            <a:extLst xmlns:a="http://schemas.openxmlformats.org/drawingml/2006/main">
              <a:ext uri="{FF2B5EF4-FFF2-40B4-BE49-F238E27FC236}">
                <a16:creationId xmlns:a16="http://schemas.microsoft.com/office/drawing/2014/main" id="{6EA63017-9EEA-4591-882C-F1F56AD5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53340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Web / tablet</a:t>
            </a:r>
          </a:p>
        </p:txBody>
      </p:sp>
      <p:sp>
        <p:nvSpPr>
          <p:cNvPr id="10" name="ui-546">
            <a:extLst xmlns:a="http://schemas.openxmlformats.org/drawingml/2006/main">
              <a:ext uri="{FF2B5EF4-FFF2-40B4-BE49-F238E27FC236}">
                <a16:creationId xmlns:a16="http://schemas.microsoft.com/office/drawing/2014/main" id="{D86E0C07-04E6-42C3-BDBC-DAB4E860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3429000" cy="5943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1DE7E-E206-4C52-AB4B-9C19AB3626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ecb7c34e34425"/>
          <a:stretch xmlns:a="http://schemas.openxmlformats.org/drawingml/2006/main"/>
        </p:blipFill>
        <p:spPr>
          <a:xfrm xmlns:a="http://schemas.openxmlformats.org/drawingml/2006/main">
            <a:off x="609600" y="27622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ui-547">
            <a:extLst xmlns:a="http://schemas.openxmlformats.org/drawingml/2006/main">
              <a:ext uri="{FF2B5EF4-FFF2-40B4-BE49-F238E27FC236}">
                <a16:creationId xmlns:a16="http://schemas.microsoft.com/office/drawing/2014/main" id="{FEC4372A-B64E-49F5-B5E0-D7A027AB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26670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Central District</a:t>
            </a:r>
          </a:p>
        </p:txBody>
      </p:sp>
      <p:sp>
        <p:nvSpPr>
          <p:cNvPr id="13" name="ui-548">
            <a:extLst xmlns:a="http://schemas.openxmlformats.org/drawingml/2006/main">
              <a:ext uri="{FF2B5EF4-FFF2-40B4-BE49-F238E27FC236}">
                <a16:creationId xmlns:a16="http://schemas.microsoft.com/office/drawing/2014/main" id="{1AAD77CE-1D61-4831-B7D9-7222EE15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1242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0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$12,000 / 80 gems</a:t>
            </a:r>
          </a:p>
        </p:txBody>
      </p:sp>
      <p:sp>
        <p:nvSpPr>
          <p:cNvPr id="14" name="ui-549">
            <a:extLst xmlns:a="http://schemas.openxmlformats.org/drawingml/2006/main">
              <a:ext uri="{FF2B5EF4-FFF2-40B4-BE49-F238E27FC236}">
                <a16:creationId xmlns:a16="http://schemas.microsoft.com/office/drawing/2014/main" id="{1E54F3FA-4E4A-4C28-B5AB-985D73A8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31242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Day 12 / Morning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7CD5E-5D8B-4726-BBD3-448372A707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157cfa3934179"/>
          <a:stretch xmlns:a="http://schemas.openxmlformats.org/drawingml/2006/main"/>
        </p:blipFill>
        <p:spPr>
          <a:xfrm xmlns:a="http://schemas.openxmlformats.org/drawingml/2006/main">
            <a:off x="614661" y="4114800"/>
            <a:ext cx="3114078" cy="1752600"/>
          </a:xfrm>
          <a:prstGeom xmlns:a="http://schemas.openxmlformats.org/drawingml/2006/main" prst="rect">
            <a:avLst/>
          </a:prstGeom>
        </p:spPr>
      </p:pic>
      <p:sp>
        <p:nvSpPr>
          <p:cNvPr id="16" name="ui-550">
            <a:extLst xmlns:a="http://schemas.openxmlformats.org/drawingml/2006/main">
              <a:ext uri="{FF2B5EF4-FFF2-40B4-BE49-F238E27FC236}">
                <a16:creationId xmlns:a16="http://schemas.microsoft.com/office/drawing/2014/main" id="{59E628B3-DDAA-40E2-90E8-13AE0267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31242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17" name="ui-551">
            <a:extLst xmlns:a="http://schemas.openxmlformats.org/drawingml/2006/main">
              <a:ext uri="{FF2B5EF4-FFF2-40B4-BE49-F238E27FC236}">
                <a16:creationId xmlns:a16="http://schemas.microsoft.com/office/drawing/2014/main" id="{BDCBD9E2-7240-488C-BCC1-C80FDAD3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2819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North Offices</a:t>
            </a:r>
          </a:p>
        </p:txBody>
      </p:sp>
      <p:sp>
        <p:nvSpPr>
          <p:cNvPr id="18" name="ui-552">
            <a:extLst xmlns:a="http://schemas.openxmlformats.org/drawingml/2006/main">
              <a:ext uri="{FF2B5EF4-FFF2-40B4-BE49-F238E27FC236}">
                <a16:creationId xmlns:a16="http://schemas.microsoft.com/office/drawing/2014/main" id="{509486A1-B507-472F-BE22-C878B123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28194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Parking 60 / 100</a:t>
            </a:r>
          </a:p>
        </p:txBody>
      </p:sp>
      <p:sp>
        <p:nvSpPr>
          <p:cNvPr id="19" name="ui-553">
            <a:extLst xmlns:a="http://schemas.openxmlformats.org/drawingml/2006/main">
              <a:ext uri="{FF2B5EF4-FFF2-40B4-BE49-F238E27FC236}">
                <a16:creationId xmlns:a16="http://schemas.microsoft.com/office/drawing/2014/main" id="{5E62BC0A-B563-41BC-BA95-7BF83F22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2819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ui-554">
            <a:extLst xmlns:a="http://schemas.openxmlformats.org/drawingml/2006/main">
              <a:ext uri="{FF2B5EF4-FFF2-40B4-BE49-F238E27FC236}">
                <a16:creationId xmlns:a16="http://schemas.microsoft.com/office/drawing/2014/main" id="{533520AF-5BE1-4D17-AD43-D4D6D592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29450"/>
            <a:ext cx="2819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21" name="ui-555">
            <a:extLst xmlns:a="http://schemas.openxmlformats.org/drawingml/2006/main">
              <a:ext uri="{FF2B5EF4-FFF2-40B4-BE49-F238E27FC236}">
                <a16:creationId xmlns:a16="http://schemas.microsoft.com/office/drawing/2014/main" id="{D128FA5D-DB31-45F8-8F05-19E7E865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056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rPr>
              <a:t>View building</a:t>
            </a:r>
          </a:p>
        </p:txBody>
      </p:sp>
      <p:sp>
        <p:nvSpPr>
          <p:cNvPr id="22" name="ui-556">
            <a:extLst xmlns:a="http://schemas.openxmlformats.org/drawingml/2006/main">
              <a:ext uri="{FF2B5EF4-FFF2-40B4-BE49-F238E27FC236}">
                <a16:creationId xmlns:a16="http://schemas.microsoft.com/office/drawing/2014/main" id="{737A8EE3-3A1C-4AE3-9026-4031932B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0"/>
            <a:ext cx="3124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Build      Tenants      Upgrades</a:t>
            </a:r>
          </a:p>
        </p:txBody>
      </p:sp>
      <p:sp>
        <p:nvSpPr>
          <p:cNvPr id="23" name="ui-557">
            <a:extLst xmlns:a="http://schemas.openxmlformats.org/drawingml/2006/main">
              <a:ext uri="{FF2B5EF4-FFF2-40B4-BE49-F238E27FC236}">
                <a16:creationId xmlns:a16="http://schemas.microsoft.com/office/drawing/2014/main" id="{8038ECA8-5C81-4814-8806-1DFE837F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71750"/>
            <a:ext cx="4953000" cy="28003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24" name="ui-558">
            <a:extLst xmlns:a="http://schemas.openxmlformats.org/drawingml/2006/main">
              <a:ext uri="{FF2B5EF4-FFF2-40B4-BE49-F238E27FC236}">
                <a16:creationId xmlns:a16="http://schemas.microsoft.com/office/drawing/2014/main" id="{EDA8E51D-4165-40CE-AD84-1295BD16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051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Central District</a:t>
            </a:r>
          </a:p>
        </p:txBody>
      </p:sp>
      <p:sp>
        <p:nvSpPr>
          <p:cNvPr id="25" name="ui-559">
            <a:extLst xmlns:a="http://schemas.openxmlformats.org/drawingml/2006/main">
              <a:ext uri="{FF2B5EF4-FFF2-40B4-BE49-F238E27FC236}">
                <a16:creationId xmlns:a16="http://schemas.microsoft.com/office/drawing/2014/main" id="{AD8D64B7-2AEB-4247-9F10-DA801F25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$12,000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D81FD8-103F-43F0-832C-AB05AF6893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89b2631b7497b"/>
          <a:stretch xmlns:a="http://schemas.openxmlformats.org/drawingml/2006/main"/>
        </p:blipFill>
        <p:spPr>
          <a:xfrm xmlns:a="http://schemas.openxmlformats.org/drawingml/2006/main">
            <a:off x="4305300" y="3389294"/>
            <a:ext cx="2781300" cy="1565313"/>
          </a:xfrm>
          <a:prstGeom xmlns:a="http://schemas.openxmlformats.org/drawingml/2006/main" prst="rect">
            <a:avLst/>
          </a:prstGeom>
        </p:spPr>
      </p:pic>
      <p:sp>
        <p:nvSpPr>
          <p:cNvPr id="27" name="ui-560">
            <a:extLst xmlns:a="http://schemas.openxmlformats.org/drawingml/2006/main">
              <a:ext uri="{FF2B5EF4-FFF2-40B4-BE49-F238E27FC236}">
                <a16:creationId xmlns:a16="http://schemas.microsoft.com/office/drawing/2014/main" id="{021BFBAF-2A9F-4228-8B38-D10AE9C2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43250"/>
            <a:ext cx="1790700" cy="20764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28" name="ui-561">
            <a:extLst xmlns:a="http://schemas.openxmlformats.org/drawingml/2006/main">
              <a:ext uri="{FF2B5EF4-FFF2-40B4-BE49-F238E27FC236}">
                <a16:creationId xmlns:a16="http://schemas.microsoft.com/office/drawing/2014/main" id="{D6D14495-3A7B-4F71-B7F5-BA217F22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76600"/>
            <a:ext cx="14859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North Offices</a:t>
            </a:r>
          </a:p>
        </p:txBody>
      </p:sp>
      <p:sp>
        <p:nvSpPr>
          <p:cNvPr id="29" name="ui-562">
            <a:extLst xmlns:a="http://schemas.openxmlformats.org/drawingml/2006/main">
              <a:ext uri="{FF2B5EF4-FFF2-40B4-BE49-F238E27FC236}">
                <a16:creationId xmlns:a16="http://schemas.microsoft.com/office/drawing/2014/main" id="{F17A1942-3524-4767-A544-DF21CEB0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5285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Parking</a:t>
            </a:r>
          </a:p>
          <a:p xmlns:a="http://schemas.openxmlformats.org/drawingml/2006/main">
            <a: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60 / 100</a:t>
            </a:r>
          </a:p>
        </p:txBody>
      </p:sp>
      <p:sp>
        <p:nvSpPr>
          <p:cNvPr id="30" name="ui-563">
            <a:extLst xmlns:a="http://schemas.openxmlformats.org/drawingml/2006/main">
              <a:ext uri="{FF2B5EF4-FFF2-40B4-BE49-F238E27FC236}">
                <a16:creationId xmlns:a16="http://schemas.microsoft.com/office/drawing/2014/main" id="{1CD7EEE9-7633-41FB-B8AF-5C9BBDA2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91050"/>
            <a:ext cx="14859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ui-564">
            <a:extLst xmlns:a="http://schemas.openxmlformats.org/drawingml/2006/main">
              <a:ext uri="{FF2B5EF4-FFF2-40B4-BE49-F238E27FC236}">
                <a16:creationId xmlns:a16="http://schemas.microsoft.com/office/drawing/2014/main" id="{4A780DFA-34D4-45BE-8342-05449B11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52950"/>
            <a:ext cx="14859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32" name="ui-565">
            <a:extLst xmlns:a="http://schemas.openxmlformats.org/drawingml/2006/main">
              <a:ext uri="{FF2B5EF4-FFF2-40B4-BE49-F238E27FC236}">
                <a16:creationId xmlns:a16="http://schemas.microsoft.com/office/drawing/2014/main" id="{6C9A4760-DA7E-4832-B80D-ACFF6825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291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rPr>
              <a:t>View</a:t>
            </a:r>
          </a:p>
        </p:txBody>
      </p:sp>
      <p:sp>
        <p:nvSpPr>
          <p:cNvPr id="33" name="ui-566">
            <a:extLst xmlns:a="http://schemas.openxmlformats.org/drawingml/2006/main">
              <a:ext uri="{FF2B5EF4-FFF2-40B4-BE49-F238E27FC236}">
                <a16:creationId xmlns:a16="http://schemas.microsoft.com/office/drawing/2014/main" id="{26F8AE10-E6FF-4405-9929-82BF7632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533400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34" name="ui-567">
            <a:extLst xmlns:a="http://schemas.openxmlformats.org/drawingml/2006/main">
              <a:ext uri="{FF2B5EF4-FFF2-40B4-BE49-F238E27FC236}">
                <a16:creationId xmlns:a16="http://schemas.microsoft.com/office/drawing/2014/main" id="{1D81C77C-78E0-455A-932C-02E648B0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24150"/>
            <a:ext cx="30861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Central District</a:t>
            </a:r>
          </a:p>
        </p:txBody>
      </p:sp>
      <p:sp>
        <p:nvSpPr>
          <p:cNvPr id="35" name="ui-568">
            <a:extLst xmlns:a="http://schemas.openxmlformats.org/drawingml/2006/main">
              <a:ext uri="{FF2B5EF4-FFF2-40B4-BE49-F238E27FC236}">
                <a16:creationId xmlns:a16="http://schemas.microsoft.com/office/drawing/2014/main" id="{780BDE74-EF8E-4960-A8AB-AA65B519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2724150"/>
            <a:ext cx="18288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$12,000</a:t>
            </a:r>
          </a:p>
        </p:txBody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C9D5DC-BE3A-4E67-9FB6-B3113E11E1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8462a37d94cef"/>
          <a:stretch xmlns:a="http://schemas.openxmlformats.org/drawingml/2006/main"/>
        </p:blipFill>
        <p:spPr>
          <a:xfrm xmlns:a="http://schemas.openxmlformats.org/drawingml/2006/main">
            <a:off x="9601200" y="3776230"/>
            <a:ext cx="2895600" cy="1629641"/>
          </a:xfrm>
          <a:prstGeom xmlns:a="http://schemas.openxmlformats.org/drawingml/2006/main" prst="rect">
            <a:avLst/>
          </a:prstGeom>
        </p:spPr>
      </p:pic>
      <p:sp>
        <p:nvSpPr>
          <p:cNvPr id="37" name="ui-569">
            <a:extLst xmlns:a="http://schemas.openxmlformats.org/drawingml/2006/main">
              <a:ext uri="{FF2B5EF4-FFF2-40B4-BE49-F238E27FC236}">
                <a16:creationId xmlns:a16="http://schemas.microsoft.com/office/drawing/2014/main" id="{D238DD7B-6BC2-4821-9878-6377B33A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3295650"/>
            <a:ext cx="1981200" cy="27813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CF1"/>
          </a:solidFill>
          <a:ln xmlns:a="http://schemas.openxmlformats.org/drawingml/2006/main" w="19050">
            <a:solidFill>
              <a:srgbClr val="CAD2C6"/>
            </a:solidFill>
            <a:prstDash val="solid"/>
          </a:ln>
        </p:spPr>
      </p:sp>
      <p:sp>
        <p:nvSpPr>
          <p:cNvPr id="38" name="ui-570">
            <a:extLst xmlns:a="http://schemas.openxmlformats.org/drawingml/2006/main">
              <a:ext uri="{FF2B5EF4-FFF2-40B4-BE49-F238E27FC236}">
                <a16:creationId xmlns:a16="http://schemas.microsoft.com/office/drawing/2014/main" id="{FEE048DB-40A2-4BAB-99F5-C2A35D35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34290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North Offices</a:t>
            </a:r>
          </a:p>
        </p:txBody>
      </p:sp>
      <p:sp>
        <p:nvSpPr>
          <p:cNvPr id="39" name="ui-571">
            <a:extLst xmlns:a="http://schemas.openxmlformats.org/drawingml/2006/main">
              <a:ext uri="{FF2B5EF4-FFF2-40B4-BE49-F238E27FC236}">
                <a16:creationId xmlns:a16="http://schemas.microsoft.com/office/drawing/2014/main" id="{1941BD54-86FD-417E-A167-9833FAD9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3981450"/>
            <a:ext cx="16764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2 / 4 floors</a:t>
            </a:r>
          </a:p>
        </p:txBody>
      </p:sp>
      <p:sp>
        <p:nvSpPr>
          <p:cNvPr id="40" name="ui-572">
            <a:extLst xmlns:a="http://schemas.openxmlformats.org/drawingml/2006/main">
              <a:ext uri="{FF2B5EF4-FFF2-40B4-BE49-F238E27FC236}">
                <a16:creationId xmlns:a16="http://schemas.microsoft.com/office/drawing/2014/main" id="{6424B569-E3BD-492B-8261-56E96F10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438650"/>
            <a:ext cx="16764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60 / 100 parking</a:t>
            </a:r>
          </a:p>
        </p:txBody>
      </p:sp>
      <p:sp>
        <p:nvSpPr>
          <p:cNvPr id="41" name="ui-573">
            <a:extLst xmlns:a="http://schemas.openxmlformats.org/drawingml/2006/main">
              <a:ext uri="{FF2B5EF4-FFF2-40B4-BE49-F238E27FC236}">
                <a16:creationId xmlns:a16="http://schemas.microsoft.com/office/drawing/2014/main" id="{3CCD32EC-D53A-4538-B95F-EA9A9BCC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5276850"/>
            <a:ext cx="1676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ui-574">
            <a:extLst xmlns:a="http://schemas.openxmlformats.org/drawingml/2006/main">
              <a:ext uri="{FF2B5EF4-FFF2-40B4-BE49-F238E27FC236}">
                <a16:creationId xmlns:a16="http://schemas.microsoft.com/office/drawing/2014/main" id="{C8F5D29B-D28F-4E78-B014-C6BF8916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5238750"/>
            <a:ext cx="1676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19050">
            <a:solidFill>
              <a:srgbClr val="203B3A"/>
            </a:solidFill>
            <a:prstDash val="solid"/>
          </a:ln>
        </p:spPr>
      </p:sp>
      <p:sp>
        <p:nvSpPr>
          <p:cNvPr id="43" name="ui-575">
            <a:extLst xmlns:a="http://schemas.openxmlformats.org/drawingml/2006/main">
              <a:ext uri="{FF2B5EF4-FFF2-40B4-BE49-F238E27FC236}">
                <a16:creationId xmlns:a16="http://schemas.microsoft.com/office/drawing/2014/main" id="{38A722B7-EACE-4752-B937-6D18717D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53149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FFFCF1"/>
                </a:solidFill>
                <a:latin typeface="Trebuchet MS"/>
                <a:ea typeface="Trebuchet MS"/>
                <a:cs typeface="Trebuchet MS"/>
              </a:rPr>
              <a:t>View building</a:t>
            </a:r>
          </a:p>
        </p:txBody>
      </p:sp>
      <p:sp>
        <p:nvSpPr>
          <p:cNvPr id="44" name="ui-576">
            <a:extLst xmlns:a="http://schemas.openxmlformats.org/drawingml/2006/main">
              <a:ext uri="{FF2B5EF4-FFF2-40B4-BE49-F238E27FC236}">
                <a16:creationId xmlns:a16="http://schemas.microsoft.com/office/drawing/2014/main" id="{A02E2499-FB52-40E6-9AF0-AAE68423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96100"/>
            <a:ext cx="1059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defRPr>
            </a:pPr>
            <a:r>
              <a:rPr sz="2250" b="1">
                <a:solidFill>
                  <a:srgbClr val="203B3A"/>
                </a:solidFill>
                <a:latin typeface="Trebuchet MS"/>
                <a:ea typeface="Trebuchet MS"/>
                <a:cs typeface="Trebuchet MS"/>
              </a:rPr>
              <a:t>Same world, same controls</a:t>
            </a:r>
          </a:p>
        </p:txBody>
      </p:sp>
      <p:sp>
        <p:nvSpPr>
          <p:cNvPr id="45" name="ui-577">
            <a:extLst xmlns:a="http://schemas.openxmlformats.org/drawingml/2006/main">
              <a:ext uri="{FF2B5EF4-FFF2-40B4-BE49-F238E27FC236}">
                <a16:creationId xmlns:a16="http://schemas.microsoft.com/office/drawing/2014/main" id="{F16DFE04-CDBA-4970-AEDD-BDDD2AE3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24750"/>
            <a:ext cx="105918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Portrait opens a bottom sheet. Wide views use a side panel.</a:t>
            </a:r>
          </a:p>
        </p:txBody>
      </p:sp>
      <p:sp>
        <p:nvSpPr>
          <p:cNvPr id="46" name="ui-578">
            <a:extLst xmlns:a="http://schemas.openxmlformats.org/drawingml/2006/main">
              <a:ext uri="{FF2B5EF4-FFF2-40B4-BE49-F238E27FC236}">
                <a16:creationId xmlns:a16="http://schemas.microsoft.com/office/drawing/2014/main" id="{3D68481A-9D99-465E-B55C-130073A6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077200"/>
            <a:ext cx="105918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66766D"/>
                </a:solidFill>
                <a:latin typeface="Trebuchet MS"/>
                <a:ea typeface="Trebuchet MS"/>
                <a:cs typeface="Trebuchet MS"/>
              </a:rPr>
              <a:t>Selection and construction plans survive rotation.</a:t>
            </a:r>
          </a:p>
        </p:txBody>
      </p:sp>
    </p:spTree>
    <p:extLst>
      <p:ext uri="{BB962C8B-B14F-4D97-AF65-F5344CB8AC3E}">
        <p14:creationId xmlns:p14="http://schemas.microsoft.com/office/powerpoint/2010/main" val="2144652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2026-10-11T15:55:57.4230000Z</dcterms:created>
  <dcterms:modified xsi:type="dcterms:W3CDTF">2026-10-11T15:55:57.4230000Z</dcterms:modified>
</coreProperties>
</file>